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2.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3.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08915e9-fe77-53f2-7f9b-ffdee9297ed5}">
          <p14:sldIdLst>
            <p14:sldId id="256"/>
            <p14:sldId id="257"/>
            <p14:sldId id="258"/>
            <p14:sldId id="259"/>
          </p14:sldIdLst>
        </p14:section>
        <p14:section name="Technical approach" id="{bd812540-fd56-3745-64bc-8fe8ad40843f}">
          <p14:sldIdLst>
            <p14:sldId id="260"/>
            <p14:sldId id="261"/>
            <p14:sldId id="262"/>
            <p14:sldId id="263"/>
          </p14:sldIdLst>
        </p14:section>
        <p14:section name="Implementation" id="{7aee706c-8d2a-6cf6-49f7-3fb24c118530}">
          <p14:sldIdLst>
            <p14:sldId id="264"/>
            <p14:sldId id="265"/>
            <p14:sldId id="266"/>
            <p14:sldId id="267"/>
            <p14:sldId id="268"/>
            <p14:sldId id="269"/>
            <p14:sldId id="270"/>
          </p14:sldIdLst>
        </p14:section>
        <p14:section name="Results" id="{874d5b36-4cac-4d33-9eb5-774a41b3f5cf}">
          <p14:sldIdLst>
            <p14:sldId id="271"/>
            <p14:sldId id="272"/>
            <p14:sldId id="273"/>
            <p14:sldId id="274"/>
            <p14:sldId id="275"/>
            <p14:sldId id="276"/>
            <p14:sldId id="277"/>
          </p14:sldIdLst>
        </p14:section>
        <p14:section name="Management" id="{da31de81-bce0-5529-df69-9c8e00f43c22}">
          <p14:sldIdLst>
            <p14:sldId id="278"/>
            <p14:sldId id="279"/>
            <p14:sldId id="280"/>
            <p14:sldId id="281"/>
          </p14:sldIdLst>
        </p14:section>
        <p14:section name="Ethics and paper" id="{791fa00c-19f5-fd79-1fed-8a43128a1beb}">
          <p14:sldIdLst>
            <p14:sldId id="282"/>
            <p14:sldId id="283"/>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3"/>
                </a:solidFill>
                <a:latin typeface="+mn-lt"/>
              </a:defRPr>
            </a:pPr>
            <a:r>
              <a:rPr sz="1400" b="0" i="0" u="none" strike="noStrike">
                <a:solidFill>
                  <a:srgbClr val="1B2433"/>
                </a:solidFill>
                <a:latin typeface="+mn-lt"/>
              </a:rPr>
              <a:t>Test macro-F1 by subset (mean of 3 seeds)</a:t>
            </a:r>
          </a:p>
        </c:rich>
      </c:tx>
      <c:layout/>
      <c:overlay val="0"/>
    </c:title>
    <c:autoTitleDeleted val="0"/>
    <c:plotArea>
      <c:layout/>
      <c:barChart>
        <c:barDir val="col"/>
        <c:grouping val="clustered"/>
        <c:varyColors val="0"/>
        <c:ser>
          <c:idx val="0"/>
          <c:order val="0"/>
          <c:tx>
            <c:strRef>
              <c:f>Sheet1!$B$1</c:f>
              <c:strCache>
                <c:ptCount val="1"/>
                <c:pt idx="0">
                  <c:v>MuRIL</c:v>
                </c:pt>
              </c:strCache>
            </c:strRef>
          </c:tx>
          <c:spPr>
            <a:solidFill>
              <a:srgbClr val="6B7C8F"/>
            </a:solidFill>
            <a:effectLst/>
          </c:spPr>
          <c:invertIfNegative val="0"/>
          <c:dLbls>
            <c:numFmt formatCode="0.00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cat>
            <c:multiLvlStrRef>
              <c:f>Sheet1!$A$2:$A$6</c:f>
              <c:multiLvlStrCache>
                <c:ptCount val="5"/>
                <c:lvl>
                  <c:pt idx="0">
                    <c:v>All sentiment</c:v>
                  </c:pt>
                  <c:pt idx="1">
                    <c:v>Hinglish (all)</c:v>
                  </c:pt>
                  <c:pt idx="2">
                    <c:v>tweets-hindi</c:v>
                  </c:pt>
                  <c:pt idx="3">
                    <c:v>YouTube Hinglish</c:v>
                  </c:pt>
                  <c:pt idx="4">
                    <c:v>English</c:v>
                  </c:pt>
                </c:lvl>
              </c:multiLvlStrCache>
            </c:multiLvlStrRef>
          </c:cat>
          <c:val>
            <c:numRef>
              <c:f>Sheet1!$B$2:$B$6</c:f>
              <c:numCache>
                <c:formatCode>General</c:formatCode>
                <c:ptCount val="5"/>
                <c:pt idx="0">
                  <c:v>0.606</c:v>
                </c:pt>
                <c:pt idx="1">
                  <c:v>0.556</c:v>
                </c:pt>
                <c:pt idx="2">
                  <c:v>0.561</c:v>
                </c:pt>
                <c:pt idx="3">
                  <c:v>0.531</c:v>
                </c:pt>
                <c:pt idx="4">
                  <c:v>0.684</c:v>
                </c:pt>
              </c:numCache>
            </c:numRef>
          </c:val>
        </c:ser>
        <c:ser>
          <c:idx val="1"/>
          <c:order val="1"/>
          <c:tx>
            <c:strRef>
              <c:f>Sheet1!$C$1</c:f>
              <c:strCache>
                <c:ptCount val="1"/>
                <c:pt idx="0">
                  <c:v>HingRoBERTa</c:v>
                </c:pt>
              </c:strCache>
            </c:strRef>
          </c:tx>
          <c:spPr>
            <a:solidFill>
              <a:srgbClr val="2A9D8F"/>
            </a:solidFill>
            <a:effectLst/>
          </c:spPr>
          <c:invertIfNegative val="0"/>
          <c:dLbls>
            <c:numFmt formatCode="0.00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cat>
            <c:multiLvlStrRef>
              <c:f>Sheet1!$A$2:$A$6</c:f>
              <c:multiLvlStrCache>
                <c:ptCount val="5"/>
                <c:lvl>
                  <c:pt idx="0">
                    <c:v>All sentiment</c:v>
                  </c:pt>
                  <c:pt idx="1">
                    <c:v>Hinglish (all)</c:v>
                  </c:pt>
                  <c:pt idx="2">
                    <c:v>tweets-hindi</c:v>
                  </c:pt>
                  <c:pt idx="3">
                    <c:v>YouTube Hinglish</c:v>
                  </c:pt>
                  <c:pt idx="4">
                    <c:v>English</c:v>
                  </c:pt>
                </c:lvl>
              </c:multiLvlStrCache>
            </c:multiLvlStrRef>
          </c:cat>
          <c:val>
            <c:numRef>
              <c:f>Sheet1!$C$2:$C$6</c:f>
              <c:numCache>
                <c:formatCode>General</c:formatCode>
                <c:ptCount val="5"/>
                <c:pt idx="0">
                  <c:v>0.647</c:v>
                </c:pt>
                <c:pt idx="1">
                  <c:v>0.611</c:v>
                </c:pt>
                <c:pt idx="2">
                  <c:v>0.616</c:v>
                </c:pt>
                <c:pt idx="3">
                  <c:v>0.602</c:v>
                </c:pt>
                <c:pt idx="4">
                  <c:v>0.704</c:v>
                </c:pt>
              </c:numCache>
            </c:numRef>
          </c:val>
        </c:ser>
        <c:dLbls>
          <c:numFmt formatCode="0.00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C8F"/>
                </a:solidFill>
                <a:latin typeface="+mn-lt"/>
              </a:defRPr>
            </a:pPr>
            <a:endParaRPr lang="en-US"/>
          </a:p>
        </c:txPr>
        <c:crossAx val="2094734552"/>
        <c:crosses val="autoZero"/>
        <c:auto val="1"/>
        <c:lblAlgn val="ctr"/>
        <c:noMultiLvlLbl val="1"/>
      </c:catAx>
      <c:valAx>
        <c:axId val="2094734552"/>
        <c:scaling>
          <c:orientation val="minMax"/>
          <c:max val="0.75"/>
          <c:min val="0.4"/>
        </c:scaling>
        <c:delete val="0"/>
        <c:axPos val="l"/>
        <c:majorGridlines>
          <c:spPr>
            <a:ln w="9525" cap="flat">
              <a:solidFill>
                <a:srgbClr val="E3E9EF"/>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C8F"/>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3"/>
                </a:solidFill>
                <a:latin typeface="+mn-lt"/>
              </a:defRPr>
            </a:pPr>
            <a:r>
              <a:rPr sz="1400" b="0" i="0" u="none" strike="noStrike">
                <a:solidFill>
                  <a:srgbClr val="1B2433"/>
                </a:solidFill>
                <a:latin typeface="+mn-lt"/>
              </a:rPr>
              <a:t>Test difference, multi-task minus single-task</a:t>
            </a:r>
          </a:p>
        </c:rich>
      </c:tx>
      <c:layout/>
      <c:overlay val="0"/>
    </c:title>
    <c:autoTitleDeleted val="0"/>
    <c:plotArea>
      <c:layout/>
      <c:barChart>
        <c:barDir val="bar"/>
        <c:grouping val="clustered"/>
        <c:varyColors val="0"/>
        <c:ser>
          <c:idx val="0"/>
          <c:order val="0"/>
          <c:tx>
            <c:strRef>
              <c:f>Sheet1!$B$1</c:f>
              <c:strCache>
                <c:ptCount val="1"/>
                <c:pt idx="0">
                  <c:v>MT minus ST</c:v>
                </c:pt>
              </c:strCache>
            </c:strRef>
          </c:tx>
          <c:spPr>
            <a:solidFill>
              <a:srgbClr val="6B7C8F"/>
            </a:solidFill>
            <a:effectLst/>
          </c:spPr>
          <c:invertIfNegative val="0"/>
          <c:dLbls>
            <c:numFmt formatCode="+0.000;-0.00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dPt>
            <c:idx val="0"/>
            <c:invertIfNegative val="0"/>
            <c:bubble3D val="0"/>
            <c:spPr>
              <a:solidFill>
                <a:srgbClr val="6B7C8F"/>
              </a:solidFill>
              <a:effectLst/>
            </c:spPr>
          </c:dPt>
          <c:dPt>
            <c:idx val="1"/>
            <c:invertIfNegative val="0"/>
            <c:bubble3D val="0"/>
            <c:spPr>
              <a:solidFill>
                <a:srgbClr val="6B7C8F"/>
              </a:solidFill>
              <a:effectLst/>
            </c:spPr>
          </c:dPt>
          <c:dPt>
            <c:idx val="2"/>
            <c:invertIfNegative val="0"/>
            <c:bubble3D val="0"/>
            <c:spPr>
              <a:solidFill>
                <a:srgbClr val="6B7C8F"/>
              </a:solidFill>
              <a:effectLst/>
            </c:spPr>
          </c:dPt>
          <c:dPt>
            <c:idx val="3"/>
            <c:invertIfNegative val="0"/>
            <c:bubble3D val="0"/>
            <c:spPr>
              <a:solidFill>
                <a:srgbClr val="6B7C8F"/>
              </a:solidFill>
              <a:effectLst/>
            </c:spPr>
          </c:dPt>
          <c:dPt>
            <c:idx val="4"/>
            <c:invertIfNegative val="0"/>
            <c:bubble3D val="0"/>
            <c:spPr>
              <a:solidFill>
                <a:srgbClr val="C8475A"/>
              </a:solidFill>
              <a:effectLst/>
            </c:spPr>
          </c:dPt>
          <c:cat>
            <c:multiLvlStrRef>
              <c:f>Sheet1!$A$2:$A$6</c:f>
              <c:multiLvlStrCache>
                <c:ptCount val="5"/>
                <c:lvl>
                  <c:pt idx="0">
                    <c:v>Sentiment F1</c:v>
                  </c:pt>
                  <c:pt idx="1">
                    <c:v>Hinglish F1</c:v>
                  </c:pt>
                  <c:pt idx="2">
                    <c:v>English F1</c:v>
                  </c:pt>
                  <c:pt idx="3">
                    <c:v>Emotion F1</c:v>
                  </c:pt>
                  <c:pt idx="4">
                    <c:v>Stress PR-AUC</c:v>
                  </c:pt>
                </c:lvl>
              </c:multiLvlStrCache>
            </c:multiLvlStrRef>
          </c:cat>
          <c:val>
            <c:numRef>
              <c:f>Sheet1!$B$2:$B$6</c:f>
              <c:numCache>
                <c:formatCode>General</c:formatCode>
                <c:ptCount val="5"/>
                <c:pt idx="0">
                  <c:v>-0.002</c:v>
                </c:pt>
                <c:pt idx="1">
                  <c:v>0.003</c:v>
                </c:pt>
                <c:pt idx="2">
                  <c:v>-0.011</c:v>
                </c:pt>
                <c:pt idx="3">
                  <c:v>0.003</c:v>
                </c:pt>
                <c:pt idx="4">
                  <c:v>-0.023</c:v>
                </c:pt>
              </c:numCache>
            </c:numRef>
          </c:val>
        </c:ser>
        <c:dLbls>
          <c:numFmt formatCode="+0.000;-0.00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C8F"/>
                </a:solidFill>
                <a:latin typeface="+mn-lt"/>
              </a:defRPr>
            </a:pPr>
            <a:endParaRPr lang="en-US"/>
          </a:p>
        </c:txPr>
        <c:crossAx val="2094734552"/>
        <c:crosses val="autoZero"/>
        <c:auto val="1"/>
        <c:lblAlgn val="ctr"/>
        <c:noMultiLvlLbl val="1"/>
      </c:catAx>
      <c:valAx>
        <c:axId val="2094734552"/>
        <c:scaling>
          <c:orientation val="minMax"/>
          <c:max val="0.01"/>
          <c:min val="-0.03"/>
        </c:scaling>
        <c:delete val="0"/>
        <c:axPos val="b"/>
        <c:majorGridlines>
          <c:spPr>
            <a:ln w="9525" cap="flat">
              <a:solidFill>
                <a:srgbClr val="E3E9EF"/>
              </a:solidFill>
              <a:prstDash val="solid"/>
              <a:round/>
            </a:ln>
          </c:spPr>
        </c:majorGridlines>
        <c:numFmt formatCode="0.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C8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3"/>
                </a:solidFill>
                <a:latin typeface="+mn-lt"/>
              </a:defRPr>
            </a:pPr>
            <a:r>
              <a:rPr sz="1400" b="0" i="0" u="none" strike="noStrike">
                <a:solidFill>
                  <a:srgbClr val="1B2433"/>
                </a:solidFill>
                <a:latin typeface="+mn-lt"/>
              </a:rPr>
              <a:t>IG deletion test: extra probability drop vs random tokens</a:t>
            </a:r>
          </a:p>
        </c:rich>
      </c:tx>
      <c:layout/>
      <c:overlay val="0"/>
    </c:title>
    <c:autoTitleDeleted val="0"/>
    <c:plotArea>
      <c:layout/>
      <c:barChart>
        <c:barDir val="col"/>
        <c:grouping val="clustered"/>
        <c:varyColors val="0"/>
        <c:ser>
          <c:idx val="0"/>
          <c:order val="0"/>
          <c:tx>
            <c:strRef>
              <c:f>Sheet1!$B$1</c:f>
              <c:strCache>
                <c:ptCount val="1"/>
                <c:pt idx="0">
                  <c:v>Top-k minus random-k</c:v>
                </c:pt>
              </c:strCache>
            </c:strRef>
          </c:tx>
          <c:spPr>
            <a:solidFill>
              <a:srgbClr val="4F63D2"/>
            </a:solidFill>
            <a:effectLst/>
          </c:spPr>
          <c:invertIfNegative val="0"/>
          <c:dLbls>
            <c:numFmt formatCode="0.00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dPt>
            <c:idx val="0"/>
            <c:invertIfNegative val="0"/>
            <c:bubble3D val="0"/>
            <c:spPr>
              <a:solidFill>
                <a:srgbClr val="4F63D2"/>
              </a:solidFill>
              <a:effectLst/>
            </c:spPr>
          </c:dPt>
          <c:dPt>
            <c:idx val="1"/>
            <c:invertIfNegative val="0"/>
            <c:bubble3D val="0"/>
            <c:spPr>
              <a:solidFill>
                <a:srgbClr val="4F63D2"/>
              </a:solidFill>
              <a:effectLst/>
            </c:spPr>
          </c:dPt>
          <c:dPt>
            <c:idx val="2"/>
            <c:invertIfNegative val="0"/>
            <c:bubble3D val="0"/>
            <c:spPr>
              <a:solidFill>
                <a:srgbClr val="E39B2D"/>
              </a:solidFill>
              <a:effectLst/>
            </c:spPr>
          </c:dPt>
          <c:cat>
            <c:multiLvlStrRef>
              <c:f>Sheet1!$A$2:$A$4</c:f>
              <c:multiLvlStrCache>
                <c:ptCount val="3"/>
                <c:lvl>
                  <c:pt idx="0">
                    <c:v>English stress</c:v>
                  </c:pt>
                  <c:pt idx="1">
                    <c:v>English sentiment</c:v>
                  </c:pt>
                  <c:pt idx="2">
                    <c:v>Hinglish sentiment</c:v>
                  </c:pt>
                </c:lvl>
              </c:multiLvlStrCache>
            </c:multiLvlStrRef>
          </c:cat>
          <c:val>
            <c:numRef>
              <c:f>Sheet1!$B$2:$B$4</c:f>
              <c:numCache>
                <c:formatCode>General</c:formatCode>
                <c:ptCount val="3"/>
                <c:pt idx="0">
                  <c:v>0.305</c:v>
                </c:pt>
                <c:pt idx="1">
                  <c:v>0.155</c:v>
                </c:pt>
                <c:pt idx="2">
                  <c:v>0.074</c:v>
                </c:pt>
              </c:numCache>
            </c:numRef>
          </c:val>
        </c:ser>
        <c:dLbls>
          <c:numFmt formatCode="0.00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C8F"/>
                </a:solidFill>
                <a:latin typeface="+mn-lt"/>
              </a:defRPr>
            </a:pPr>
            <a:endParaRPr lang="en-US"/>
          </a:p>
        </c:txPr>
        <c:crossAx val="2094734552"/>
        <c:crosses val="autoZero"/>
        <c:auto val="1"/>
        <c:lblAlgn val="ctr"/>
        <c:noMultiLvlLbl val="1"/>
      </c:catAx>
      <c:valAx>
        <c:axId val="2094734552"/>
        <c:scaling>
          <c:orientation val="minMax"/>
          <c:max val="0.4"/>
          <c:min val="0"/>
        </c:scaling>
        <c:delete val="0"/>
        <c:axPos val="l"/>
        <c:majorGridlines>
          <c:spPr>
            <a:ln w="9525" cap="flat">
              <a:solidFill>
                <a:srgbClr val="E3E9EF"/>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C8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One sentence on scope: the system screens text for sentiment, emotion and stress-related language in English, Hindi and Romanized Hindi. It is a research tool and not a diagnostic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rubric component is mapped to the slides that answer it, so the panel can check them one by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code-mixed Hinglish is common online but most tools are English-only. Our question is why accuracy drops on Hinglish and what fixes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papers we build on. All published numbers are read from the papers' own tables. The right column says what we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splits are frozen by hash so results are reproducible. Mention the Devanagari dedup bug: it is a real error we found and fixed before training the final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left to right: masking, language ID, tokenizer, encoder, three heads, calibration, then the safety layer and explanations before the response goes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pick the best number on the test set. Every choice was made on validation, and the test set was used once for comparisons we wrote down before running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core components work end to end. The right panel lists what is not done, so the panel sees the honest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Screenshot from the running application on a 4-core CPU. The dashboard numbers here are from the original single-seed MuRIL checkpoint that the app serves.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inference with the MuRIL model. The stress probability is a model output, not a clinical probability. When the signal is elevated, the app shows directories of helplines instead of hard-coded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shows the per-language warnings. The system tells the user which outputs were never validated for this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playground lets a user compare models on the same input. Batch mode is for researchers who need many predictions at once; results download as CSV built in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is public and the README walks a new user from clone to running app. Trained weights are not in git because of size, so a new user trains the small models in minutes or the transformer in hours on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plus or minus standard deviation over seeds 13, 21 and 42 on the test sets. Bold green marks the best value per column where the difference is statistically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splits, seeds and hyper-parameters; only the encoder changes. This matches the HingBERT paper's effect size (+4.86 there, +5.6 here) on independent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Multi-task training costs less (one 238 M model instead of three) but gives no accuracy gain. The truncation idea from Sun et al. 2019 did not carry over to short Reddit posts.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reliability checks. Abstention trades coverage for accuracy. The deletion test removes the top 20% of tokens chosen by Integrated Gradients and compares with random deletion.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Published numbers are taken from each paper's own result table. Only the Dreaddit row is a like-for-like comparison; the others are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list these because they limit what the results can claim. Each one is also in the paper and the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owner column before presenting. Each member should be ready to explain their own work package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Dates come from the git history. The 23.3 hours is a lower bound because resumed runs only record time for the last process. Risk handling: restarts were frequent, so we added a snapshot every 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Throughput figures are derived from our measured latency, sequential requests, single process. The planned optimisations have not been benchmarked.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is tested: a unit test sends a marker string through every endpoint and checks it never reaches the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plagiarism report has not been generated yet; it should be run through the institute's tool before submission. The text was written for this project and all sources are cited.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two findings and the next steps, which follow from the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463040" y="2514600"/>
            <a:ext cx="9601200" cy="109728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1463040" y="3611880"/>
            <a:ext cx="9601200" cy="822960"/>
          </a:xfrm>
          <a:prstGeom prst="rect">
            <a:avLst/>
          </a:prstGeom>
          <a:noFill/>
          <a:ln/>
        </p:spPr>
        <p:txBody>
          <a:bodyPr wrap="square" rtlCol="0"/>
          <a:lstStyle>
            <a:lvl1pPr algn="l" indent="0" marL="0">
              <a:buNone/>
              <a:defRPr lang="en-US" sz="1800" dirty="0">
                <a:solidFill>
                  <a:srgbClr val="C9D6E3"/>
                </a:solidFill>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C9D6E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KIET Group of Institutions, Ghaziabad  |  CSE (AI/AIML)  |  Project BCS-753</a:t>
            </a:r>
            <a:endParaRPr lang="en-US" sz="10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C9D6E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4.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4.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4.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github.com/faizdevx/Multilingual-Mental-Health-Risk-" TargetMode="External"/><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548640"/>
            <a:ext cx="10698480" cy="365760"/>
          </a:xfrm>
          <a:prstGeom prst="rect">
            <a:avLst/>
          </a:prstGeom>
          <a:noFill/>
          <a:ln/>
        </p:spPr>
        <p:txBody>
          <a:bodyPr wrap="square" lIns="0" tIns="0" rIns="0" bIns="0" rtlCol="0" anchor="ctr"/>
          <a:lstStyle/>
          <a:p>
            <a:pPr indent="0" marL="0">
              <a:buNone/>
            </a:pPr>
            <a:r>
              <a:rPr lang="en-US" sz="1400" b="1" spc="200" kern="0" dirty="0">
                <a:solidFill>
                  <a:srgbClr val="2A9D8F"/>
                </a:solidFill>
              </a:rPr>
              <a:t>KIET GROUP OF INSTITUTIONS, GHAZIABAD</a:t>
            </a:r>
            <a:endParaRPr lang="en-US" sz="1400" dirty="0"/>
          </a:p>
        </p:txBody>
      </p:sp>
      <p:sp>
        <p:nvSpPr>
          <p:cNvPr id="3" name="Text 1"/>
          <p:cNvSpPr txBox="1"/>
          <p:nvPr/>
        </p:nvSpPr>
        <p:spPr>
          <a:xfrm>
            <a:off x="731520" y="914400"/>
            <a:ext cx="10698480" cy="365760"/>
          </a:xfrm>
          <a:prstGeom prst="rect">
            <a:avLst/>
          </a:prstGeom>
          <a:noFill/>
          <a:ln/>
        </p:spPr>
        <p:txBody>
          <a:bodyPr wrap="square" lIns="0" tIns="0" rIns="0" bIns="0" rtlCol="0" anchor="ctr"/>
          <a:lstStyle/>
          <a:p>
            <a:pPr indent="0" marL="0">
              <a:buNone/>
            </a:pPr>
            <a:r>
              <a:rPr lang="en-US" sz="1400" dirty="0">
                <a:solidFill>
                  <a:srgbClr val="C9D6E3"/>
                </a:solidFill>
              </a:rPr>
              <a:t>CSE (AI/AIML) Department  |  Project (BCS-753)  |  7th Semester</a:t>
            </a:r>
            <a:endParaRPr lang="en-US" sz="1400" dirty="0"/>
          </a:p>
        </p:txBody>
      </p:sp>
      <p:sp>
        <p:nvSpPr>
          <p:cNvPr id="4" name="Text 2"/>
          <p:cNvSpPr txBox="1"/>
          <p:nvPr/>
        </p:nvSpPr>
        <p:spPr>
          <a:xfrm>
            <a:off x="731520" y="1737360"/>
            <a:ext cx="10515600" cy="146304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Multilingual Mental-Health Risk and Sentiment Analyzer</a:t>
            </a:r>
            <a:endParaRPr lang="en-US" sz="4400" dirty="0"/>
          </a:p>
        </p:txBody>
      </p:sp>
      <p:sp>
        <p:nvSpPr>
          <p:cNvPr id="5" name="Text 3"/>
          <p:cNvSpPr txBox="1"/>
          <p:nvPr/>
        </p:nvSpPr>
        <p:spPr>
          <a:xfrm>
            <a:off x="731520" y="3246120"/>
            <a:ext cx="9601200" cy="822960"/>
          </a:xfrm>
          <a:prstGeom prst="rect">
            <a:avLst/>
          </a:prstGeom>
          <a:noFill/>
          <a:ln/>
        </p:spPr>
        <p:txBody>
          <a:bodyPr wrap="square" lIns="0" tIns="0" rIns="0" bIns="0" rtlCol="0" anchor="t"/>
          <a:lstStyle/>
          <a:p>
            <a:pPr indent="0" marL="0">
              <a:buNone/>
            </a:pPr>
            <a:r>
              <a:rPr lang="en-US" sz="1800" dirty="0">
                <a:solidFill>
                  <a:srgbClr val="C9D6E3"/>
                </a:solidFill>
              </a:rPr>
              <a:t>Screening sentiment, emotion and stress-related language in English, Hindi and Hinglish, with a working web application and an IEEE-format research paper</a:t>
            </a:r>
            <a:endParaRPr lang="en-US" sz="1800" dirty="0"/>
          </a:p>
        </p:txBody>
      </p:sp>
      <p:sp>
        <p:nvSpPr>
          <p:cNvPr id="6" name="member-0"/>
          <p:cNvSpPr/>
          <p:nvPr/>
        </p:nvSpPr>
        <p:spPr>
          <a:xfrm>
            <a:off x="731520" y="4709160"/>
            <a:ext cx="2514600" cy="640080"/>
          </a:xfrm>
          <a:prstGeom prst="roundRect">
            <a:avLst>
              <a:gd name="adj" fmla="val 17143"/>
            </a:avLst>
          </a:prstGeom>
          <a:solidFill>
            <a:srgbClr val="2B4470"/>
          </a:solidFill>
          <a:ln w="12700">
            <a:solidFill>
              <a:srgbClr val="2B4470"/>
            </a:solidFill>
            <a:prstDash val="solid"/>
          </a:ln>
        </p:spPr>
      </p:sp>
      <p:sp>
        <p:nvSpPr>
          <p:cNvPr id="7" name="Text 5"/>
          <p:cNvSpPr txBox="1"/>
          <p:nvPr/>
        </p:nvSpPr>
        <p:spPr>
          <a:xfrm>
            <a:off x="731520" y="4709160"/>
            <a:ext cx="2514600" cy="640080"/>
          </a:xfrm>
          <a:prstGeom prst="rect">
            <a:avLst/>
          </a:prstGeom>
          <a:noFill/>
          <a:ln/>
        </p:spPr>
        <p:txBody>
          <a:bodyPr wrap="square" lIns="0" tIns="0" rIns="0" bIns="0" rtlCol="0" anchor="ctr"/>
          <a:lstStyle/>
          <a:p>
            <a:pPr algn="ctr" indent="0" marL="0">
              <a:buNone/>
            </a:pPr>
            <a:r>
              <a:rPr lang="en-US" sz="1600" b="1" dirty="0">
                <a:solidFill>
                  <a:schemeClr val="bg1"/>
                </a:solidFill>
              </a:rPr>
              <a:t>Faisal Arif Ansari</a:t>
            </a:r>
            <a:endParaRPr lang="en-US" sz="1600" dirty="0"/>
          </a:p>
        </p:txBody>
      </p:sp>
      <p:sp>
        <p:nvSpPr>
          <p:cNvPr id="8" name="member-1"/>
          <p:cNvSpPr/>
          <p:nvPr/>
        </p:nvSpPr>
        <p:spPr>
          <a:xfrm>
            <a:off x="3429000" y="4709160"/>
            <a:ext cx="2514600" cy="640080"/>
          </a:xfrm>
          <a:prstGeom prst="roundRect">
            <a:avLst>
              <a:gd name="adj" fmla="val 17143"/>
            </a:avLst>
          </a:prstGeom>
          <a:solidFill>
            <a:srgbClr val="2B4470"/>
          </a:solidFill>
          <a:ln w="12700">
            <a:solidFill>
              <a:srgbClr val="2B4470"/>
            </a:solidFill>
            <a:prstDash val="solid"/>
          </a:ln>
        </p:spPr>
      </p:sp>
      <p:sp>
        <p:nvSpPr>
          <p:cNvPr id="9" name="Text 7"/>
          <p:cNvSpPr txBox="1"/>
          <p:nvPr/>
        </p:nvSpPr>
        <p:spPr>
          <a:xfrm>
            <a:off x="3429000" y="4709160"/>
            <a:ext cx="2514600" cy="640080"/>
          </a:xfrm>
          <a:prstGeom prst="rect">
            <a:avLst/>
          </a:prstGeom>
          <a:noFill/>
          <a:ln/>
        </p:spPr>
        <p:txBody>
          <a:bodyPr wrap="square" lIns="0" tIns="0" rIns="0" bIns="0" rtlCol="0" anchor="ctr"/>
          <a:lstStyle/>
          <a:p>
            <a:pPr algn="ctr" indent="0" marL="0">
              <a:buNone/>
            </a:pPr>
            <a:r>
              <a:rPr lang="en-US" sz="1600" b="1" dirty="0">
                <a:solidFill>
                  <a:schemeClr val="bg1"/>
                </a:solidFill>
              </a:rPr>
              <a:t>Paras Tiwari</a:t>
            </a:r>
            <a:endParaRPr lang="en-US" sz="1600" dirty="0"/>
          </a:p>
        </p:txBody>
      </p:sp>
      <p:sp>
        <p:nvSpPr>
          <p:cNvPr id="10" name="member-2"/>
          <p:cNvSpPr/>
          <p:nvPr/>
        </p:nvSpPr>
        <p:spPr>
          <a:xfrm>
            <a:off x="6126480" y="4709160"/>
            <a:ext cx="2514600" cy="640080"/>
          </a:xfrm>
          <a:prstGeom prst="roundRect">
            <a:avLst>
              <a:gd name="adj" fmla="val 17143"/>
            </a:avLst>
          </a:prstGeom>
          <a:solidFill>
            <a:srgbClr val="2B4470"/>
          </a:solidFill>
          <a:ln w="12700">
            <a:solidFill>
              <a:srgbClr val="2B4470"/>
            </a:solidFill>
            <a:prstDash val="solid"/>
          </a:ln>
        </p:spPr>
      </p:sp>
      <p:sp>
        <p:nvSpPr>
          <p:cNvPr id="11" name="Text 9"/>
          <p:cNvSpPr txBox="1"/>
          <p:nvPr/>
        </p:nvSpPr>
        <p:spPr>
          <a:xfrm>
            <a:off x="6126480" y="4709160"/>
            <a:ext cx="2514600" cy="640080"/>
          </a:xfrm>
          <a:prstGeom prst="rect">
            <a:avLst/>
          </a:prstGeom>
          <a:noFill/>
          <a:ln/>
        </p:spPr>
        <p:txBody>
          <a:bodyPr wrap="square" lIns="0" tIns="0" rIns="0" bIns="0" rtlCol="0" anchor="ctr"/>
          <a:lstStyle/>
          <a:p>
            <a:pPr algn="ctr" indent="0" marL="0">
              <a:buNone/>
            </a:pPr>
            <a:r>
              <a:rPr lang="en-US" sz="1600" b="1" dirty="0">
                <a:solidFill>
                  <a:schemeClr val="bg1"/>
                </a:solidFill>
              </a:rPr>
              <a:t>Prateek Rawat</a:t>
            </a:r>
            <a:endParaRPr lang="en-US" sz="1600" dirty="0"/>
          </a:p>
        </p:txBody>
      </p:sp>
      <p:sp>
        <p:nvSpPr>
          <p:cNvPr id="12" name="member-3"/>
          <p:cNvSpPr/>
          <p:nvPr/>
        </p:nvSpPr>
        <p:spPr>
          <a:xfrm>
            <a:off x="8823960" y="4709160"/>
            <a:ext cx="2514600" cy="640080"/>
          </a:xfrm>
          <a:prstGeom prst="roundRect">
            <a:avLst>
              <a:gd name="adj" fmla="val 17143"/>
            </a:avLst>
          </a:prstGeom>
          <a:solidFill>
            <a:srgbClr val="2B4470"/>
          </a:solidFill>
          <a:ln w="12700">
            <a:solidFill>
              <a:srgbClr val="2B4470"/>
            </a:solidFill>
            <a:prstDash val="solid"/>
          </a:ln>
        </p:spPr>
      </p:sp>
      <p:sp>
        <p:nvSpPr>
          <p:cNvPr id="13" name="Text 11"/>
          <p:cNvSpPr txBox="1"/>
          <p:nvPr/>
        </p:nvSpPr>
        <p:spPr>
          <a:xfrm>
            <a:off x="8823960" y="4709160"/>
            <a:ext cx="2514600" cy="640080"/>
          </a:xfrm>
          <a:prstGeom prst="rect">
            <a:avLst/>
          </a:prstGeom>
          <a:noFill/>
          <a:ln/>
        </p:spPr>
        <p:txBody>
          <a:bodyPr wrap="square" lIns="0" tIns="0" rIns="0" bIns="0" rtlCol="0" anchor="ctr"/>
          <a:lstStyle/>
          <a:p>
            <a:pPr algn="ctr" indent="0" marL="0">
              <a:buNone/>
            </a:pPr>
            <a:r>
              <a:rPr lang="en-US" sz="1600" b="1" dirty="0">
                <a:solidFill>
                  <a:schemeClr val="bg1"/>
                </a:solidFill>
              </a:rPr>
              <a:t>Lakshay Mishra</a:t>
            </a:r>
            <a:endParaRPr lang="en-US" sz="1600" dirty="0"/>
          </a:p>
        </p:txBody>
      </p:sp>
      <p:sp>
        <p:nvSpPr>
          <p:cNvPr id="14" name="Text 12"/>
          <p:cNvSpPr txBox="1"/>
          <p:nvPr/>
        </p:nvSpPr>
        <p:spPr>
          <a:xfrm>
            <a:off x="731520" y="4343400"/>
            <a:ext cx="3657600" cy="320040"/>
          </a:xfrm>
          <a:prstGeom prst="rect">
            <a:avLst/>
          </a:prstGeom>
          <a:noFill/>
          <a:ln/>
        </p:spPr>
        <p:txBody>
          <a:bodyPr wrap="square" lIns="0" tIns="0" rIns="0" bIns="0" rtlCol="0" anchor="ctr"/>
          <a:lstStyle/>
          <a:p>
            <a:pPr indent="0" marL="0">
              <a:buNone/>
            </a:pPr>
            <a:r>
              <a:rPr lang="en-US" sz="1200" b="1" dirty="0">
                <a:solidFill>
                  <a:srgbClr val="2A9D8F"/>
                </a:solidFill>
              </a:rPr>
              <a:t>Team members</a:t>
            </a:r>
            <a:endParaRPr lang="en-US" sz="1200" dirty="0"/>
          </a:p>
        </p:txBody>
      </p:sp>
      <p:sp>
        <p:nvSpPr>
          <p:cNvPr id="15" name="Text 13"/>
          <p:cNvSpPr txBox="1"/>
          <p:nvPr/>
        </p:nvSpPr>
        <p:spPr>
          <a:xfrm>
            <a:off x="731520" y="5989320"/>
            <a:ext cx="10515600" cy="365760"/>
          </a:xfrm>
          <a:prstGeom prst="rect">
            <a:avLst/>
          </a:prstGeom>
          <a:noFill/>
          <a:ln/>
        </p:spPr>
        <p:txBody>
          <a:bodyPr wrap="square" lIns="0" tIns="0" rIns="0" bIns="0" rtlCol="0" anchor="ctr"/>
          <a:lstStyle/>
          <a:p>
            <a:pPr indent="0" marL="0">
              <a:buNone/>
            </a:pPr>
            <a:r>
              <a:rPr lang="en-US" sz="1200" i="1" dirty="0">
                <a:solidFill>
                  <a:srgbClr val="C9D6E3"/>
                </a:solidFill>
              </a:rPr>
              <a:t>Research and screening tool only. It does not diagnose any mental-health condition.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How this presentation maps to the evaluation</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457200"/>
                <a:gridCol w="3749040"/>
                <a:gridCol w="2011680"/>
                <a:gridCol w="4846320"/>
              </a:tblGrid>
              <a:tr h="457200">
                <a:tc>
                  <a:txBody>
                    <a:bodyPr/>
                    <a:lstStyle/>
                    <a:p>
                      <a:pPr indent="0" marL="0">
                        <a:buNone/>
                      </a:pPr>
                      <a:r>
                        <a:rPr lang="en-US" sz="1300" b="1" dirty="0">
                          <a:solidFill>
                            <a:srgbClr val="FFFFFF"/>
                          </a:solidFill>
                        </a:rPr>
                        <a:t>#</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1F3354"/>
                    </a:solidFill>
                  </a:tcPr>
                </a:tc>
                <a:tc>
                  <a:txBody>
                    <a:bodyPr/>
                    <a:lstStyle/>
                    <a:p>
                      <a:pPr indent="0" marL="0">
                        <a:buNone/>
                      </a:pPr>
                      <a:r>
                        <a:rPr lang="en-US" sz="1300" b="1" dirty="0">
                          <a:solidFill>
                            <a:srgbClr val="FFFFFF"/>
                          </a:solidFill>
                        </a:rPr>
                        <a:t>Assessment component</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1F3354"/>
                    </a:solidFill>
                  </a:tcPr>
                </a:tc>
                <a:tc>
                  <a:txBody>
                    <a:bodyPr/>
                    <a:lstStyle/>
                    <a:p>
                      <a:pPr indent="0" marL="0">
                        <a:buNone/>
                      </a:pPr>
                      <a:r>
                        <a:rPr lang="en-US" sz="1300" b="1" dirty="0">
                          <a:solidFill>
                            <a:srgbClr val="FFFFFF"/>
                          </a:solidFill>
                        </a:rPr>
                        <a:t>Where it is covered</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1F3354"/>
                    </a:solidFill>
                  </a:tcPr>
                </a:tc>
                <a:tc>
                  <a:txBody>
                    <a:bodyPr/>
                    <a:lstStyle/>
                    <a:p>
                      <a:pPr indent="0" marL="0">
                        <a:buNone/>
                      </a:pPr>
                      <a:r>
                        <a:rPr lang="en-US" sz="1300" b="1" dirty="0">
                          <a:solidFill>
                            <a:srgbClr val="FFFFFF"/>
                          </a:solidFill>
                        </a:rPr>
                        <a:t>Evidence shown</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1F3354"/>
                    </a:solidFill>
                  </a:tcPr>
                </a:tc>
              </a:tr>
              <a:tr h="457200">
                <a:tc>
                  <a:txBody>
                    <a:bodyPr/>
                    <a:lstStyle/>
                    <a:p>
                      <a:pPr indent="0" marL="0">
                        <a:buNone/>
                      </a:pPr>
                      <a:r>
                        <a:rPr lang="en-US" sz="1300" dirty="0">
                          <a:solidFill>
                            <a:srgbClr val="1B2433"/>
                          </a:solidFill>
                        </a:rPr>
                        <a:t>1</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Technical approach finalized and validated</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Slides 4, 6-8</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Literature, alternatives compared, validation protocol</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2433"/>
                          </a:solidFill>
                        </a:rPr>
                        <a:t>2</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Implementation (minimum 70%)</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Slides 10-15</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Component status, live web app screenshots</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r>
              <a:tr h="457200">
                <a:tc>
                  <a:txBody>
                    <a:bodyPr/>
                    <a:lstStyle/>
                    <a:p>
                      <a:pPr indent="0" marL="0">
                        <a:buNone/>
                      </a:pPr>
                      <a:r>
                        <a:rPr lang="en-US" sz="1300" dirty="0">
                          <a:solidFill>
                            <a:srgbClr val="1B2433"/>
                          </a:solidFill>
                        </a:rPr>
                        <a:t>3</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Results analysis, discussion and validation</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Slides 17-22</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3-seed test results, 95% CIs, published baselines</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2433"/>
                          </a:solidFill>
                        </a:rPr>
                        <a:t>4</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Presentation</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Whole deck</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Live demo of the web app (slides 11-15)</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r>
              <a:tr h="457200">
                <a:tc>
                  <a:txBody>
                    <a:bodyPr/>
                    <a:lstStyle/>
                    <a:p>
                      <a:pPr indent="0" marL="0">
                        <a:buNone/>
                      </a:pPr>
                      <a:r>
                        <a:rPr lang="en-US" sz="1300" dirty="0">
                          <a:solidFill>
                            <a:srgbClr val="1B2433"/>
                          </a:solidFill>
                        </a:rPr>
                        <a:t>5</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Team work and individual contribution</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Slide 24</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Work packages and owners</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2433"/>
                          </a:solidFill>
                        </a:rPr>
                        <a:t>6</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Project management, cost and scalability</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Slides 25-26</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Timeline, measured compute, latency, scaling plan</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r>
              <a:tr h="457200">
                <a:tc>
                  <a:txBody>
                    <a:bodyPr/>
                    <a:lstStyle/>
                    <a:p>
                      <a:pPr indent="0" marL="0">
                        <a:buNone/>
                      </a:pPr>
                      <a:r>
                        <a:rPr lang="en-US" sz="1300" dirty="0">
                          <a:solidFill>
                            <a:srgbClr val="1B2433"/>
                          </a:solidFill>
                        </a:rPr>
                        <a:t>7</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Ethics, environment, sustainability, safety</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Slide 28</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Privacy design, safety layer, compute footprint</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2433"/>
                          </a:solidFill>
                        </a:rPr>
                        <a:t>8</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Research paper quality and plagiarism</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Slide 29</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7-page IEEE paper, 37 verified references</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r>
              <a:tr h="457200">
                <a:tc>
                  <a:txBody>
                    <a:bodyPr/>
                    <a:lstStyle/>
                    <a:p>
                      <a:pPr indent="0" marL="0">
                        <a:buNone/>
                      </a:pPr>
                      <a:r>
                        <a:rPr lang="en-US" sz="1300" dirty="0">
                          <a:solidFill>
                            <a:srgbClr val="1B2433"/>
                          </a:solidFill>
                        </a:rPr>
                        <a:t>9</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Submission readiness and communication</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Slides 29-30</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Paper, public code, reproducibility guide</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Problem and scope</a:t>
            </a:r>
            <a:endParaRPr lang="en-US" sz="3200" dirty="0"/>
          </a:p>
        </p:txBody>
      </p:sp>
      <p:sp>
        <p:nvSpPr>
          <p:cNvPr id="3" name="Text 1"/>
          <p:cNvSpPr txBox="1"/>
          <p:nvPr/>
        </p:nvSpPr>
        <p:spPr>
          <a:xfrm>
            <a:off x="548640" y="1371600"/>
            <a:ext cx="6583680" cy="384048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Indian social-media text mixes English, Hindi in Devanagari and Hindi typed in Roman letters (Hinglish), often in one sentence.</a:t>
            </a:r>
            <a:endParaRPr lang="en-US" sz="1700" dirty="0"/>
          </a:p>
          <a:p>
            <a:pPr marL="228600" indent="-228600">
              <a:spcAft>
                <a:spcPts val="800"/>
              </a:spcAft>
              <a:buSzPct val="100000"/>
              <a:buChar char="•"/>
            </a:pPr>
            <a:r>
              <a:rPr lang="en-US" sz="1700" dirty="0">
                <a:solidFill>
                  <a:schemeClr val="tx1"/>
                </a:solidFill>
              </a:rPr>
              <a:t>Most mental-health NLP tools are trained and tested on English only. Their behaviour on Hinglish is rarely measured.</a:t>
            </a:r>
            <a:endParaRPr lang="en-US" sz="1700" dirty="0"/>
          </a:p>
          <a:p>
            <a:pPr marL="228600" indent="-228600">
              <a:spcAft>
                <a:spcPts val="800"/>
              </a:spcAft>
              <a:buSzPct val="100000"/>
              <a:buChar char="•"/>
            </a:pPr>
            <a:r>
              <a:rPr lang="en-US" sz="1700" dirty="0">
                <a:solidFill>
                  <a:schemeClr val="tx1"/>
                </a:solidFill>
              </a:rPr>
              <a:t>Goal: one service that reports sentiment, emotion and a stress-language signal, with language ID, calibrated probabilities and token-level explanations.</a:t>
            </a:r>
            <a:endParaRPr lang="en-US" sz="1700" dirty="0"/>
          </a:p>
          <a:p>
            <a:pPr marL="228600" indent="-228600">
              <a:spcAft>
                <a:spcPts val="800"/>
              </a:spcAft>
              <a:buSzPct val="100000"/>
              <a:buChar char="•"/>
            </a:pPr>
            <a:r>
              <a:rPr lang="en-US" sz="1700" dirty="0">
                <a:solidFill>
                  <a:schemeClr val="tx1"/>
                </a:solidFill>
              </a:rPr>
              <a:t>Research question: what explains the English to Hinglish accuracy gap, and which change closes it?</a:t>
            </a:r>
            <a:endParaRPr lang="en-US" sz="1700" dirty="0"/>
          </a:p>
        </p:txBody>
      </p:sp>
      <p:sp>
        <p:nvSpPr>
          <p:cNvPr id="4" name="card"/>
          <p:cNvSpPr/>
          <p:nvPr/>
        </p:nvSpPr>
        <p:spPr>
          <a:xfrm>
            <a:off x="548640" y="5166360"/>
            <a:ext cx="6583680" cy="960120"/>
          </a:xfrm>
          <a:prstGeom prst="roundRect">
            <a:avLst>
              <a:gd name="adj" fmla="val 11429"/>
            </a:avLst>
          </a:prstGeom>
          <a:solidFill>
            <a:srgbClr val="FCEFD9"/>
          </a:solidFill>
          <a:ln w="12700">
            <a:solidFill>
              <a:srgbClr val="FCEFD9"/>
            </a:solidFill>
            <a:prstDash val="solid"/>
          </a:ln>
        </p:spPr>
      </p:sp>
      <p:sp>
        <p:nvSpPr>
          <p:cNvPr id="5" name="Text 3"/>
          <p:cNvSpPr txBox="1"/>
          <p:nvPr/>
        </p:nvSpPr>
        <p:spPr>
          <a:xfrm>
            <a:off x="731520" y="5212080"/>
            <a:ext cx="6217920" cy="868680"/>
          </a:xfrm>
          <a:prstGeom prst="rect">
            <a:avLst/>
          </a:prstGeom>
          <a:noFill/>
          <a:ln/>
        </p:spPr>
        <p:txBody>
          <a:bodyPr wrap="square" lIns="0" tIns="0" rIns="0" bIns="0" rtlCol="0" anchor="ctr"/>
          <a:lstStyle/>
          <a:p>
            <a:pPr indent="0" marL="0">
              <a:buNone/>
            </a:pPr>
            <a:r>
              <a:rPr lang="en-US" sz="1500" b="1" dirty="0">
                <a:solidFill>
                  <a:schemeClr val="tx1"/>
                </a:solidFill>
              </a:rPr>
              <a:t>Scope: </a:t>
            </a:r>
            <a:pPr indent="0" marL="0">
              <a:buNone/>
            </a:pPr>
            <a:r>
              <a:rPr lang="en-US" sz="1500" dirty="0">
                <a:solidFill>
                  <a:schemeClr val="tx1"/>
                </a:solidFill>
              </a:rPr>
              <a:t>screening and research only. The "risk" output means stress-related language in a post, as labelled in Dreaddit. It is not a clinical diagnosis.</a:t>
            </a:r>
            <a:endParaRPr lang="en-US" sz="1500" dirty="0"/>
          </a:p>
        </p:txBody>
      </p:sp>
      <p:sp>
        <p:nvSpPr>
          <p:cNvPr id="6" name="card"/>
          <p:cNvSpPr/>
          <p:nvPr/>
        </p:nvSpPr>
        <p:spPr>
          <a:xfrm>
            <a:off x="7680960" y="1371600"/>
            <a:ext cx="3977640" cy="1417320"/>
          </a:xfrm>
          <a:prstGeom prst="roundRect">
            <a:avLst>
              <a:gd name="adj" fmla="val 7742"/>
            </a:avLst>
          </a:prstGeom>
          <a:solidFill>
            <a:schemeClr val="bg2"/>
          </a:solidFill>
          <a:ln w="12700">
            <a:solidFill>
              <a:schemeClr val="bg2"/>
            </a:solidFill>
            <a:prstDash val="solid"/>
          </a:ln>
        </p:spPr>
      </p:sp>
      <p:sp>
        <p:nvSpPr>
          <p:cNvPr id="7" name="icon-dot"/>
          <p:cNvSpPr/>
          <p:nvPr/>
        </p:nvSpPr>
        <p:spPr>
          <a:xfrm>
            <a:off x="7909560" y="1691640"/>
            <a:ext cx="777240" cy="777240"/>
          </a:xfrm>
          <a:prstGeom prst="ellipse">
            <a:avLst/>
          </a:prstGeom>
          <a:solidFill>
            <a:srgbClr val="2A9D8F"/>
          </a:solidFill>
          <a:ln w="12700">
            <a:solidFill>
              <a:srgbClr val="2A9D8F"/>
            </a:solidFill>
            <a:prstDash val="solid"/>
          </a:ln>
        </p:spPr>
      </p:sp>
      <p:pic>
        <p:nvPicPr>
          <p:cNvPr id="8" name="Image 0" descr="icon">    </p:cNvPr>
          <p:cNvPicPr>
            <a:picLocks noChangeAspect="1"/>
          </p:cNvPicPr>
          <p:nvPr/>
        </p:nvPicPr>
        <p:blipFill>
          <a:blip r:embed="rId1"/>
          <a:stretch>
            <a:fillRect/>
          </a:stretch>
        </p:blipFill>
        <p:spPr>
          <a:xfrm>
            <a:off x="8103870" y="1885950"/>
            <a:ext cx="388620" cy="388620"/>
          </a:xfrm>
          <a:prstGeom prst="rect">
            <a:avLst/>
          </a:prstGeom>
        </p:spPr>
      </p:pic>
      <p:sp>
        <p:nvSpPr>
          <p:cNvPr id="9" name="Text 6"/>
          <p:cNvSpPr txBox="1"/>
          <p:nvPr/>
        </p:nvSpPr>
        <p:spPr>
          <a:xfrm>
            <a:off x="8915400" y="1463040"/>
            <a:ext cx="2560320" cy="68580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3</a:t>
            </a:r>
            <a:endParaRPr lang="en-US" sz="3600" dirty="0"/>
          </a:p>
        </p:txBody>
      </p:sp>
      <p:sp>
        <p:nvSpPr>
          <p:cNvPr id="10" name="Text 7"/>
          <p:cNvSpPr txBox="1"/>
          <p:nvPr/>
        </p:nvSpPr>
        <p:spPr>
          <a:xfrm>
            <a:off x="8915400" y="2103120"/>
            <a:ext cx="2606040" cy="640080"/>
          </a:xfrm>
          <a:prstGeom prst="rect">
            <a:avLst/>
          </a:prstGeom>
          <a:noFill/>
          <a:ln/>
        </p:spPr>
        <p:txBody>
          <a:bodyPr wrap="square" lIns="0" tIns="0" rIns="0" bIns="0" rtlCol="0" anchor="t"/>
          <a:lstStyle/>
          <a:p>
            <a:pPr indent="0" marL="0">
              <a:buNone/>
            </a:pPr>
            <a:r>
              <a:rPr lang="en-US" sz="1400" dirty="0">
                <a:solidFill>
                  <a:schemeClr val="tx1"/>
                </a:solidFill>
              </a:rPr>
              <a:t>tasks: sentiment, emotion, stress language</a:t>
            </a:r>
            <a:endParaRPr lang="en-US" sz="1400" dirty="0"/>
          </a:p>
        </p:txBody>
      </p:sp>
      <p:sp>
        <p:nvSpPr>
          <p:cNvPr id="11" name="card"/>
          <p:cNvSpPr/>
          <p:nvPr/>
        </p:nvSpPr>
        <p:spPr>
          <a:xfrm>
            <a:off x="7680960" y="2971800"/>
            <a:ext cx="3977640" cy="1417320"/>
          </a:xfrm>
          <a:prstGeom prst="roundRect">
            <a:avLst>
              <a:gd name="adj" fmla="val 7742"/>
            </a:avLst>
          </a:prstGeom>
          <a:solidFill>
            <a:schemeClr val="bg2"/>
          </a:solidFill>
          <a:ln w="12700">
            <a:solidFill>
              <a:schemeClr val="bg2"/>
            </a:solidFill>
            <a:prstDash val="solid"/>
          </a:ln>
        </p:spPr>
      </p:sp>
      <p:sp>
        <p:nvSpPr>
          <p:cNvPr id="12" name="icon-dot"/>
          <p:cNvSpPr/>
          <p:nvPr/>
        </p:nvSpPr>
        <p:spPr>
          <a:xfrm>
            <a:off x="7909560" y="3291840"/>
            <a:ext cx="777240" cy="777240"/>
          </a:xfrm>
          <a:prstGeom prst="ellipse">
            <a:avLst/>
          </a:prstGeom>
          <a:solidFill>
            <a:srgbClr val="4F63D2"/>
          </a:solidFill>
          <a:ln w="12700">
            <a:solidFill>
              <a:srgbClr val="4F63D2"/>
            </a:solidFill>
            <a:prstDash val="solid"/>
          </a:ln>
        </p:spPr>
      </p:sp>
      <p:pic>
        <p:nvPicPr>
          <p:cNvPr id="13" name="Image 1" descr="icon">    </p:cNvPr>
          <p:cNvPicPr>
            <a:picLocks noChangeAspect="1"/>
          </p:cNvPicPr>
          <p:nvPr/>
        </p:nvPicPr>
        <p:blipFill>
          <a:blip r:embed="rId2"/>
          <a:stretch>
            <a:fillRect/>
          </a:stretch>
        </p:blipFill>
        <p:spPr>
          <a:xfrm>
            <a:off x="8103870" y="3486150"/>
            <a:ext cx="388620" cy="388620"/>
          </a:xfrm>
          <a:prstGeom prst="rect">
            <a:avLst/>
          </a:prstGeom>
        </p:spPr>
      </p:pic>
      <p:sp>
        <p:nvSpPr>
          <p:cNvPr id="14" name="Text 10"/>
          <p:cNvSpPr txBox="1"/>
          <p:nvPr/>
        </p:nvSpPr>
        <p:spPr>
          <a:xfrm>
            <a:off x="8915400" y="3063240"/>
            <a:ext cx="2560320" cy="68580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3</a:t>
            </a:r>
            <a:endParaRPr lang="en-US" sz="3600" dirty="0"/>
          </a:p>
        </p:txBody>
      </p:sp>
      <p:sp>
        <p:nvSpPr>
          <p:cNvPr id="15" name="Text 11"/>
          <p:cNvSpPr txBox="1"/>
          <p:nvPr/>
        </p:nvSpPr>
        <p:spPr>
          <a:xfrm>
            <a:off x="8915400" y="3703320"/>
            <a:ext cx="2606040" cy="640080"/>
          </a:xfrm>
          <a:prstGeom prst="rect">
            <a:avLst/>
          </a:prstGeom>
          <a:noFill/>
          <a:ln/>
        </p:spPr>
        <p:txBody>
          <a:bodyPr wrap="square" lIns="0" tIns="0" rIns="0" bIns="0" rtlCol="0" anchor="t"/>
          <a:lstStyle/>
          <a:p>
            <a:pPr indent="0" marL="0">
              <a:buNone/>
            </a:pPr>
            <a:r>
              <a:rPr lang="en-US" sz="1400" dirty="0">
                <a:solidFill>
                  <a:schemeClr val="tx1"/>
                </a:solidFill>
              </a:rPr>
              <a:t>language and script tags: en-Latn, hi-Deva, hi-Latn</a:t>
            </a:r>
            <a:endParaRPr lang="en-US" sz="1400" dirty="0"/>
          </a:p>
        </p:txBody>
      </p:sp>
      <p:sp>
        <p:nvSpPr>
          <p:cNvPr id="16" name="card"/>
          <p:cNvSpPr/>
          <p:nvPr/>
        </p:nvSpPr>
        <p:spPr>
          <a:xfrm>
            <a:off x="7680960" y="4572000"/>
            <a:ext cx="3977640" cy="1417320"/>
          </a:xfrm>
          <a:prstGeom prst="roundRect">
            <a:avLst>
              <a:gd name="adj" fmla="val 7742"/>
            </a:avLst>
          </a:prstGeom>
          <a:solidFill>
            <a:schemeClr val="bg2"/>
          </a:solidFill>
          <a:ln w="12700">
            <a:solidFill>
              <a:schemeClr val="bg2"/>
            </a:solidFill>
            <a:prstDash val="solid"/>
          </a:ln>
        </p:spPr>
      </p:sp>
      <p:sp>
        <p:nvSpPr>
          <p:cNvPr id="17" name="icon-dot"/>
          <p:cNvSpPr/>
          <p:nvPr/>
        </p:nvSpPr>
        <p:spPr>
          <a:xfrm>
            <a:off x="7909560" y="4892040"/>
            <a:ext cx="777240" cy="777240"/>
          </a:xfrm>
          <a:prstGeom prst="ellipse">
            <a:avLst/>
          </a:prstGeom>
          <a:solidFill>
            <a:srgbClr val="E39B2D"/>
          </a:solidFill>
          <a:ln w="12700">
            <a:solidFill>
              <a:srgbClr val="E39B2D"/>
            </a:solidFill>
            <a:prstDash val="solid"/>
          </a:ln>
        </p:spPr>
      </p:sp>
      <p:pic>
        <p:nvPicPr>
          <p:cNvPr id="18" name="Image 2" descr="icon">    </p:cNvPr>
          <p:cNvPicPr>
            <a:picLocks noChangeAspect="1"/>
          </p:cNvPicPr>
          <p:nvPr/>
        </p:nvPicPr>
        <p:blipFill>
          <a:blip r:embed="rId3"/>
          <a:stretch>
            <a:fillRect/>
          </a:stretch>
        </p:blipFill>
        <p:spPr>
          <a:xfrm>
            <a:off x="8103870" y="5086350"/>
            <a:ext cx="388620" cy="388620"/>
          </a:xfrm>
          <a:prstGeom prst="rect">
            <a:avLst/>
          </a:prstGeom>
        </p:spPr>
      </p:pic>
      <p:sp>
        <p:nvSpPr>
          <p:cNvPr id="19" name="Text 14"/>
          <p:cNvSpPr txBox="1"/>
          <p:nvPr/>
        </p:nvSpPr>
        <p:spPr>
          <a:xfrm>
            <a:off x="8915400" y="4663440"/>
            <a:ext cx="2560320" cy="68580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4</a:t>
            </a:r>
            <a:endParaRPr lang="en-US" sz="3600" dirty="0"/>
          </a:p>
        </p:txBody>
      </p:sp>
      <p:sp>
        <p:nvSpPr>
          <p:cNvPr id="20" name="Text 15"/>
          <p:cNvSpPr txBox="1"/>
          <p:nvPr/>
        </p:nvSpPr>
        <p:spPr>
          <a:xfrm>
            <a:off x="8915400" y="5303520"/>
            <a:ext cx="2606040" cy="640080"/>
          </a:xfrm>
          <a:prstGeom prst="rect">
            <a:avLst/>
          </a:prstGeom>
          <a:noFill/>
          <a:ln/>
        </p:spPr>
        <p:txBody>
          <a:bodyPr wrap="square" lIns="0" tIns="0" rIns="0" bIns="0" rtlCol="0" anchor="t"/>
          <a:lstStyle/>
          <a:p>
            <a:pPr indent="0" marL="0">
              <a:buNone/>
            </a:pPr>
            <a:r>
              <a:rPr lang="en-US" sz="1400" dirty="0">
                <a:solidFill>
                  <a:schemeClr val="tx1"/>
                </a:solidFill>
              </a:rPr>
              <a:t>public datasets, no private data collected</a:t>
            </a:r>
            <a:endParaRPr lang="en-US" sz="14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What earlier research did, and the gap we target</a:t>
            </a:r>
            <a:endParaRPr lang="en-US" sz="3200" dirty="0"/>
          </a:p>
        </p:txBody>
      </p:sp>
      <p:sp>
        <p:nvSpPr>
          <p:cNvPr id="3" name="rubric-chip"/>
          <p:cNvSpPr/>
          <p:nvPr/>
        </p:nvSpPr>
        <p:spPr>
          <a:xfrm>
            <a:off x="9921240" y="502920"/>
            <a:ext cx="173736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921240" y="502920"/>
            <a:ext cx="1737360" cy="411480"/>
          </a:xfrm>
          <a:prstGeom prst="rect">
            <a:avLst/>
          </a:prstGeom>
          <a:noFill/>
          <a:ln/>
        </p:spPr>
        <p:txBody>
          <a:bodyPr wrap="square" lIns="0" tIns="0" rIns="0" bIns="0" rtlCol="0" anchor="ctr"/>
          <a:lstStyle/>
          <a:p>
            <a:pPr algn="ctr" indent="0" marL="0">
              <a:buNone/>
            </a:pPr>
            <a:r>
              <a:rPr lang="en-US" sz="1200" b="1" dirty="0">
                <a:solidFill>
                  <a:schemeClr val="tx2"/>
                </a:solidFill>
              </a:rPr>
              <a:t>Rubric 1</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3017520"/>
                <a:gridCol w="4206240"/>
                <a:gridCol w="3840480"/>
              </a:tblGrid>
              <a:tr h="548640">
                <a:tc>
                  <a:txBody>
                    <a:bodyPr/>
                    <a:lstStyle/>
                    <a:p>
                      <a:pPr indent="0" marL="0">
                        <a:buNone/>
                      </a:pPr>
                      <a:r>
                        <a:rPr lang="en-US" sz="1300" b="1" dirty="0">
                          <a:solidFill>
                            <a:srgbClr val="FFFFFF"/>
                          </a:solidFill>
                        </a:rPr>
                        <a:t>Prior work</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1F3354"/>
                    </a:solidFill>
                  </a:tcPr>
                </a:tc>
                <a:tc>
                  <a:txBody>
                    <a:bodyPr/>
                    <a:lstStyle/>
                    <a:p>
                      <a:pPr indent="0" marL="0">
                        <a:buNone/>
                      </a:pPr>
                      <a:r>
                        <a:rPr lang="en-US" sz="1300" b="1" dirty="0">
                          <a:solidFill>
                            <a:srgbClr val="FFFFFF"/>
                          </a:solidFill>
                        </a:rPr>
                        <a:t>What it showed</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1F3354"/>
                    </a:solidFill>
                  </a:tcPr>
                </a:tc>
                <a:tc>
                  <a:txBody>
                    <a:bodyPr/>
                    <a:lstStyle/>
                    <a:p>
                      <a:pPr indent="0" marL="0">
                        <a:buNone/>
                      </a:pPr>
                      <a:r>
                        <a:rPr lang="en-US" sz="1300" b="1" dirty="0">
                          <a:solidFill>
                            <a:srgbClr val="FFFFFF"/>
                          </a:solidFill>
                        </a:rPr>
                        <a:t>Gap addressed in this project</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1F3354"/>
                    </a:solidFill>
                  </a:tcPr>
                </a:tc>
              </a:tr>
              <a:tr h="548640">
                <a:tc>
                  <a:txBody>
                    <a:bodyPr/>
                    <a:lstStyle/>
                    <a:p>
                      <a:pPr indent="0" marL="0">
                        <a:buNone/>
                      </a:pPr>
                      <a:r>
                        <a:rPr lang="en-US" sz="1250" dirty="0">
                          <a:solidFill>
                            <a:srgbClr val="1B2433"/>
                          </a:solidFill>
                        </a:rPr>
                        <a:t>Turcan &amp; McKeown, 2019 (Dreaddit)</a:t>
                      </a:r>
                      <a:endParaRPr lang="en-US" sz="125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250" dirty="0">
                          <a:solidFill>
                            <a:srgbClr val="1B2433"/>
                          </a:solidFill>
                        </a:rPr>
                        <a:t>Reddit stress dataset; BERT-base F1 0.8065 on the official test set</a:t>
                      </a:r>
                      <a:endParaRPr lang="en-US" sz="125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250" dirty="0">
                          <a:solidFill>
                            <a:srgbClr val="1B2433"/>
                          </a:solidFill>
                        </a:rPr>
                        <a:t>English only; we reuse its test set to compare directly</a:t>
                      </a:r>
                      <a:endParaRPr lang="en-US" sz="125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r>
              <a:tr h="548640">
                <a:tc>
                  <a:txBody>
                    <a:bodyPr/>
                    <a:lstStyle/>
                    <a:p>
                      <a:pPr indent="0" marL="0">
                        <a:buNone/>
                      </a:pPr>
                      <a:r>
                        <a:rPr lang="en-US" sz="1250" dirty="0">
                          <a:solidFill>
                            <a:srgbClr val="1B2433"/>
                          </a:solidFill>
                        </a:rPr>
                        <a:t>Khanuja et al., 2021 (MuRIL)</a:t>
                      </a:r>
                      <a:endParaRPr lang="en-US" sz="125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250" dirty="0">
                          <a:solidFill>
                            <a:srgbClr val="1B2433"/>
                          </a:solidFill>
                        </a:rPr>
                        <a:t>BERT pre-trained on Indian languages, including transliterated text</a:t>
                      </a:r>
                      <a:endParaRPr lang="en-US" sz="125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250" dirty="0">
                          <a:solidFill>
                            <a:srgbClr val="1B2433"/>
                          </a:solidFill>
                        </a:rPr>
                        <a:t>Not tested on Hinglish social-media sentiment with stress tasks</a:t>
                      </a:r>
                      <a:endParaRPr lang="en-US" sz="125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r>
              <a:tr h="548640">
                <a:tc>
                  <a:txBody>
                    <a:bodyPr/>
                    <a:lstStyle/>
                    <a:p>
                      <a:pPr indent="0" marL="0">
                        <a:buNone/>
                      </a:pPr>
                      <a:r>
                        <a:rPr lang="en-US" sz="1250" dirty="0">
                          <a:solidFill>
                            <a:srgbClr val="1B2433"/>
                          </a:solidFill>
                        </a:rPr>
                        <a:t>Nayak &amp; Joshi, 2022 (HingBERT)</a:t>
                      </a:r>
                      <a:endParaRPr lang="en-US" sz="125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250" dirty="0">
                          <a:solidFill>
                            <a:srgbClr val="1B2433"/>
                          </a:solidFill>
                        </a:rPr>
                        <a:t>Hinglish pre-training: HingRoBERTa 66.43 vs XLM-R 61.57 F1 (GLUECoS)</a:t>
                      </a:r>
                      <a:endParaRPr lang="en-US" sz="125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250" dirty="0">
                          <a:solidFill>
                            <a:srgbClr val="1B2433"/>
                          </a:solidFill>
                        </a:rPr>
                        <a:t>We test whether the gain holds on new Hinglish data</a:t>
                      </a:r>
                      <a:endParaRPr lang="en-US" sz="125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r>
              <a:tr h="548640">
                <a:tc>
                  <a:txBody>
                    <a:bodyPr/>
                    <a:lstStyle/>
                    <a:p>
                      <a:pPr indent="0" marL="0">
                        <a:buNone/>
                      </a:pPr>
                      <a:r>
                        <a:rPr lang="en-US" sz="1250" dirty="0">
                          <a:solidFill>
                            <a:srgbClr val="1B2433"/>
                          </a:solidFill>
                        </a:rPr>
                        <a:t>Barbieri et al., 2022 (UMSAB)</a:t>
                      </a:r>
                      <a:endParaRPr lang="en-US" sz="125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250" dirty="0">
                          <a:solidFill>
                            <a:srgbClr val="1B2433"/>
                          </a:solidFill>
                        </a:rPr>
                        <a:t>Multilingual tweet sentiment; Hindi XLM-Twitter 56.39</a:t>
                      </a:r>
                      <a:endParaRPr lang="en-US" sz="125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250" dirty="0">
                          <a:solidFill>
                            <a:srgbClr val="1B2433"/>
                          </a:solidFill>
                        </a:rPr>
                        <a:t>Same Hindi test file reused for context</a:t>
                      </a:r>
                      <a:endParaRPr lang="en-US" sz="125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r>
              <a:tr h="548640">
                <a:tc>
                  <a:txBody>
                    <a:bodyPr/>
                    <a:lstStyle/>
                    <a:p>
                      <a:pPr indent="0" marL="0">
                        <a:buNone/>
                      </a:pPr>
                      <a:r>
                        <a:rPr lang="en-US" sz="1250" dirty="0">
                          <a:solidFill>
                            <a:srgbClr val="1B2433"/>
                          </a:solidFill>
                        </a:rPr>
                        <a:t>Muhammad et al., 2025 (BRIGHTER)</a:t>
                      </a:r>
                      <a:endParaRPr lang="en-US" sz="125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250" dirty="0">
                          <a:solidFill>
                            <a:srgbClr val="1B2433"/>
                          </a:solidFill>
                        </a:rPr>
                        <a:t>Multi-label emotion data for many languages, incl. Hindi</a:t>
                      </a:r>
                      <a:endParaRPr lang="en-US" sz="125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250" dirty="0">
                          <a:solidFill>
                            <a:srgbClr val="1B2433"/>
                          </a:solidFill>
                        </a:rPr>
                        <a:t>Used for the emotion task (English and Hindi)</a:t>
                      </a:r>
                      <a:endParaRPr lang="en-US" sz="125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r>
              <a:tr h="548640">
                <a:tc>
                  <a:txBody>
                    <a:bodyPr/>
                    <a:lstStyle/>
                    <a:p>
                      <a:pPr indent="0" marL="0">
                        <a:buNone/>
                      </a:pPr>
                      <a:r>
                        <a:rPr lang="en-US" sz="1250" dirty="0">
                          <a:solidFill>
                            <a:srgbClr val="1B2433"/>
                          </a:solidFill>
                        </a:rPr>
                        <a:t>Liu et al., 2019; Pruksachatkun et al., 2020</a:t>
                      </a:r>
                      <a:endParaRPr lang="en-US" sz="125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250" dirty="0">
                          <a:solidFill>
                            <a:srgbClr val="1B2433"/>
                          </a:solidFill>
                        </a:rPr>
                        <a:t>Multi-task training helps some task pairs and hurts others</a:t>
                      </a:r>
                      <a:endParaRPr lang="en-US" sz="125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250" dirty="0">
                          <a:solidFill>
                            <a:srgbClr val="1B2433"/>
                          </a:solidFill>
                        </a:rPr>
                        <a:t>Untested for unrelated mental-health datasets; we ablate it</a:t>
                      </a:r>
                      <a:endParaRPr lang="en-US" sz="125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r>
              <a:tr h="548640">
                <a:tc>
                  <a:txBody>
                    <a:bodyPr/>
                    <a:lstStyle/>
                    <a:p>
                      <a:pPr indent="0" marL="0">
                        <a:buNone/>
                      </a:pPr>
                      <a:r>
                        <a:rPr lang="en-US" sz="1250" dirty="0">
                          <a:solidFill>
                            <a:srgbClr val="1B2433"/>
                          </a:solidFill>
                        </a:rPr>
                        <a:t>Guo et al., 2017; Sundararajan et al., 2017</a:t>
                      </a:r>
                      <a:endParaRPr lang="en-US" sz="125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250" dirty="0">
                          <a:solidFill>
                            <a:srgbClr val="1B2433"/>
                          </a:solidFill>
                        </a:rPr>
                        <a:t>Temperature scaling; Integrated Gradients explanations</a:t>
                      </a:r>
                      <a:endParaRPr lang="en-US" sz="125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250" dirty="0">
                          <a:solidFill>
                            <a:srgbClr val="1B2433"/>
                          </a:solidFill>
                        </a:rPr>
                        <a:t>Explanation faithfulness on Hinglish is rarely measured</a:t>
                      </a:r>
                      <a:endParaRPr lang="en-US" sz="125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number"/>
          <p:cNvSpPr/>
          <p:nvPr/>
        </p:nvSpPr>
        <p:spPr>
          <a:xfrm>
            <a:off x="502920" y="2606040"/>
            <a:ext cx="777240" cy="777240"/>
          </a:xfrm>
          <a:prstGeom prst="ellipse">
            <a:avLst/>
          </a:prstGeom>
          <a:solidFill>
            <a:schemeClr val="accent1"/>
          </a:solidFill>
          <a:ln w="12700">
            <a:solidFill>
              <a:schemeClr val="accent1"/>
            </a:solidFill>
            <a:prstDash val="solid"/>
          </a:ln>
        </p:spPr>
      </p:sp>
      <p:sp>
        <p:nvSpPr>
          <p:cNvPr id="3" name="Text 1"/>
          <p:cNvSpPr txBox="1"/>
          <p:nvPr/>
        </p:nvSpPr>
        <p:spPr>
          <a:xfrm>
            <a:off x="502920" y="2606040"/>
            <a:ext cx="777240" cy="777240"/>
          </a:xfrm>
          <a:prstGeom prst="rect">
            <a:avLst/>
          </a:prstGeom>
          <a:noFill/>
          <a:ln/>
        </p:spPr>
        <p:txBody>
          <a:bodyPr wrap="square" lIns="0" tIns="0" rIns="0" bIns="0" rtlCol="0" anchor="ctr"/>
          <a:lstStyle/>
          <a:p>
            <a:pPr algn="ctr" indent="0" marL="0">
              <a:buNone/>
            </a:pPr>
            <a:r>
              <a:rPr lang="en-US" sz="2800" b="1" dirty="0">
                <a:solidFill>
                  <a:schemeClr val="bg1"/>
                </a:solidFill>
                <a:latin typeface="Cambria" pitchFamily="34" charset="0"/>
                <a:ea typeface="Cambria" pitchFamily="34" charset="-122"/>
                <a:cs typeface="Cambria" pitchFamily="34" charset="-120"/>
              </a:rPr>
              <a:t>1</a:t>
            </a:r>
            <a:endParaRPr lang="en-US" sz="2800" dirty="0"/>
          </a:p>
        </p:txBody>
      </p:sp>
      <p:sp>
        <p:nvSpPr>
          <p:cNvPr id="4" name="Text 0"/>
          <p:cNvSpPr/>
          <p:nvPr>
            <p:ph idx="100" type="title" hasCustomPrompt="1"/>
          </p:nvPr>
        </p:nvSpPr>
        <p:spPr>
          <a:xfrm>
            <a:off x="1463040" y="2514600"/>
            <a:ext cx="9601200" cy="109728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Technical approach</a:t>
            </a:r>
            <a:endParaRPr lang="en-US" sz="4000" dirty="0"/>
          </a:p>
        </p:txBody>
      </p:sp>
      <p:sp>
        <p:nvSpPr>
          <p:cNvPr id="5" name="Text 0"/>
          <p:cNvSpPr/>
          <p:nvPr>
            <p:ph idx="101" type="body" hasCustomPrompt="1"/>
          </p:nvPr>
        </p:nvSpPr>
        <p:spPr>
          <a:xfrm>
            <a:off x="1463040" y="3611880"/>
            <a:ext cx="9601200" cy="822960"/>
          </a:xfrm>
          <a:prstGeom prst="rect">
            <a:avLst/>
          </a:prstGeom>
          <a:noFill/>
          <a:ln/>
        </p:spPr>
        <p:txBody>
          <a:bodyPr wrap="square" lIns="0" tIns="0" rIns="0" bIns="0" rtlCol="0" anchor="t"/>
          <a:lstStyle/>
          <a:p>
            <a:pPr algn="l" indent="0" marL="0">
              <a:buNone/>
            </a:pPr>
            <a:r>
              <a:rPr lang="en-US" sz="1800" dirty="0">
                <a:solidFill>
                  <a:srgbClr val="C9D6E3"/>
                </a:solidFill>
              </a:rPr>
              <a:t>Data, architecture, alternatives compared and how each choice was validated</a:t>
            </a:r>
            <a:endParaRPr lang="en-US" sz="18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C9D6E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Datasets and split integrity</a:t>
            </a:r>
            <a:endParaRPr lang="en-US" sz="3200" dirty="0"/>
          </a:p>
        </p:txBody>
      </p:sp>
      <p:sp>
        <p:nvSpPr>
          <p:cNvPr id="3" name="rubric-chip"/>
          <p:cNvSpPr/>
          <p:nvPr/>
        </p:nvSpPr>
        <p:spPr>
          <a:xfrm>
            <a:off x="9921240" y="502920"/>
            <a:ext cx="173736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921240" y="502920"/>
            <a:ext cx="1737360" cy="411480"/>
          </a:xfrm>
          <a:prstGeom prst="rect">
            <a:avLst/>
          </a:prstGeom>
          <a:noFill/>
          <a:ln/>
        </p:spPr>
        <p:txBody>
          <a:bodyPr wrap="square" lIns="0" tIns="0" rIns="0" bIns="0" rtlCol="0" anchor="ctr"/>
          <a:lstStyle/>
          <a:p>
            <a:pPr algn="ctr" indent="0" marL="0">
              <a:buNone/>
            </a:pPr>
            <a:r>
              <a:rPr lang="en-US" sz="1200" b="1" dirty="0">
                <a:solidFill>
                  <a:schemeClr val="tx2"/>
                </a:solidFill>
              </a:rPr>
              <a:t>Rubric 1</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766560" cy="914400"/>
        </p:xfrm>
        <a:graphic>
          <a:graphicData uri="http://schemas.openxmlformats.org/drawingml/2006/table">
            <a:tbl>
              <a:tblPr/>
              <a:tblGrid>
                <a:gridCol w="1463040"/>
                <a:gridCol w="2377440"/>
                <a:gridCol w="1554480"/>
                <a:gridCol w="1371600"/>
              </a:tblGrid>
              <a:tr h="685800">
                <a:tc>
                  <a:txBody>
                    <a:bodyPr/>
                    <a:lstStyle/>
                    <a:p>
                      <a:pPr indent="0" marL="0">
                        <a:buNone/>
                      </a:pPr>
                      <a:r>
                        <a:rPr lang="en-US" sz="1300" b="1" dirty="0">
                          <a:solidFill>
                            <a:srgbClr val="FFFFFF"/>
                          </a:solidFill>
                        </a:rPr>
                        <a:t>Task</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1F3354"/>
                    </a:solidFill>
                  </a:tcPr>
                </a:tc>
                <a:tc>
                  <a:txBody>
                    <a:bodyPr/>
                    <a:lstStyle/>
                    <a:p>
                      <a:pPr indent="0" marL="0">
                        <a:buNone/>
                      </a:pPr>
                      <a:r>
                        <a:rPr lang="en-US" sz="1300" b="1" dirty="0">
                          <a:solidFill>
                            <a:srgbClr val="FFFFFF"/>
                          </a:solidFill>
                        </a:rPr>
                        <a:t>Dataset</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1F3354"/>
                    </a:solidFill>
                  </a:tcPr>
                </a:tc>
                <a:tc>
                  <a:txBody>
                    <a:bodyPr/>
                    <a:lstStyle/>
                    <a:p>
                      <a:pPr indent="0" marL="0">
                        <a:buNone/>
                      </a:pPr>
                      <a:r>
                        <a:rPr lang="en-US" sz="1300" b="1" dirty="0">
                          <a:solidFill>
                            <a:srgbClr val="FFFFFF"/>
                          </a:solidFill>
                        </a:rPr>
                        <a:t>Languages</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1F3354"/>
                    </a:solidFill>
                  </a:tcPr>
                </a:tc>
                <a:tc>
                  <a:txBody>
                    <a:bodyPr/>
                    <a:lstStyle/>
                    <a:p>
                      <a:pPr indent="0" marL="0">
                        <a:buNone/>
                      </a:pPr>
                      <a:r>
                        <a:rPr lang="en-US" sz="1300" b="1" dirty="0">
                          <a:solidFill>
                            <a:srgbClr val="FFFFFF"/>
                          </a:solidFill>
                        </a:rPr>
                        <a:t>Train / Val / Test</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1F3354"/>
                    </a:solidFill>
                  </a:tcPr>
                </a:tc>
              </a:tr>
              <a:tr h="685800">
                <a:tc>
                  <a:txBody>
                    <a:bodyPr/>
                    <a:lstStyle/>
                    <a:p>
                      <a:pPr indent="0" marL="0">
                        <a:buNone/>
                      </a:pPr>
                      <a:r>
                        <a:rPr lang="en-US" sz="1300" dirty="0">
                          <a:solidFill>
                            <a:srgbClr val="1B2433"/>
                          </a:solidFill>
                        </a:rPr>
                        <a:t>Sentiment (3 classes)</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UMSAB tweets (English, "hindi") + Hinglish YouTube comments</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en-Latn, hi-Latn</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5,854 / 1,121 / 2,213</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r>
              <a:tr h="685800">
                <a:tc>
                  <a:txBody>
                    <a:bodyPr/>
                    <a:lstStyle/>
                    <a:p>
                      <a:pPr indent="0" marL="0">
                        <a:buNone/>
                      </a:pPr>
                      <a:r>
                        <a:rPr lang="en-US" sz="1300" dirty="0">
                          <a:solidFill>
                            <a:srgbClr val="1B2433"/>
                          </a:solidFill>
                        </a:rPr>
                        <a:t>Emotion (6 labels)</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BRIGHTER (English, Hindi)</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en-Latn, hi-Deva</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4,622 / 880 / 3,769</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r>
              <a:tr h="685800">
                <a:tc>
                  <a:txBody>
                    <a:bodyPr/>
                    <a:lstStyle/>
                    <a:p>
                      <a:pPr indent="0" marL="0">
                        <a:buNone/>
                      </a:pPr>
                      <a:r>
                        <a:rPr lang="en-US" sz="1300" dirty="0">
                          <a:solidFill>
                            <a:srgbClr val="1B2433"/>
                          </a:solidFill>
                        </a:rPr>
                        <a:t>Stress language (binary)</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Dreaddit (Reddit posts)</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en-Latn</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2,391 / 425 / 715</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4206240"/>
            <a:ext cx="6766560" cy="640080"/>
          </a:xfrm>
          <a:prstGeom prst="rect">
            <a:avLst/>
          </a:prstGeom>
          <a:noFill/>
          <a:ln/>
        </p:spPr>
        <p:txBody>
          <a:bodyPr wrap="square" lIns="0" tIns="0" rIns="0" bIns="0" rtlCol="0" anchor="ctr"/>
          <a:lstStyle/>
          <a:p>
            <a:pPr indent="0" marL="0">
              <a:buNone/>
            </a:pPr>
            <a:r>
              <a:rPr lang="en-US" sz="1400" i="1" dirty="0">
                <a:solidFill>
                  <a:schemeClr val="accent5"/>
                </a:solidFill>
              </a:rPr>
              <a:t>Each task comes from a different dataset and population, so results are reported per task and per language.</a:t>
            </a:r>
            <a:endParaRPr lang="en-US" sz="1400" dirty="0"/>
          </a:p>
        </p:txBody>
      </p:sp>
      <p:sp>
        <p:nvSpPr>
          <p:cNvPr id="7" name="card"/>
          <p:cNvSpPr/>
          <p:nvPr/>
        </p:nvSpPr>
        <p:spPr>
          <a:xfrm>
            <a:off x="7680960" y="1325880"/>
            <a:ext cx="3977640" cy="4754880"/>
          </a:xfrm>
          <a:prstGeom prst="roundRect">
            <a:avLst>
              <a:gd name="adj" fmla="val 2759"/>
            </a:avLst>
          </a:prstGeom>
          <a:solidFill>
            <a:schemeClr val="bg2"/>
          </a:solidFill>
          <a:ln w="12700">
            <a:solidFill>
              <a:schemeClr val="bg2"/>
            </a:solidFill>
            <a:prstDash val="solid"/>
          </a:ln>
        </p:spPr>
      </p:sp>
      <p:sp>
        <p:nvSpPr>
          <p:cNvPr id="8" name="Text 5"/>
          <p:cNvSpPr txBox="1"/>
          <p:nvPr/>
        </p:nvSpPr>
        <p:spPr>
          <a:xfrm>
            <a:off x="7909560" y="1463040"/>
            <a:ext cx="3566160" cy="411480"/>
          </a:xfrm>
          <a:prstGeom prst="rect">
            <a:avLst/>
          </a:prstGeom>
          <a:noFill/>
          <a:ln/>
        </p:spPr>
        <p:txBody>
          <a:bodyPr wrap="square" lIns="0" tIns="0" rIns="0" bIns="0" rtlCol="0" anchor="ctr"/>
          <a:lstStyle/>
          <a:p>
            <a:pPr indent="0" marL="0">
              <a:buNone/>
            </a:pPr>
            <a:r>
              <a:rPr lang="en-US" sz="1800" b="1" dirty="0">
                <a:solidFill>
                  <a:schemeClr val="tx2"/>
                </a:solidFill>
              </a:rPr>
              <a:t>Integrity checks we added</a:t>
            </a:r>
            <a:endParaRPr lang="en-US" sz="1800" dirty="0"/>
          </a:p>
        </p:txBody>
      </p:sp>
      <p:sp>
        <p:nvSpPr>
          <p:cNvPr id="9" name="Text 6"/>
          <p:cNvSpPr txBox="1"/>
          <p:nvPr/>
        </p:nvSpPr>
        <p:spPr>
          <a:xfrm>
            <a:off x="7909560" y="1965960"/>
            <a:ext cx="3611880" cy="402336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Frozen splits: SHA-1 hash per text and a SHA-256 manifest; a check script confirms anyone gets the same splits.</a:t>
            </a:r>
            <a:endParaRPr lang="en-US" sz="1400" dirty="0"/>
          </a:p>
          <a:p>
            <a:pPr marL="228600" indent="-228600">
              <a:spcAft>
                <a:spcPts val="800"/>
              </a:spcAft>
              <a:buSzPct val="100000"/>
              <a:buChar char="•"/>
            </a:pPr>
            <a:r>
              <a:rPr lang="en-US" sz="1400" dirty="0">
                <a:solidFill>
                  <a:schemeClr val="tx1"/>
                </a:solidFill>
              </a:rPr>
              <a:t>Exact and near-duplicate removal across train, validation and test.</a:t>
            </a:r>
            <a:endParaRPr lang="en-US" sz="1400" dirty="0"/>
          </a:p>
          <a:p>
            <a:pPr marL="228600" indent="-228600">
              <a:spcAft>
                <a:spcPts val="800"/>
              </a:spcAft>
              <a:buSzPct val="100000"/>
              <a:buChar char="•"/>
            </a:pPr>
            <a:r>
              <a:rPr lang="en-US" sz="1400" dirty="0">
                <a:solidFill>
                  <a:schemeClr val="tx1"/>
                </a:solidFill>
              </a:rPr>
              <a:t>Group splits by Reddit post and YouTube video, so one thread never spans two splits.</a:t>
            </a:r>
            <a:endParaRPr lang="en-US" sz="1400" dirty="0"/>
          </a:p>
          <a:p>
            <a:pPr marL="228600" indent="-228600">
              <a:spcAft>
                <a:spcPts val="800"/>
              </a:spcAft>
              <a:buSzPct val="100000"/>
              <a:buChar char="•"/>
            </a:pPr>
            <a:r>
              <a:rPr lang="en-US" sz="1400" dirty="0">
                <a:solidFill>
                  <a:schemeClr val="tx1"/>
                </a:solidFill>
              </a:rPr>
              <a:t>Fixed a dedup bug that wrongly removed 4,002 Hindi texts (Devanagari vowel signs were being stripped).</a:t>
            </a:r>
            <a:endParaRPr lang="en-US" sz="14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System architecture</a:t>
            </a:r>
            <a:endParaRPr lang="en-US" sz="3200" dirty="0"/>
          </a:p>
        </p:txBody>
      </p:sp>
      <p:sp>
        <p:nvSpPr>
          <p:cNvPr id="3" name="rubric-chip"/>
          <p:cNvSpPr/>
          <p:nvPr/>
        </p:nvSpPr>
        <p:spPr>
          <a:xfrm>
            <a:off x="9921240" y="502920"/>
            <a:ext cx="173736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921240" y="502920"/>
            <a:ext cx="1737360" cy="411480"/>
          </a:xfrm>
          <a:prstGeom prst="rect">
            <a:avLst/>
          </a:prstGeom>
          <a:noFill/>
          <a:ln/>
        </p:spPr>
        <p:txBody>
          <a:bodyPr wrap="square" lIns="0" tIns="0" rIns="0" bIns="0" rtlCol="0" anchor="ctr"/>
          <a:lstStyle/>
          <a:p>
            <a:pPr algn="ctr" indent="0" marL="0">
              <a:buNone/>
            </a:pPr>
            <a:r>
              <a:rPr lang="en-US" sz="1200" b="1" dirty="0">
                <a:solidFill>
                  <a:schemeClr val="tx2"/>
                </a:solidFill>
              </a:rPr>
              <a:t>Rubric 1</a:t>
            </a:r>
            <a:endParaRPr lang="en-US" sz="1200" dirty="0"/>
          </a:p>
        </p:txBody>
      </p:sp>
      <p:sp>
        <p:nvSpPr>
          <p:cNvPr id="5" name="arch-Input text"/>
          <p:cNvSpPr/>
          <p:nvPr/>
        </p:nvSpPr>
        <p:spPr>
          <a:xfrm>
            <a:off x="548640" y="1417320"/>
            <a:ext cx="2468880" cy="960120"/>
          </a:xfrm>
          <a:prstGeom prst="roundRect">
            <a:avLst>
              <a:gd name="adj" fmla="val 9524"/>
            </a:avLst>
          </a:prstGeom>
          <a:solidFill>
            <a:srgbClr val="6B7C8F"/>
          </a:solidFill>
          <a:ln w="12700">
            <a:solidFill>
              <a:srgbClr val="6B7C8F"/>
            </a:solidFill>
            <a:prstDash val="solid"/>
          </a:ln>
        </p:spPr>
      </p:sp>
      <p:sp>
        <p:nvSpPr>
          <p:cNvPr id="6" name="Text 4"/>
          <p:cNvSpPr txBox="1"/>
          <p:nvPr/>
        </p:nvSpPr>
        <p:spPr>
          <a:xfrm>
            <a:off x="548640" y="1417320"/>
            <a:ext cx="2468880" cy="96012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Input text</a:t>
            </a:r>
            <a:endParaRPr lang="en-US" sz="1400" dirty="0"/>
          </a:p>
          <a:p>
            <a:pPr algn="ctr" indent="0" marL="0">
              <a:buNone/>
            </a:pPr>
            <a:r>
              <a:rPr lang="en-US" sz="1200" dirty="0">
                <a:solidFill>
                  <a:srgbClr val="FFFFFF"/>
                </a:solidFill>
              </a:rPr>
              <a:t>web UI, API, CSV</a:t>
            </a:r>
            <a:endParaRPr lang="en-US" sz="1400" dirty="0"/>
          </a:p>
        </p:txBody>
      </p:sp>
      <p:sp>
        <p:nvSpPr>
          <p:cNvPr id="7" name="Shape 5"/>
          <p:cNvSpPr/>
          <p:nvPr/>
        </p:nvSpPr>
        <p:spPr>
          <a:xfrm>
            <a:off x="3017520" y="1897380"/>
            <a:ext cx="365760" cy="0"/>
          </a:xfrm>
          <a:prstGeom prst="line">
            <a:avLst/>
          </a:prstGeom>
          <a:noFill/>
          <a:ln w="19050">
            <a:solidFill>
              <a:srgbClr val="6B7C8F"/>
            </a:solidFill>
            <a:prstDash val="solid"/>
            <a:tailEnd type="triangle"/>
          </a:ln>
        </p:spPr>
      </p:sp>
      <p:sp>
        <p:nvSpPr>
          <p:cNvPr id="8" name="arch-Privacy masking"/>
          <p:cNvSpPr/>
          <p:nvPr/>
        </p:nvSpPr>
        <p:spPr>
          <a:xfrm>
            <a:off x="3383280" y="1417320"/>
            <a:ext cx="2468880" cy="960120"/>
          </a:xfrm>
          <a:prstGeom prst="roundRect">
            <a:avLst>
              <a:gd name="adj" fmla="val 9524"/>
            </a:avLst>
          </a:prstGeom>
          <a:solidFill>
            <a:srgbClr val="1F3354"/>
          </a:solidFill>
          <a:ln w="12700">
            <a:solidFill>
              <a:srgbClr val="1F3354"/>
            </a:solidFill>
            <a:prstDash val="solid"/>
          </a:ln>
        </p:spPr>
      </p:sp>
      <p:sp>
        <p:nvSpPr>
          <p:cNvPr id="9" name="Text 7"/>
          <p:cNvSpPr txBox="1"/>
          <p:nvPr/>
        </p:nvSpPr>
        <p:spPr>
          <a:xfrm>
            <a:off x="3383280" y="1417320"/>
            <a:ext cx="2468880" cy="96012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Privacy masking</a:t>
            </a:r>
            <a:endParaRPr lang="en-US" sz="1400" dirty="0"/>
          </a:p>
          <a:p>
            <a:pPr algn="ctr" indent="0" marL="0">
              <a:buNone/>
            </a:pPr>
            <a:r>
              <a:rPr lang="en-US" sz="1200" dirty="0">
                <a:solidFill>
                  <a:srgbClr val="FFFFFF"/>
                </a:solidFill>
              </a:rPr>
              <a:t>emails, phones, URLs, @mentions</a:t>
            </a:r>
            <a:endParaRPr lang="en-US" sz="1400" dirty="0"/>
          </a:p>
        </p:txBody>
      </p:sp>
      <p:sp>
        <p:nvSpPr>
          <p:cNvPr id="10" name="Shape 8"/>
          <p:cNvSpPr/>
          <p:nvPr/>
        </p:nvSpPr>
        <p:spPr>
          <a:xfrm>
            <a:off x="5852160" y="1897380"/>
            <a:ext cx="365760" cy="0"/>
          </a:xfrm>
          <a:prstGeom prst="line">
            <a:avLst/>
          </a:prstGeom>
          <a:noFill/>
          <a:ln w="19050">
            <a:solidFill>
              <a:srgbClr val="6B7C8F"/>
            </a:solidFill>
            <a:prstDash val="solid"/>
            <a:tailEnd type="triangle"/>
          </a:ln>
        </p:spPr>
      </p:sp>
      <p:sp>
        <p:nvSpPr>
          <p:cNvPr id="11" name="arch-Language + script ID"/>
          <p:cNvSpPr/>
          <p:nvPr/>
        </p:nvSpPr>
        <p:spPr>
          <a:xfrm>
            <a:off x="6217920" y="1417320"/>
            <a:ext cx="2468880" cy="960120"/>
          </a:xfrm>
          <a:prstGeom prst="roundRect">
            <a:avLst>
              <a:gd name="adj" fmla="val 9524"/>
            </a:avLst>
          </a:prstGeom>
          <a:solidFill>
            <a:srgbClr val="1F3354"/>
          </a:solidFill>
          <a:ln w="12700">
            <a:solidFill>
              <a:srgbClr val="1F3354"/>
            </a:solidFill>
            <a:prstDash val="solid"/>
          </a:ln>
        </p:spPr>
      </p:sp>
      <p:sp>
        <p:nvSpPr>
          <p:cNvPr id="12" name="Text 10"/>
          <p:cNvSpPr txBox="1"/>
          <p:nvPr/>
        </p:nvSpPr>
        <p:spPr>
          <a:xfrm>
            <a:off x="6217920" y="1417320"/>
            <a:ext cx="2468880" cy="96012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Language + script ID</a:t>
            </a:r>
            <a:endParaRPr lang="en-US" sz="1400" dirty="0"/>
          </a:p>
          <a:p>
            <a:pPr algn="ctr" indent="0" marL="0">
              <a:buNone/>
            </a:pPr>
            <a:r>
              <a:rPr lang="en-US" sz="1200" dirty="0">
                <a:solidFill>
                  <a:srgbClr val="FFFFFF"/>
                </a:solidFill>
              </a:rPr>
              <a:t>char n-gram + lingua</a:t>
            </a:r>
            <a:endParaRPr lang="en-US" sz="1400" dirty="0"/>
          </a:p>
        </p:txBody>
      </p:sp>
      <p:sp>
        <p:nvSpPr>
          <p:cNvPr id="13" name="Shape 11"/>
          <p:cNvSpPr/>
          <p:nvPr/>
        </p:nvSpPr>
        <p:spPr>
          <a:xfrm>
            <a:off x="8686800" y="1897380"/>
            <a:ext cx="365760" cy="0"/>
          </a:xfrm>
          <a:prstGeom prst="line">
            <a:avLst/>
          </a:prstGeom>
          <a:noFill/>
          <a:ln w="19050">
            <a:solidFill>
              <a:srgbClr val="6B7C8F"/>
            </a:solidFill>
            <a:prstDash val="solid"/>
            <a:tailEnd type="triangle"/>
          </a:ln>
        </p:spPr>
      </p:sp>
      <p:sp>
        <p:nvSpPr>
          <p:cNvPr id="14" name="arch-Tokenizer"/>
          <p:cNvSpPr/>
          <p:nvPr/>
        </p:nvSpPr>
        <p:spPr>
          <a:xfrm>
            <a:off x="9052560" y="1417320"/>
            <a:ext cx="2468880" cy="960120"/>
          </a:xfrm>
          <a:prstGeom prst="roundRect">
            <a:avLst>
              <a:gd name="adj" fmla="val 9524"/>
            </a:avLst>
          </a:prstGeom>
          <a:solidFill>
            <a:srgbClr val="1F3354"/>
          </a:solidFill>
          <a:ln w="12700">
            <a:solidFill>
              <a:srgbClr val="1F3354"/>
            </a:solidFill>
            <a:prstDash val="solid"/>
          </a:ln>
        </p:spPr>
      </p:sp>
      <p:sp>
        <p:nvSpPr>
          <p:cNvPr id="15" name="Text 13"/>
          <p:cNvSpPr txBox="1"/>
          <p:nvPr/>
        </p:nvSpPr>
        <p:spPr>
          <a:xfrm>
            <a:off x="9052560" y="1417320"/>
            <a:ext cx="2468880" cy="96012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Tokenizer</a:t>
            </a:r>
            <a:endParaRPr lang="en-US" sz="1400" dirty="0"/>
          </a:p>
          <a:p>
            <a:pPr algn="ctr" indent="0" marL="0">
              <a:buNone/>
            </a:pPr>
            <a:r>
              <a:rPr lang="en-US" sz="1200" dirty="0">
                <a:solidFill>
                  <a:srgbClr val="FFFFFF"/>
                </a:solidFill>
              </a:rPr>
              <a:t>max 128 tokens</a:t>
            </a:r>
            <a:endParaRPr lang="en-US" sz="1400" dirty="0"/>
          </a:p>
        </p:txBody>
      </p:sp>
      <p:sp>
        <p:nvSpPr>
          <p:cNvPr id="16" name="Shape 14"/>
          <p:cNvSpPr/>
          <p:nvPr/>
        </p:nvSpPr>
        <p:spPr>
          <a:xfrm>
            <a:off x="10241280" y="2377440"/>
            <a:ext cx="0" cy="365760"/>
          </a:xfrm>
          <a:prstGeom prst="line">
            <a:avLst/>
          </a:prstGeom>
          <a:noFill/>
          <a:ln w="19050">
            <a:solidFill>
              <a:srgbClr val="6B7C8F"/>
            </a:solidFill>
            <a:prstDash val="solid"/>
            <a:tailEnd type="triangle"/>
          </a:ln>
        </p:spPr>
      </p:sp>
      <p:sp>
        <p:nvSpPr>
          <p:cNvPr id="17" name="arch-MuRIL encoder (238 M parameters)"/>
          <p:cNvSpPr/>
          <p:nvPr/>
        </p:nvSpPr>
        <p:spPr>
          <a:xfrm>
            <a:off x="5577840" y="2743200"/>
            <a:ext cx="6035040" cy="868680"/>
          </a:xfrm>
          <a:prstGeom prst="roundRect">
            <a:avLst>
              <a:gd name="adj" fmla="val 10526"/>
            </a:avLst>
          </a:prstGeom>
          <a:solidFill>
            <a:srgbClr val="4F63D2"/>
          </a:solidFill>
          <a:ln w="12700">
            <a:solidFill>
              <a:srgbClr val="4F63D2"/>
            </a:solidFill>
            <a:prstDash val="solid"/>
          </a:ln>
        </p:spPr>
      </p:sp>
      <p:sp>
        <p:nvSpPr>
          <p:cNvPr id="18" name="Text 16"/>
          <p:cNvSpPr txBox="1"/>
          <p:nvPr/>
        </p:nvSpPr>
        <p:spPr>
          <a:xfrm>
            <a:off x="5577840" y="2743200"/>
            <a:ext cx="6035040" cy="86868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MuRIL encoder (238 M parameters)</a:t>
            </a:r>
            <a:endParaRPr lang="en-US" sz="1400" dirty="0"/>
          </a:p>
          <a:p>
            <a:pPr algn="ctr" indent="0" marL="0">
              <a:buNone/>
            </a:pPr>
            <a:r>
              <a:rPr lang="en-US" sz="1200" dirty="0">
                <a:solidFill>
                  <a:srgbClr val="FFFFFF"/>
                </a:solidFill>
              </a:rPr>
              <a:t>mean + max pooling, shared dense layer</a:t>
            </a:r>
            <a:endParaRPr lang="en-US" sz="1400" dirty="0"/>
          </a:p>
        </p:txBody>
      </p:sp>
      <p:sp>
        <p:nvSpPr>
          <p:cNvPr id="19" name="arch-Sentiment head"/>
          <p:cNvSpPr/>
          <p:nvPr/>
        </p:nvSpPr>
        <p:spPr>
          <a:xfrm>
            <a:off x="5577840" y="3977640"/>
            <a:ext cx="1920240" cy="868680"/>
          </a:xfrm>
          <a:prstGeom prst="roundRect">
            <a:avLst>
              <a:gd name="adj" fmla="val 10526"/>
            </a:avLst>
          </a:prstGeom>
          <a:solidFill>
            <a:srgbClr val="2A9D8F"/>
          </a:solidFill>
          <a:ln w="12700">
            <a:solidFill>
              <a:srgbClr val="2A9D8F"/>
            </a:solidFill>
            <a:prstDash val="solid"/>
          </a:ln>
        </p:spPr>
      </p:sp>
      <p:sp>
        <p:nvSpPr>
          <p:cNvPr id="20" name="Text 18"/>
          <p:cNvSpPr txBox="1"/>
          <p:nvPr/>
        </p:nvSpPr>
        <p:spPr>
          <a:xfrm>
            <a:off x="5577840" y="3977640"/>
            <a:ext cx="1920240" cy="86868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Sentiment head</a:t>
            </a:r>
            <a:endParaRPr lang="en-US" sz="1400" dirty="0"/>
          </a:p>
          <a:p>
            <a:pPr algn="ctr" indent="0" marL="0">
              <a:buNone/>
            </a:pPr>
            <a:r>
              <a:rPr lang="en-US" sz="1200" dirty="0">
                <a:solidFill>
                  <a:srgbClr val="FFFFFF"/>
                </a:solidFill>
              </a:rPr>
              <a:t>3 classes, cross-entropy</a:t>
            </a:r>
            <a:endParaRPr lang="en-US" sz="1400" dirty="0"/>
          </a:p>
        </p:txBody>
      </p:sp>
      <p:sp>
        <p:nvSpPr>
          <p:cNvPr id="21" name="Shape 19"/>
          <p:cNvSpPr/>
          <p:nvPr/>
        </p:nvSpPr>
        <p:spPr>
          <a:xfrm>
            <a:off x="6537960" y="3611880"/>
            <a:ext cx="0" cy="365760"/>
          </a:xfrm>
          <a:prstGeom prst="line">
            <a:avLst/>
          </a:prstGeom>
          <a:noFill/>
          <a:ln w="19050">
            <a:solidFill>
              <a:srgbClr val="6B7C8F"/>
            </a:solidFill>
            <a:prstDash val="solid"/>
            <a:tailEnd type="triangle"/>
          </a:ln>
        </p:spPr>
      </p:sp>
      <p:sp>
        <p:nvSpPr>
          <p:cNvPr id="22" name="arch-Emotion head"/>
          <p:cNvSpPr/>
          <p:nvPr/>
        </p:nvSpPr>
        <p:spPr>
          <a:xfrm>
            <a:off x="7635240" y="3977640"/>
            <a:ext cx="1920240" cy="868680"/>
          </a:xfrm>
          <a:prstGeom prst="roundRect">
            <a:avLst>
              <a:gd name="adj" fmla="val 10526"/>
            </a:avLst>
          </a:prstGeom>
          <a:solidFill>
            <a:srgbClr val="2A9D8F"/>
          </a:solidFill>
          <a:ln w="12700">
            <a:solidFill>
              <a:srgbClr val="2A9D8F"/>
            </a:solidFill>
            <a:prstDash val="solid"/>
          </a:ln>
        </p:spPr>
      </p:sp>
      <p:sp>
        <p:nvSpPr>
          <p:cNvPr id="23" name="Text 21"/>
          <p:cNvSpPr txBox="1"/>
          <p:nvPr/>
        </p:nvSpPr>
        <p:spPr>
          <a:xfrm>
            <a:off x="7635240" y="3977640"/>
            <a:ext cx="1920240" cy="86868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Emotion head</a:t>
            </a:r>
            <a:endParaRPr lang="en-US" sz="1400" dirty="0"/>
          </a:p>
          <a:p>
            <a:pPr algn="ctr" indent="0" marL="0">
              <a:buNone/>
            </a:pPr>
            <a:r>
              <a:rPr lang="en-US" sz="1200" dirty="0">
                <a:solidFill>
                  <a:srgbClr val="FFFFFF"/>
                </a:solidFill>
              </a:rPr>
              <a:t>6 labels, masked BCE</a:t>
            </a:r>
            <a:endParaRPr lang="en-US" sz="1400" dirty="0"/>
          </a:p>
        </p:txBody>
      </p:sp>
      <p:sp>
        <p:nvSpPr>
          <p:cNvPr id="24" name="Shape 22"/>
          <p:cNvSpPr/>
          <p:nvPr/>
        </p:nvSpPr>
        <p:spPr>
          <a:xfrm>
            <a:off x="8595360" y="3611880"/>
            <a:ext cx="0" cy="365760"/>
          </a:xfrm>
          <a:prstGeom prst="line">
            <a:avLst/>
          </a:prstGeom>
          <a:noFill/>
          <a:ln w="19050">
            <a:solidFill>
              <a:srgbClr val="6B7C8F"/>
            </a:solidFill>
            <a:prstDash val="solid"/>
            <a:tailEnd type="triangle"/>
          </a:ln>
        </p:spPr>
      </p:sp>
      <p:sp>
        <p:nvSpPr>
          <p:cNvPr id="25" name="arch-Stress head"/>
          <p:cNvSpPr/>
          <p:nvPr/>
        </p:nvSpPr>
        <p:spPr>
          <a:xfrm>
            <a:off x="9692640" y="3977640"/>
            <a:ext cx="1920240" cy="868680"/>
          </a:xfrm>
          <a:prstGeom prst="roundRect">
            <a:avLst>
              <a:gd name="adj" fmla="val 10526"/>
            </a:avLst>
          </a:prstGeom>
          <a:solidFill>
            <a:srgbClr val="2A9D8F"/>
          </a:solidFill>
          <a:ln w="12700">
            <a:solidFill>
              <a:srgbClr val="2A9D8F"/>
            </a:solidFill>
            <a:prstDash val="solid"/>
          </a:ln>
        </p:spPr>
      </p:sp>
      <p:sp>
        <p:nvSpPr>
          <p:cNvPr id="26" name="Text 24"/>
          <p:cNvSpPr txBox="1"/>
          <p:nvPr/>
        </p:nvSpPr>
        <p:spPr>
          <a:xfrm>
            <a:off x="9692640" y="3977640"/>
            <a:ext cx="1920240" cy="86868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Stress head</a:t>
            </a:r>
            <a:endParaRPr lang="en-US" sz="1400" dirty="0"/>
          </a:p>
          <a:p>
            <a:pPr algn="ctr" indent="0" marL="0">
              <a:buNone/>
            </a:pPr>
            <a:r>
              <a:rPr lang="en-US" sz="1200" dirty="0">
                <a:solidFill>
                  <a:srgbClr val="FFFFFF"/>
                </a:solidFill>
              </a:rPr>
              <a:t>binary, cross-entropy</a:t>
            </a:r>
            <a:endParaRPr lang="en-US" sz="1400" dirty="0"/>
          </a:p>
        </p:txBody>
      </p:sp>
      <p:sp>
        <p:nvSpPr>
          <p:cNvPr id="27" name="Shape 25"/>
          <p:cNvSpPr/>
          <p:nvPr/>
        </p:nvSpPr>
        <p:spPr>
          <a:xfrm>
            <a:off x="10652760" y="3611880"/>
            <a:ext cx="0" cy="365760"/>
          </a:xfrm>
          <a:prstGeom prst="line">
            <a:avLst/>
          </a:prstGeom>
          <a:noFill/>
          <a:ln w="19050">
            <a:solidFill>
              <a:srgbClr val="6B7C8F"/>
            </a:solidFill>
            <a:prstDash val="solid"/>
            <a:tailEnd type="triangle"/>
          </a:ln>
        </p:spPr>
      </p:sp>
      <p:sp>
        <p:nvSpPr>
          <p:cNvPr id="28" name="Shape 26"/>
          <p:cNvSpPr/>
          <p:nvPr/>
        </p:nvSpPr>
        <p:spPr>
          <a:xfrm>
            <a:off x="8595360" y="4846320"/>
            <a:ext cx="0" cy="320040"/>
          </a:xfrm>
          <a:prstGeom prst="line">
            <a:avLst/>
          </a:prstGeom>
          <a:noFill/>
          <a:ln w="19050">
            <a:solidFill>
              <a:srgbClr val="6B7C8F"/>
            </a:solidFill>
            <a:prstDash val="solid"/>
            <a:tailEnd type="triangle"/>
          </a:ln>
        </p:spPr>
      </p:sp>
      <p:sp>
        <p:nvSpPr>
          <p:cNvPr id="29" name="arch-Temperature scaling"/>
          <p:cNvSpPr/>
          <p:nvPr/>
        </p:nvSpPr>
        <p:spPr>
          <a:xfrm>
            <a:off x="5577840" y="5166360"/>
            <a:ext cx="2926080" cy="868680"/>
          </a:xfrm>
          <a:prstGeom prst="roundRect">
            <a:avLst>
              <a:gd name="adj" fmla="val 10526"/>
            </a:avLst>
          </a:prstGeom>
          <a:solidFill>
            <a:srgbClr val="E39B2D"/>
          </a:solidFill>
          <a:ln w="12700">
            <a:solidFill>
              <a:srgbClr val="E39B2D"/>
            </a:solidFill>
            <a:prstDash val="solid"/>
          </a:ln>
        </p:spPr>
      </p:sp>
      <p:sp>
        <p:nvSpPr>
          <p:cNvPr id="30" name="Text 28"/>
          <p:cNvSpPr txBox="1"/>
          <p:nvPr/>
        </p:nvSpPr>
        <p:spPr>
          <a:xfrm>
            <a:off x="5577840" y="5166360"/>
            <a:ext cx="2926080" cy="868680"/>
          </a:xfrm>
          <a:prstGeom prst="rect">
            <a:avLst/>
          </a:prstGeom>
          <a:noFill/>
          <a:ln/>
        </p:spPr>
        <p:txBody>
          <a:bodyPr wrap="square" lIns="50800" tIns="50800" rIns="50800" bIns="50800" rtlCol="0" anchor="ctr"/>
          <a:lstStyle/>
          <a:p>
            <a:pPr algn="ctr" indent="0" marL="0">
              <a:buNone/>
            </a:pPr>
            <a:r>
              <a:rPr lang="en-US" sz="1400" b="1" dirty="0">
                <a:solidFill>
                  <a:srgbClr val="1B2433"/>
                </a:solidFill>
              </a:rPr>
              <a:t>Temperature scaling</a:t>
            </a:r>
            <a:endParaRPr lang="en-US" sz="1400" dirty="0"/>
          </a:p>
          <a:p>
            <a:pPr algn="ctr" indent="0" marL="0">
              <a:buNone/>
            </a:pPr>
            <a:r>
              <a:rPr lang="en-US" sz="1200" dirty="0">
                <a:solidFill>
                  <a:srgbClr val="1B2433"/>
                </a:solidFill>
              </a:rPr>
              <a:t>fit on validation</a:t>
            </a:r>
            <a:endParaRPr lang="en-US" sz="1400" dirty="0"/>
          </a:p>
        </p:txBody>
      </p:sp>
      <p:sp>
        <p:nvSpPr>
          <p:cNvPr id="31" name="arch-Safety layer + IG"/>
          <p:cNvSpPr/>
          <p:nvPr/>
        </p:nvSpPr>
        <p:spPr>
          <a:xfrm>
            <a:off x="8686800" y="5166360"/>
            <a:ext cx="2926080" cy="868680"/>
          </a:xfrm>
          <a:prstGeom prst="roundRect">
            <a:avLst>
              <a:gd name="adj" fmla="val 10526"/>
            </a:avLst>
          </a:prstGeom>
          <a:solidFill>
            <a:srgbClr val="E39B2D"/>
          </a:solidFill>
          <a:ln w="12700">
            <a:solidFill>
              <a:srgbClr val="E39B2D"/>
            </a:solidFill>
            <a:prstDash val="solid"/>
          </a:ln>
        </p:spPr>
      </p:sp>
      <p:sp>
        <p:nvSpPr>
          <p:cNvPr id="32" name="Text 30"/>
          <p:cNvSpPr txBox="1"/>
          <p:nvPr/>
        </p:nvSpPr>
        <p:spPr>
          <a:xfrm>
            <a:off x="8686800" y="5166360"/>
            <a:ext cx="2926080" cy="868680"/>
          </a:xfrm>
          <a:prstGeom prst="rect">
            <a:avLst/>
          </a:prstGeom>
          <a:noFill/>
          <a:ln/>
        </p:spPr>
        <p:txBody>
          <a:bodyPr wrap="square" lIns="50800" tIns="50800" rIns="50800" bIns="50800" rtlCol="0" anchor="ctr"/>
          <a:lstStyle/>
          <a:p>
            <a:pPr algn="ctr" indent="0" marL="0">
              <a:buNone/>
            </a:pPr>
            <a:r>
              <a:rPr lang="en-US" sz="1400" b="1" dirty="0">
                <a:solidFill>
                  <a:srgbClr val="1B2433"/>
                </a:solidFill>
              </a:rPr>
              <a:t>Safety layer + IG</a:t>
            </a:r>
            <a:endParaRPr lang="en-US" sz="1400" dirty="0"/>
          </a:p>
          <a:p>
            <a:pPr algn="ctr" indent="0" marL="0">
              <a:buNone/>
            </a:pPr>
            <a:r>
              <a:rPr lang="en-US" sz="1200" dirty="0">
                <a:solidFill>
                  <a:srgbClr val="1B2433"/>
                </a:solidFill>
              </a:rPr>
              <a:t>notices, explanations</a:t>
            </a:r>
            <a:endParaRPr lang="en-US" sz="1400" dirty="0"/>
          </a:p>
        </p:txBody>
      </p:sp>
      <p:sp>
        <p:nvSpPr>
          <p:cNvPr id="33" name="card"/>
          <p:cNvSpPr/>
          <p:nvPr/>
        </p:nvSpPr>
        <p:spPr>
          <a:xfrm>
            <a:off x="548640" y="2743200"/>
            <a:ext cx="4663440" cy="3291840"/>
          </a:xfrm>
          <a:prstGeom prst="roundRect">
            <a:avLst>
              <a:gd name="adj" fmla="val 3333"/>
            </a:avLst>
          </a:prstGeom>
          <a:solidFill>
            <a:schemeClr val="bg2"/>
          </a:solidFill>
          <a:ln w="12700">
            <a:solidFill>
              <a:schemeClr val="bg2"/>
            </a:solidFill>
            <a:prstDash val="solid"/>
          </a:ln>
        </p:spPr>
      </p:sp>
      <p:sp>
        <p:nvSpPr>
          <p:cNvPr id="34" name="Text 32"/>
          <p:cNvSpPr txBox="1"/>
          <p:nvPr/>
        </p:nvSpPr>
        <p:spPr>
          <a:xfrm>
            <a:off x="777240" y="2852928"/>
            <a:ext cx="4206240" cy="365760"/>
          </a:xfrm>
          <a:prstGeom prst="rect">
            <a:avLst/>
          </a:prstGeom>
          <a:noFill/>
          <a:ln/>
        </p:spPr>
        <p:txBody>
          <a:bodyPr wrap="square" lIns="0" tIns="0" rIns="0" bIns="0" rtlCol="0" anchor="ctr"/>
          <a:lstStyle/>
          <a:p>
            <a:pPr indent="0" marL="0">
              <a:buNone/>
            </a:pPr>
            <a:r>
              <a:rPr lang="en-US" sz="1700" b="1" dirty="0">
                <a:solidFill>
                  <a:schemeClr val="tx2"/>
                </a:solidFill>
              </a:rPr>
              <a:t>Design choices</a:t>
            </a:r>
            <a:endParaRPr lang="en-US" sz="1700" dirty="0"/>
          </a:p>
        </p:txBody>
      </p:sp>
      <p:sp>
        <p:nvSpPr>
          <p:cNvPr id="35" name="Text 33"/>
          <p:cNvSpPr txBox="1"/>
          <p:nvPr/>
        </p:nvSpPr>
        <p:spPr>
          <a:xfrm>
            <a:off x="777240" y="3291840"/>
            <a:ext cx="4251960" cy="274320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One shared encoder, three task heads; single-task versions use the same code with one head.</a:t>
            </a:r>
            <a:endParaRPr lang="en-US" sz="1400" dirty="0"/>
          </a:p>
          <a:p>
            <a:pPr marL="228600" indent="-228600">
              <a:spcAft>
                <a:spcPts val="800"/>
              </a:spcAft>
              <a:buSzPct val="100000"/>
              <a:buChar char="•"/>
            </a:pPr>
            <a:r>
              <a:rPr lang="en-US" sz="1400" dirty="0">
                <a:solidFill>
                  <a:schemeClr val="tx1"/>
                </a:solidFill>
              </a:rPr>
              <a:t>Masked loss: English emotion data has no "disgust" label, so that label is skipped for English rows.</a:t>
            </a:r>
            <a:endParaRPr lang="en-US" sz="1400" dirty="0"/>
          </a:p>
          <a:p>
            <a:pPr marL="228600" indent="-228600">
              <a:spcAft>
                <a:spcPts val="800"/>
              </a:spcAft>
              <a:buSzPct val="100000"/>
              <a:buChar char="•"/>
            </a:pPr>
            <a:r>
              <a:rPr lang="en-US" sz="1400" dirty="0">
                <a:solidFill>
                  <a:schemeClr val="tx1"/>
                </a:solidFill>
              </a:rPr>
              <a:t>Outputs go to a FastAPI service and a 9-page web UI.</a:t>
            </a:r>
            <a:endParaRPr lang="en-US" sz="1400" dirty="0"/>
          </a:p>
          <a:p>
            <a:pPr marL="228600" indent="-228600">
              <a:spcAft>
                <a:spcPts val="800"/>
              </a:spcAft>
              <a:buSzPct val="100000"/>
              <a:buChar char="•"/>
            </a:pPr>
            <a:r>
              <a:rPr lang="en-US" sz="1400" dirty="0">
                <a:solidFill>
                  <a:schemeClr val="tx1"/>
                </a:solidFill>
              </a:rPr>
              <a:t>Two lighter models (TF-IDF + LogReg, BiLSTM) share the same API.</a:t>
            </a:r>
            <a:endParaRPr lang="en-US" sz="14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Alternatives compared and validation</a:t>
            </a:r>
            <a:endParaRPr lang="en-US" sz="3200" dirty="0"/>
          </a:p>
        </p:txBody>
      </p:sp>
      <p:sp>
        <p:nvSpPr>
          <p:cNvPr id="3" name="rubric-chip"/>
          <p:cNvSpPr/>
          <p:nvPr/>
        </p:nvSpPr>
        <p:spPr>
          <a:xfrm>
            <a:off x="9921240" y="502920"/>
            <a:ext cx="173736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921240" y="502920"/>
            <a:ext cx="1737360" cy="411480"/>
          </a:xfrm>
          <a:prstGeom prst="rect">
            <a:avLst/>
          </a:prstGeom>
          <a:noFill/>
          <a:ln/>
        </p:spPr>
        <p:txBody>
          <a:bodyPr wrap="square" lIns="0" tIns="0" rIns="0" bIns="0" rtlCol="0" anchor="ctr"/>
          <a:lstStyle/>
          <a:p>
            <a:pPr algn="ctr" indent="0" marL="0">
              <a:buNone/>
            </a:pPr>
            <a:r>
              <a:rPr lang="en-US" sz="1200" b="1" dirty="0">
                <a:solidFill>
                  <a:schemeClr val="tx2"/>
                </a:solidFill>
              </a:rPr>
              <a:t>Rubric 1</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675120" cy="914400"/>
        </p:xfrm>
        <a:graphic>
          <a:graphicData uri="http://schemas.openxmlformats.org/drawingml/2006/table">
            <a:tbl>
              <a:tblPr/>
              <a:tblGrid>
                <a:gridCol w="2377440"/>
                <a:gridCol w="2560320"/>
                <a:gridCol w="1737360"/>
              </a:tblGrid>
              <a:tr h="502920">
                <a:tc>
                  <a:txBody>
                    <a:bodyPr/>
                    <a:lstStyle/>
                    <a:p>
                      <a:pPr indent="0" marL="0">
                        <a:buNone/>
                      </a:pPr>
                      <a:r>
                        <a:rPr lang="en-US" sz="1300" b="1" dirty="0">
                          <a:solidFill>
                            <a:srgbClr val="FFFFFF"/>
                          </a:solidFill>
                        </a:rPr>
                        <a:t>Option</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1F3354"/>
                    </a:solidFill>
                  </a:tcPr>
                </a:tc>
                <a:tc>
                  <a:txBody>
                    <a:bodyPr/>
                    <a:lstStyle/>
                    <a:p>
                      <a:pPr indent="0" marL="0">
                        <a:buNone/>
                      </a:pPr>
                      <a:r>
                        <a:rPr lang="en-US" sz="1300" b="1" dirty="0">
                          <a:solidFill>
                            <a:srgbClr val="FFFFFF"/>
                          </a:solidFill>
                        </a:rPr>
                        <a:t>Why it was tried</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1F3354"/>
                    </a:solidFill>
                  </a:tcPr>
                </a:tc>
                <a:tc>
                  <a:txBody>
                    <a:bodyPr/>
                    <a:lstStyle/>
                    <a:p>
                      <a:pPr indent="0" marL="0">
                        <a:buNone/>
                      </a:pPr>
                      <a:r>
                        <a:rPr lang="en-US" sz="1300" b="1" dirty="0">
                          <a:solidFill>
                            <a:srgbClr val="FFFFFF"/>
                          </a:solidFill>
                        </a:rPr>
                        <a:t>Outcome</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1F3354"/>
                    </a:solidFill>
                  </a:tcPr>
                </a:tc>
              </a:tr>
              <a:tr h="502920">
                <a:tc>
                  <a:txBody>
                    <a:bodyPr/>
                    <a:lstStyle/>
                    <a:p>
                      <a:pPr indent="0" marL="0">
                        <a:buNone/>
                      </a:pPr>
                      <a:r>
                        <a:rPr lang="en-US" sz="1300" dirty="0">
                          <a:solidFill>
                            <a:srgbClr val="1B2433"/>
                          </a:solidFill>
                        </a:rPr>
                        <a:t>TF-IDF + logistic regression</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Fast, interpretable baseline</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Kept as baseline</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1B2433"/>
                          </a:solidFill>
                        </a:rPr>
                        <a:t>Multi-task BiLSTM</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Small neural model, no pre-training</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Kept as baseline</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r>
              <a:tr h="502920">
                <a:tc>
                  <a:txBody>
                    <a:bodyPr/>
                    <a:lstStyle/>
                    <a:p>
                      <a:pPr indent="0" marL="0">
                        <a:buNone/>
                      </a:pPr>
                      <a:r>
                        <a:rPr lang="en-US" sz="1300" dirty="0">
                          <a:solidFill>
                            <a:srgbClr val="1B2433"/>
                          </a:solidFill>
                        </a:rPr>
                        <a:t>Multi-task MuRIL</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Indian-language pre-training</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Served model in the app</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1B2433"/>
                          </a:solidFill>
                        </a:rPr>
                        <a:t>Single-task MuRIL</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Check whether sharing helps</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Better stress ranking</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r>
              <a:tr h="502920">
                <a:tc>
                  <a:txBody>
                    <a:bodyPr/>
                    <a:lstStyle/>
                    <a:p>
                      <a:pPr indent="0" marL="0">
                        <a:buNone/>
                      </a:pPr>
                      <a:r>
                        <a:rPr lang="en-US" sz="1300" dirty="0">
                          <a:solidFill>
                            <a:srgbClr val="1B2433"/>
                          </a:solidFill>
                        </a:rPr>
                        <a:t>HingRoBERTa (sentiment)</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Pre-trained on Roman-script Hinglish</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Best sentiment model</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1B2433"/>
                          </a:solidFill>
                        </a:rPr>
                        <a:t>256 tokens, head+tail input</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23.6% of stress posts exceed 128 tokens</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Rejected on validation</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r>
            </a:tbl>
          </a:graphicData>
        </a:graphic>
      </p:graphicFrame>
      <p:sp>
        <p:nvSpPr>
          <p:cNvPr id="6" name="card"/>
          <p:cNvSpPr/>
          <p:nvPr/>
        </p:nvSpPr>
        <p:spPr>
          <a:xfrm>
            <a:off x="7589520" y="1325880"/>
            <a:ext cx="4069080" cy="4754880"/>
          </a:xfrm>
          <a:prstGeom prst="roundRect">
            <a:avLst>
              <a:gd name="adj" fmla="val 2697"/>
            </a:avLst>
          </a:prstGeom>
          <a:solidFill>
            <a:schemeClr val="bg2"/>
          </a:solidFill>
          <a:ln w="12700">
            <a:solidFill>
              <a:schemeClr val="bg2"/>
            </a:solidFill>
            <a:prstDash val="solid"/>
          </a:ln>
        </p:spPr>
      </p:sp>
      <p:sp>
        <p:nvSpPr>
          <p:cNvPr id="7" name="Text 4"/>
          <p:cNvSpPr txBox="1"/>
          <p:nvPr/>
        </p:nvSpPr>
        <p:spPr>
          <a:xfrm>
            <a:off x="7818120" y="1463040"/>
            <a:ext cx="3657600" cy="411480"/>
          </a:xfrm>
          <a:prstGeom prst="rect">
            <a:avLst/>
          </a:prstGeom>
          <a:noFill/>
          <a:ln/>
        </p:spPr>
        <p:txBody>
          <a:bodyPr wrap="square" lIns="0" tIns="0" rIns="0" bIns="0" rtlCol="0" anchor="ctr"/>
          <a:lstStyle/>
          <a:p>
            <a:pPr indent="0" marL="0">
              <a:buNone/>
            </a:pPr>
            <a:r>
              <a:rPr lang="en-US" sz="1800" b="1" dirty="0">
                <a:solidFill>
                  <a:schemeClr val="tx2"/>
                </a:solidFill>
              </a:rPr>
              <a:t>Validation protocol</a:t>
            </a:r>
            <a:endParaRPr lang="en-US" sz="1800" dirty="0"/>
          </a:p>
        </p:txBody>
      </p:sp>
      <p:sp>
        <p:nvSpPr>
          <p:cNvPr id="8" name="Text 5"/>
          <p:cNvSpPr txBox="1"/>
          <p:nvPr/>
        </p:nvSpPr>
        <p:spPr>
          <a:xfrm>
            <a:off x="7818120" y="1965960"/>
            <a:ext cx="3657600" cy="402336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3 random seeds (13, 21, 42) per configuration; mean and s.d. reported.</a:t>
            </a:r>
            <a:endParaRPr lang="en-US" sz="1400" dirty="0"/>
          </a:p>
          <a:p>
            <a:pPr marL="228600" indent="-228600">
              <a:spcAft>
                <a:spcPts val="800"/>
              </a:spcAft>
              <a:buSzPct val="100000"/>
              <a:buChar char="•"/>
            </a:pPr>
            <a:r>
              <a:rPr lang="en-US" sz="1400" dirty="0">
                <a:solidFill>
                  <a:schemeClr val="tx1"/>
                </a:solidFill>
              </a:rPr>
              <a:t>Model selection on validation only. The test set is used once, for comparisons fixed in advance.</a:t>
            </a:r>
            <a:endParaRPr lang="en-US" sz="1400" dirty="0"/>
          </a:p>
          <a:p>
            <a:pPr marL="228600" indent="-228600">
              <a:spcAft>
                <a:spcPts val="800"/>
              </a:spcAft>
              <a:buSzPct val="100000"/>
              <a:buChar char="•"/>
            </a:pPr>
            <a:r>
              <a:rPr lang="en-US" sz="1400" dirty="0">
                <a:solidFill>
                  <a:schemeClr val="tx1"/>
                </a:solidFill>
              </a:rPr>
              <a:t>Paired bootstrap, 1,000 resamples, 95% confidence intervals.</a:t>
            </a:r>
            <a:endParaRPr lang="en-US" sz="1400" dirty="0"/>
          </a:p>
          <a:p>
            <a:pPr marL="228600" indent="-228600">
              <a:spcAft>
                <a:spcPts val="800"/>
              </a:spcAft>
              <a:buSzPct val="100000"/>
              <a:buChar char="•"/>
            </a:pPr>
            <a:r>
              <a:rPr lang="en-US" sz="1400" dirty="0">
                <a:solidFill>
                  <a:schemeClr val="tx1"/>
                </a:solidFill>
              </a:rPr>
              <a:t>Calibration checked with ECE and Brier score.</a:t>
            </a:r>
            <a:endParaRPr lang="en-US" sz="1400" dirty="0"/>
          </a:p>
          <a:p>
            <a:pPr marL="228600" indent="-228600">
              <a:spcAft>
                <a:spcPts val="800"/>
              </a:spcAft>
              <a:buSzPct val="100000"/>
              <a:buChar char="•"/>
            </a:pPr>
            <a:r>
              <a:rPr lang="en-US" sz="1400" dirty="0">
                <a:solidFill>
                  <a:schemeClr val="tx1"/>
                </a:solidFill>
              </a:rPr>
              <a:t>Original single run reproduced exactly with seed 13.</a:t>
            </a:r>
            <a:endParaRPr lang="en-US" sz="14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number"/>
          <p:cNvSpPr/>
          <p:nvPr/>
        </p:nvSpPr>
        <p:spPr>
          <a:xfrm>
            <a:off x="502920" y="2606040"/>
            <a:ext cx="777240" cy="777240"/>
          </a:xfrm>
          <a:prstGeom prst="ellipse">
            <a:avLst/>
          </a:prstGeom>
          <a:solidFill>
            <a:schemeClr val="accent1"/>
          </a:solidFill>
          <a:ln w="12700">
            <a:solidFill>
              <a:schemeClr val="accent1"/>
            </a:solidFill>
            <a:prstDash val="solid"/>
          </a:ln>
        </p:spPr>
      </p:sp>
      <p:sp>
        <p:nvSpPr>
          <p:cNvPr id="3" name="Text 1"/>
          <p:cNvSpPr txBox="1"/>
          <p:nvPr/>
        </p:nvSpPr>
        <p:spPr>
          <a:xfrm>
            <a:off x="502920" y="2606040"/>
            <a:ext cx="777240" cy="777240"/>
          </a:xfrm>
          <a:prstGeom prst="rect">
            <a:avLst/>
          </a:prstGeom>
          <a:noFill/>
          <a:ln/>
        </p:spPr>
        <p:txBody>
          <a:bodyPr wrap="square" lIns="0" tIns="0" rIns="0" bIns="0" rtlCol="0" anchor="ctr"/>
          <a:lstStyle/>
          <a:p>
            <a:pPr algn="ctr" indent="0" marL="0">
              <a:buNone/>
            </a:pPr>
            <a:r>
              <a:rPr lang="en-US" sz="2800" b="1" dirty="0">
                <a:solidFill>
                  <a:schemeClr val="bg1"/>
                </a:solidFill>
                <a:latin typeface="Cambria" pitchFamily="34" charset="0"/>
                <a:ea typeface="Cambria" pitchFamily="34" charset="-122"/>
                <a:cs typeface="Cambria" pitchFamily="34" charset="-120"/>
              </a:rPr>
              <a:t>2</a:t>
            </a:r>
            <a:endParaRPr lang="en-US" sz="2800" dirty="0"/>
          </a:p>
        </p:txBody>
      </p:sp>
      <p:sp>
        <p:nvSpPr>
          <p:cNvPr id="4" name="Text 0"/>
          <p:cNvSpPr/>
          <p:nvPr>
            <p:ph idx="100" type="title" hasCustomPrompt="1"/>
          </p:nvPr>
        </p:nvSpPr>
        <p:spPr>
          <a:xfrm>
            <a:off x="1463040" y="2514600"/>
            <a:ext cx="9601200" cy="109728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Implementation and live demo</a:t>
            </a:r>
            <a:endParaRPr lang="en-US" sz="4000" dirty="0"/>
          </a:p>
        </p:txBody>
      </p:sp>
      <p:sp>
        <p:nvSpPr>
          <p:cNvPr id="5" name="Text 0"/>
          <p:cNvSpPr/>
          <p:nvPr>
            <p:ph idx="101" type="body" hasCustomPrompt="1"/>
          </p:nvPr>
        </p:nvSpPr>
        <p:spPr>
          <a:xfrm>
            <a:off x="1463040" y="3611880"/>
            <a:ext cx="9601200" cy="822960"/>
          </a:xfrm>
          <a:prstGeom prst="rect">
            <a:avLst/>
          </a:prstGeom>
          <a:noFill/>
          <a:ln/>
        </p:spPr>
        <p:txBody>
          <a:bodyPr wrap="square" lIns="0" tIns="0" rIns="0" bIns="0" rtlCol="0" anchor="t"/>
          <a:lstStyle/>
          <a:p>
            <a:pPr algn="l" indent="0" marL="0">
              <a:buNone/>
            </a:pPr>
            <a:r>
              <a:rPr lang="en-US" sz="1800" dirty="0">
                <a:solidFill>
                  <a:srgbClr val="C9D6E3"/>
                </a:solidFill>
              </a:rPr>
              <a:t>What is built, and the working web application on real inputs</a:t>
            </a:r>
            <a:endParaRPr lang="en-US" sz="18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C9D6E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Implementation status</a:t>
            </a:r>
            <a:endParaRPr lang="en-US" sz="3200" dirty="0"/>
          </a:p>
        </p:txBody>
      </p:sp>
      <p:sp>
        <p:nvSpPr>
          <p:cNvPr id="3" name="rubric-chip"/>
          <p:cNvSpPr/>
          <p:nvPr/>
        </p:nvSpPr>
        <p:spPr>
          <a:xfrm>
            <a:off x="9921240" y="502920"/>
            <a:ext cx="173736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921240" y="502920"/>
            <a:ext cx="1737360" cy="411480"/>
          </a:xfrm>
          <a:prstGeom prst="rect">
            <a:avLst/>
          </a:prstGeom>
          <a:noFill/>
          <a:ln/>
        </p:spPr>
        <p:txBody>
          <a:bodyPr wrap="square" lIns="0" tIns="0" rIns="0" bIns="0" rtlCol="0" anchor="ctr"/>
          <a:lstStyle/>
          <a:p>
            <a:pPr algn="ctr" indent="0" marL="0">
              <a:buNone/>
            </a:pPr>
            <a:r>
              <a:rPr lang="en-US" sz="1200" b="1" dirty="0">
                <a:solidFill>
                  <a:schemeClr val="tx2"/>
                </a:solidFill>
              </a:rPr>
              <a:t>Rubric 2</a:t>
            </a:r>
            <a:endParaRPr lang="en-US" sz="1200" dirty="0"/>
          </a:p>
        </p:txBody>
      </p:sp>
      <p:sp>
        <p:nvSpPr>
          <p:cNvPr id="5" name="card"/>
          <p:cNvSpPr/>
          <p:nvPr/>
        </p:nvSpPr>
        <p:spPr>
          <a:xfrm>
            <a:off x="548640" y="1325880"/>
            <a:ext cx="3429000" cy="804672"/>
          </a:xfrm>
          <a:prstGeom prst="roundRect">
            <a:avLst>
              <a:gd name="adj" fmla="val 13636"/>
            </a:avLst>
          </a:prstGeom>
          <a:solidFill>
            <a:schemeClr val="bg2"/>
          </a:solidFill>
          <a:ln w="12700">
            <a:solidFill>
              <a:schemeClr val="bg2"/>
            </a:solidFill>
            <a:prstDash val="solid"/>
          </a:ln>
        </p:spPr>
      </p:sp>
      <p:sp>
        <p:nvSpPr>
          <p:cNvPr id="6" name="icon-dot"/>
          <p:cNvSpPr/>
          <p:nvPr/>
        </p:nvSpPr>
        <p:spPr>
          <a:xfrm>
            <a:off x="685800" y="1499616"/>
            <a:ext cx="457200" cy="457200"/>
          </a:xfrm>
          <a:prstGeom prst="ellipse">
            <a:avLst/>
          </a:prstGeom>
          <a:solidFill>
            <a:srgbClr val="3B7D5A"/>
          </a:solidFill>
          <a:ln w="12700">
            <a:solidFill>
              <a:srgbClr val="3B7D5A"/>
            </a:solidFill>
            <a:prstDash val="solid"/>
          </a:ln>
        </p:spPr>
      </p:sp>
      <p:pic>
        <p:nvPicPr>
          <p:cNvPr id="7" name="Image 0" descr="icon">    </p:cNvPr>
          <p:cNvPicPr>
            <a:picLocks noChangeAspect="1"/>
          </p:cNvPicPr>
          <p:nvPr/>
        </p:nvPicPr>
        <p:blipFill>
          <a:blip r:embed="rId1"/>
          <a:stretch>
            <a:fillRect/>
          </a:stretch>
        </p:blipFill>
        <p:spPr>
          <a:xfrm>
            <a:off x="800100" y="1613916"/>
            <a:ext cx="228600" cy="228600"/>
          </a:xfrm>
          <a:prstGeom prst="rect">
            <a:avLst/>
          </a:prstGeom>
        </p:spPr>
      </p:pic>
      <p:sp>
        <p:nvSpPr>
          <p:cNvPr id="8" name="Text 5"/>
          <p:cNvSpPr txBox="1"/>
          <p:nvPr/>
        </p:nvSpPr>
        <p:spPr>
          <a:xfrm>
            <a:off x="1261872" y="1325880"/>
            <a:ext cx="2651760" cy="804672"/>
          </a:xfrm>
          <a:prstGeom prst="rect">
            <a:avLst/>
          </a:prstGeom>
          <a:noFill/>
          <a:ln/>
        </p:spPr>
        <p:txBody>
          <a:bodyPr wrap="square" lIns="0" tIns="0" rIns="0" bIns="0" rtlCol="0" anchor="ctr"/>
          <a:lstStyle/>
          <a:p>
            <a:pPr indent="0" marL="0">
              <a:buNone/>
            </a:pPr>
            <a:r>
              <a:rPr lang="en-US" sz="1400" b="1" dirty="0">
                <a:solidFill>
                  <a:schemeClr val="tx1"/>
                </a:solidFill>
              </a:rPr>
              <a:t>Data pipeline</a:t>
            </a:r>
            <a:endParaRPr lang="en-US" sz="1400" dirty="0"/>
          </a:p>
          <a:p>
            <a:pPr indent="0" marL="0">
              <a:buNone/>
            </a:pPr>
            <a:r>
              <a:rPr lang="en-US" sz="1200" dirty="0">
                <a:solidFill>
                  <a:srgbClr val="6B7C8F"/>
                </a:solidFill>
              </a:rPr>
              <a:t>download, cleaning, dedup, frozen splits</a:t>
            </a:r>
            <a:endParaRPr lang="en-US" sz="1400" dirty="0"/>
          </a:p>
        </p:txBody>
      </p:sp>
      <p:sp>
        <p:nvSpPr>
          <p:cNvPr id="9" name="card"/>
          <p:cNvSpPr/>
          <p:nvPr/>
        </p:nvSpPr>
        <p:spPr>
          <a:xfrm>
            <a:off x="4160520" y="1325880"/>
            <a:ext cx="3429000" cy="804672"/>
          </a:xfrm>
          <a:prstGeom prst="roundRect">
            <a:avLst>
              <a:gd name="adj" fmla="val 13636"/>
            </a:avLst>
          </a:prstGeom>
          <a:solidFill>
            <a:schemeClr val="bg2"/>
          </a:solidFill>
          <a:ln w="12700">
            <a:solidFill>
              <a:schemeClr val="bg2"/>
            </a:solidFill>
            <a:prstDash val="solid"/>
          </a:ln>
        </p:spPr>
      </p:sp>
      <p:sp>
        <p:nvSpPr>
          <p:cNvPr id="10" name="icon-dot"/>
          <p:cNvSpPr/>
          <p:nvPr/>
        </p:nvSpPr>
        <p:spPr>
          <a:xfrm>
            <a:off x="4297680" y="1499616"/>
            <a:ext cx="457200" cy="457200"/>
          </a:xfrm>
          <a:prstGeom prst="ellipse">
            <a:avLst/>
          </a:prstGeom>
          <a:solidFill>
            <a:srgbClr val="3B7D5A"/>
          </a:solidFill>
          <a:ln w="12700">
            <a:solidFill>
              <a:srgbClr val="3B7D5A"/>
            </a:solidFill>
            <a:prstDash val="solid"/>
          </a:ln>
        </p:spPr>
      </p:sp>
      <p:pic>
        <p:nvPicPr>
          <p:cNvPr id="11" name="Image 1" descr="icon">    </p:cNvPr>
          <p:cNvPicPr>
            <a:picLocks noChangeAspect="1"/>
          </p:cNvPicPr>
          <p:nvPr/>
        </p:nvPicPr>
        <p:blipFill>
          <a:blip r:embed="rId2"/>
          <a:stretch>
            <a:fillRect/>
          </a:stretch>
        </p:blipFill>
        <p:spPr>
          <a:xfrm>
            <a:off x="4411980" y="1613916"/>
            <a:ext cx="228600" cy="228600"/>
          </a:xfrm>
          <a:prstGeom prst="rect">
            <a:avLst/>
          </a:prstGeom>
        </p:spPr>
      </p:pic>
      <p:sp>
        <p:nvSpPr>
          <p:cNvPr id="12" name="Text 8"/>
          <p:cNvSpPr txBox="1"/>
          <p:nvPr/>
        </p:nvSpPr>
        <p:spPr>
          <a:xfrm>
            <a:off x="4873752" y="1325880"/>
            <a:ext cx="2651760" cy="804672"/>
          </a:xfrm>
          <a:prstGeom prst="rect">
            <a:avLst/>
          </a:prstGeom>
          <a:noFill/>
          <a:ln/>
        </p:spPr>
        <p:txBody>
          <a:bodyPr wrap="square" lIns="0" tIns="0" rIns="0" bIns="0" rtlCol="0" anchor="ctr"/>
          <a:lstStyle/>
          <a:p>
            <a:pPr indent="0" marL="0">
              <a:buNone/>
            </a:pPr>
            <a:r>
              <a:rPr lang="en-US" sz="1400" b="1" dirty="0">
                <a:solidFill>
                  <a:schemeClr val="tx1"/>
                </a:solidFill>
              </a:rPr>
              <a:t>Language ID</a:t>
            </a:r>
            <a:endParaRPr lang="en-US" sz="1400" dirty="0"/>
          </a:p>
          <a:p>
            <a:pPr indent="0" marL="0">
              <a:buNone/>
            </a:pPr>
            <a:r>
              <a:rPr lang="en-US" sz="1200" dirty="0">
                <a:solidFill>
                  <a:srgbClr val="6B7C8F"/>
                </a:solidFill>
              </a:rPr>
              <a:t>en / hi-Deva / hi-Latn classifier</a:t>
            </a:r>
            <a:endParaRPr lang="en-US" sz="1400" dirty="0"/>
          </a:p>
        </p:txBody>
      </p:sp>
      <p:sp>
        <p:nvSpPr>
          <p:cNvPr id="13" name="card"/>
          <p:cNvSpPr/>
          <p:nvPr/>
        </p:nvSpPr>
        <p:spPr>
          <a:xfrm>
            <a:off x="548640" y="2267712"/>
            <a:ext cx="3429000" cy="804672"/>
          </a:xfrm>
          <a:prstGeom prst="roundRect">
            <a:avLst>
              <a:gd name="adj" fmla="val 13636"/>
            </a:avLst>
          </a:prstGeom>
          <a:solidFill>
            <a:schemeClr val="bg2"/>
          </a:solidFill>
          <a:ln w="12700">
            <a:solidFill>
              <a:schemeClr val="bg2"/>
            </a:solidFill>
            <a:prstDash val="solid"/>
          </a:ln>
        </p:spPr>
      </p:sp>
      <p:sp>
        <p:nvSpPr>
          <p:cNvPr id="14" name="icon-dot"/>
          <p:cNvSpPr/>
          <p:nvPr/>
        </p:nvSpPr>
        <p:spPr>
          <a:xfrm>
            <a:off x="685800" y="2441448"/>
            <a:ext cx="457200" cy="457200"/>
          </a:xfrm>
          <a:prstGeom prst="ellipse">
            <a:avLst/>
          </a:prstGeom>
          <a:solidFill>
            <a:srgbClr val="3B7D5A"/>
          </a:solidFill>
          <a:ln w="12700">
            <a:solidFill>
              <a:srgbClr val="3B7D5A"/>
            </a:solidFill>
            <a:prstDash val="solid"/>
          </a:ln>
        </p:spPr>
      </p:sp>
      <p:pic>
        <p:nvPicPr>
          <p:cNvPr id="15" name="Image 2" descr="icon">    </p:cNvPr>
          <p:cNvPicPr>
            <a:picLocks noChangeAspect="1"/>
          </p:cNvPicPr>
          <p:nvPr/>
        </p:nvPicPr>
        <p:blipFill>
          <a:blip r:embed="rId3"/>
          <a:stretch>
            <a:fillRect/>
          </a:stretch>
        </p:blipFill>
        <p:spPr>
          <a:xfrm>
            <a:off x="800100" y="2555748"/>
            <a:ext cx="228600" cy="228600"/>
          </a:xfrm>
          <a:prstGeom prst="rect">
            <a:avLst/>
          </a:prstGeom>
        </p:spPr>
      </p:pic>
      <p:sp>
        <p:nvSpPr>
          <p:cNvPr id="16" name="Text 11"/>
          <p:cNvSpPr txBox="1"/>
          <p:nvPr/>
        </p:nvSpPr>
        <p:spPr>
          <a:xfrm>
            <a:off x="1261872" y="2267712"/>
            <a:ext cx="2651760" cy="804672"/>
          </a:xfrm>
          <a:prstGeom prst="rect">
            <a:avLst/>
          </a:prstGeom>
          <a:noFill/>
          <a:ln/>
        </p:spPr>
        <p:txBody>
          <a:bodyPr wrap="square" lIns="0" tIns="0" rIns="0" bIns="0" rtlCol="0" anchor="ctr"/>
          <a:lstStyle/>
          <a:p>
            <a:pPr indent="0" marL="0">
              <a:buNone/>
            </a:pPr>
            <a:r>
              <a:rPr lang="en-US" sz="1400" b="1" dirty="0">
                <a:solidFill>
                  <a:schemeClr val="tx1"/>
                </a:solidFill>
              </a:rPr>
              <a:t>4 model families</a:t>
            </a:r>
            <a:endParaRPr lang="en-US" sz="1400" dirty="0"/>
          </a:p>
          <a:p>
            <a:pPr indent="0" marL="0">
              <a:buNone/>
            </a:pPr>
            <a:r>
              <a:rPr lang="en-US" sz="1200" dirty="0">
                <a:solidFill>
                  <a:srgbClr val="6B7C8F"/>
                </a:solidFill>
              </a:rPr>
              <a:t>TF-IDF, BiLSTM, MuRIL, HingRoBERTa</a:t>
            </a:r>
            <a:endParaRPr lang="en-US" sz="1400" dirty="0"/>
          </a:p>
        </p:txBody>
      </p:sp>
      <p:sp>
        <p:nvSpPr>
          <p:cNvPr id="17" name="card"/>
          <p:cNvSpPr/>
          <p:nvPr/>
        </p:nvSpPr>
        <p:spPr>
          <a:xfrm>
            <a:off x="4160520" y="2267712"/>
            <a:ext cx="3429000" cy="804672"/>
          </a:xfrm>
          <a:prstGeom prst="roundRect">
            <a:avLst>
              <a:gd name="adj" fmla="val 13636"/>
            </a:avLst>
          </a:prstGeom>
          <a:solidFill>
            <a:schemeClr val="bg2"/>
          </a:solidFill>
          <a:ln w="12700">
            <a:solidFill>
              <a:schemeClr val="bg2"/>
            </a:solidFill>
            <a:prstDash val="solid"/>
          </a:ln>
        </p:spPr>
      </p:sp>
      <p:sp>
        <p:nvSpPr>
          <p:cNvPr id="18" name="icon-dot"/>
          <p:cNvSpPr/>
          <p:nvPr/>
        </p:nvSpPr>
        <p:spPr>
          <a:xfrm>
            <a:off x="4297680" y="2441448"/>
            <a:ext cx="457200" cy="457200"/>
          </a:xfrm>
          <a:prstGeom prst="ellipse">
            <a:avLst/>
          </a:prstGeom>
          <a:solidFill>
            <a:srgbClr val="3B7D5A"/>
          </a:solidFill>
          <a:ln w="12700">
            <a:solidFill>
              <a:srgbClr val="3B7D5A"/>
            </a:solidFill>
            <a:prstDash val="solid"/>
          </a:ln>
        </p:spPr>
      </p:sp>
      <p:pic>
        <p:nvPicPr>
          <p:cNvPr id="19" name="Image 3" descr="icon">    </p:cNvPr>
          <p:cNvPicPr>
            <a:picLocks noChangeAspect="1"/>
          </p:cNvPicPr>
          <p:nvPr/>
        </p:nvPicPr>
        <p:blipFill>
          <a:blip r:embed="rId4"/>
          <a:stretch>
            <a:fillRect/>
          </a:stretch>
        </p:blipFill>
        <p:spPr>
          <a:xfrm>
            <a:off x="4411980" y="2555748"/>
            <a:ext cx="228600" cy="228600"/>
          </a:xfrm>
          <a:prstGeom prst="rect">
            <a:avLst/>
          </a:prstGeom>
        </p:spPr>
      </p:pic>
      <p:sp>
        <p:nvSpPr>
          <p:cNvPr id="20" name="Text 14"/>
          <p:cNvSpPr txBox="1"/>
          <p:nvPr/>
        </p:nvSpPr>
        <p:spPr>
          <a:xfrm>
            <a:off x="4873752" y="2267712"/>
            <a:ext cx="2651760" cy="804672"/>
          </a:xfrm>
          <a:prstGeom prst="rect">
            <a:avLst/>
          </a:prstGeom>
          <a:noFill/>
          <a:ln/>
        </p:spPr>
        <p:txBody>
          <a:bodyPr wrap="square" lIns="0" tIns="0" rIns="0" bIns="0" rtlCol="0" anchor="ctr"/>
          <a:lstStyle/>
          <a:p>
            <a:pPr indent="0" marL="0">
              <a:buNone/>
            </a:pPr>
            <a:r>
              <a:rPr lang="en-US" sz="1400" b="1" dirty="0">
                <a:solidFill>
                  <a:schemeClr val="tx1"/>
                </a:solidFill>
              </a:rPr>
              <a:t>Training engine</a:t>
            </a:r>
            <a:endParaRPr lang="en-US" sz="1400" dirty="0"/>
          </a:p>
          <a:p>
            <a:pPr indent="0" marL="0">
              <a:buNone/>
            </a:pPr>
            <a:r>
              <a:rPr lang="en-US" sz="1200" dirty="0">
                <a:solidFill>
                  <a:srgbClr val="6B7C8F"/>
                </a:solidFill>
              </a:rPr>
              <a:t>multi-seed, resumable every 10 min</a:t>
            </a:r>
            <a:endParaRPr lang="en-US" sz="1400" dirty="0"/>
          </a:p>
        </p:txBody>
      </p:sp>
      <p:sp>
        <p:nvSpPr>
          <p:cNvPr id="21" name="card"/>
          <p:cNvSpPr/>
          <p:nvPr/>
        </p:nvSpPr>
        <p:spPr>
          <a:xfrm>
            <a:off x="548640" y="3209544"/>
            <a:ext cx="3429000" cy="804672"/>
          </a:xfrm>
          <a:prstGeom prst="roundRect">
            <a:avLst>
              <a:gd name="adj" fmla="val 13636"/>
            </a:avLst>
          </a:prstGeom>
          <a:solidFill>
            <a:schemeClr val="bg2"/>
          </a:solidFill>
          <a:ln w="12700">
            <a:solidFill>
              <a:schemeClr val="bg2"/>
            </a:solidFill>
            <a:prstDash val="solid"/>
          </a:ln>
        </p:spPr>
      </p:sp>
      <p:sp>
        <p:nvSpPr>
          <p:cNvPr id="22" name="icon-dot"/>
          <p:cNvSpPr/>
          <p:nvPr/>
        </p:nvSpPr>
        <p:spPr>
          <a:xfrm>
            <a:off x="685800" y="3383280"/>
            <a:ext cx="457200" cy="457200"/>
          </a:xfrm>
          <a:prstGeom prst="ellipse">
            <a:avLst/>
          </a:prstGeom>
          <a:solidFill>
            <a:srgbClr val="3B7D5A"/>
          </a:solidFill>
          <a:ln w="12700">
            <a:solidFill>
              <a:srgbClr val="3B7D5A"/>
            </a:solidFill>
            <a:prstDash val="solid"/>
          </a:ln>
        </p:spPr>
      </p:sp>
      <p:pic>
        <p:nvPicPr>
          <p:cNvPr id="23" name="Image 4" descr="icon">    </p:cNvPr>
          <p:cNvPicPr>
            <a:picLocks noChangeAspect="1"/>
          </p:cNvPicPr>
          <p:nvPr/>
        </p:nvPicPr>
        <p:blipFill>
          <a:blip r:embed="rId5"/>
          <a:stretch>
            <a:fillRect/>
          </a:stretch>
        </p:blipFill>
        <p:spPr>
          <a:xfrm>
            <a:off x="800100" y="3497580"/>
            <a:ext cx="228600" cy="228600"/>
          </a:xfrm>
          <a:prstGeom prst="rect">
            <a:avLst/>
          </a:prstGeom>
        </p:spPr>
      </p:pic>
      <p:sp>
        <p:nvSpPr>
          <p:cNvPr id="24" name="Text 17"/>
          <p:cNvSpPr txBox="1"/>
          <p:nvPr/>
        </p:nvSpPr>
        <p:spPr>
          <a:xfrm>
            <a:off x="1261872" y="3209544"/>
            <a:ext cx="2651760" cy="804672"/>
          </a:xfrm>
          <a:prstGeom prst="rect">
            <a:avLst/>
          </a:prstGeom>
          <a:noFill/>
          <a:ln/>
        </p:spPr>
        <p:txBody>
          <a:bodyPr wrap="square" lIns="0" tIns="0" rIns="0" bIns="0" rtlCol="0" anchor="ctr"/>
          <a:lstStyle/>
          <a:p>
            <a:pPr indent="0" marL="0">
              <a:buNone/>
            </a:pPr>
            <a:r>
              <a:rPr lang="en-US" sz="1400" b="1" dirty="0">
                <a:solidFill>
                  <a:schemeClr val="tx1"/>
                </a:solidFill>
              </a:rPr>
              <a:t>Calibration</a:t>
            </a:r>
            <a:endParaRPr lang="en-US" sz="1400" dirty="0"/>
          </a:p>
          <a:p>
            <a:pPr indent="0" marL="0">
              <a:buNone/>
            </a:pPr>
            <a:r>
              <a:rPr lang="en-US" sz="1200" dirty="0">
                <a:solidFill>
                  <a:srgbClr val="6B7C8F"/>
                </a:solidFill>
              </a:rPr>
              <a:t>temperature scaling, tuned thresholds</a:t>
            </a:r>
            <a:endParaRPr lang="en-US" sz="1400" dirty="0"/>
          </a:p>
        </p:txBody>
      </p:sp>
      <p:sp>
        <p:nvSpPr>
          <p:cNvPr id="25" name="card"/>
          <p:cNvSpPr/>
          <p:nvPr/>
        </p:nvSpPr>
        <p:spPr>
          <a:xfrm>
            <a:off x="4160520" y="3209544"/>
            <a:ext cx="3429000" cy="804672"/>
          </a:xfrm>
          <a:prstGeom prst="roundRect">
            <a:avLst>
              <a:gd name="adj" fmla="val 13636"/>
            </a:avLst>
          </a:prstGeom>
          <a:solidFill>
            <a:schemeClr val="bg2"/>
          </a:solidFill>
          <a:ln w="12700">
            <a:solidFill>
              <a:schemeClr val="bg2"/>
            </a:solidFill>
            <a:prstDash val="solid"/>
          </a:ln>
        </p:spPr>
      </p:sp>
      <p:sp>
        <p:nvSpPr>
          <p:cNvPr id="26" name="icon-dot"/>
          <p:cNvSpPr/>
          <p:nvPr/>
        </p:nvSpPr>
        <p:spPr>
          <a:xfrm>
            <a:off x="4297680" y="3383280"/>
            <a:ext cx="457200" cy="457200"/>
          </a:xfrm>
          <a:prstGeom prst="ellipse">
            <a:avLst/>
          </a:prstGeom>
          <a:solidFill>
            <a:srgbClr val="3B7D5A"/>
          </a:solidFill>
          <a:ln w="12700">
            <a:solidFill>
              <a:srgbClr val="3B7D5A"/>
            </a:solidFill>
            <a:prstDash val="solid"/>
          </a:ln>
        </p:spPr>
      </p:sp>
      <p:pic>
        <p:nvPicPr>
          <p:cNvPr id="27" name="Image 5" descr="icon">    </p:cNvPr>
          <p:cNvPicPr>
            <a:picLocks noChangeAspect="1"/>
          </p:cNvPicPr>
          <p:nvPr/>
        </p:nvPicPr>
        <p:blipFill>
          <a:blip r:embed="rId6"/>
          <a:stretch>
            <a:fillRect/>
          </a:stretch>
        </p:blipFill>
        <p:spPr>
          <a:xfrm>
            <a:off x="4411980" y="3497580"/>
            <a:ext cx="228600" cy="228600"/>
          </a:xfrm>
          <a:prstGeom prst="rect">
            <a:avLst/>
          </a:prstGeom>
        </p:spPr>
      </p:pic>
      <p:sp>
        <p:nvSpPr>
          <p:cNvPr id="28" name="Text 20"/>
          <p:cNvSpPr txBox="1"/>
          <p:nvPr/>
        </p:nvSpPr>
        <p:spPr>
          <a:xfrm>
            <a:off x="4873752" y="3209544"/>
            <a:ext cx="2651760" cy="804672"/>
          </a:xfrm>
          <a:prstGeom prst="rect">
            <a:avLst/>
          </a:prstGeom>
          <a:noFill/>
          <a:ln/>
        </p:spPr>
        <p:txBody>
          <a:bodyPr wrap="square" lIns="0" tIns="0" rIns="0" bIns="0" rtlCol="0" anchor="ctr"/>
          <a:lstStyle/>
          <a:p>
            <a:pPr indent="0" marL="0">
              <a:buNone/>
            </a:pPr>
            <a:r>
              <a:rPr lang="en-US" sz="1400" b="1" dirty="0">
                <a:solidFill>
                  <a:schemeClr val="tx1"/>
                </a:solidFill>
              </a:rPr>
              <a:t>Evaluation</a:t>
            </a:r>
            <a:endParaRPr lang="en-US" sz="1400" dirty="0"/>
          </a:p>
          <a:p>
            <a:pPr indent="0" marL="0">
              <a:buNone/>
            </a:pPr>
            <a:r>
              <a:rPr lang="en-US" sz="1200" dirty="0">
                <a:solidFill>
                  <a:srgbClr val="6B7C8F"/>
                </a:solidFill>
              </a:rPr>
              <a:t>bootstrap CIs, error analysis</a:t>
            </a:r>
            <a:endParaRPr lang="en-US" sz="1400" dirty="0"/>
          </a:p>
        </p:txBody>
      </p:sp>
      <p:sp>
        <p:nvSpPr>
          <p:cNvPr id="29" name="card"/>
          <p:cNvSpPr/>
          <p:nvPr/>
        </p:nvSpPr>
        <p:spPr>
          <a:xfrm>
            <a:off x="548640" y="4151376"/>
            <a:ext cx="3429000" cy="804672"/>
          </a:xfrm>
          <a:prstGeom prst="roundRect">
            <a:avLst>
              <a:gd name="adj" fmla="val 13636"/>
            </a:avLst>
          </a:prstGeom>
          <a:solidFill>
            <a:schemeClr val="bg2"/>
          </a:solidFill>
          <a:ln w="12700">
            <a:solidFill>
              <a:schemeClr val="bg2"/>
            </a:solidFill>
            <a:prstDash val="solid"/>
          </a:ln>
        </p:spPr>
      </p:sp>
      <p:sp>
        <p:nvSpPr>
          <p:cNvPr id="30" name="icon-dot"/>
          <p:cNvSpPr/>
          <p:nvPr/>
        </p:nvSpPr>
        <p:spPr>
          <a:xfrm>
            <a:off x="685800" y="4325112"/>
            <a:ext cx="457200" cy="457200"/>
          </a:xfrm>
          <a:prstGeom prst="ellipse">
            <a:avLst/>
          </a:prstGeom>
          <a:solidFill>
            <a:srgbClr val="3B7D5A"/>
          </a:solidFill>
          <a:ln w="12700">
            <a:solidFill>
              <a:srgbClr val="3B7D5A"/>
            </a:solidFill>
            <a:prstDash val="solid"/>
          </a:ln>
        </p:spPr>
      </p:sp>
      <p:pic>
        <p:nvPicPr>
          <p:cNvPr id="31" name="Image 6" descr="icon">    </p:cNvPr>
          <p:cNvPicPr>
            <a:picLocks noChangeAspect="1"/>
          </p:cNvPicPr>
          <p:nvPr/>
        </p:nvPicPr>
        <p:blipFill>
          <a:blip r:embed="rId7"/>
          <a:stretch>
            <a:fillRect/>
          </a:stretch>
        </p:blipFill>
        <p:spPr>
          <a:xfrm>
            <a:off x="800100" y="4439412"/>
            <a:ext cx="228600" cy="228600"/>
          </a:xfrm>
          <a:prstGeom prst="rect">
            <a:avLst/>
          </a:prstGeom>
        </p:spPr>
      </p:pic>
      <p:sp>
        <p:nvSpPr>
          <p:cNvPr id="32" name="Text 23"/>
          <p:cNvSpPr txBox="1"/>
          <p:nvPr/>
        </p:nvSpPr>
        <p:spPr>
          <a:xfrm>
            <a:off x="1261872" y="4151376"/>
            <a:ext cx="2651760" cy="804672"/>
          </a:xfrm>
          <a:prstGeom prst="rect">
            <a:avLst/>
          </a:prstGeom>
          <a:noFill/>
          <a:ln/>
        </p:spPr>
        <p:txBody>
          <a:bodyPr wrap="square" lIns="0" tIns="0" rIns="0" bIns="0" rtlCol="0" anchor="ctr"/>
          <a:lstStyle/>
          <a:p>
            <a:pPr indent="0" marL="0">
              <a:buNone/>
            </a:pPr>
            <a:r>
              <a:rPr lang="en-US" sz="1400" b="1" dirty="0">
                <a:solidFill>
                  <a:schemeClr val="tx1"/>
                </a:solidFill>
              </a:rPr>
              <a:t>Explanations</a:t>
            </a:r>
            <a:endParaRPr lang="en-US" sz="1400" dirty="0"/>
          </a:p>
          <a:p>
            <a:pPr indent="0" marL="0">
              <a:buNone/>
            </a:pPr>
            <a:r>
              <a:rPr lang="en-US" sz="1200" dirty="0">
                <a:solidFill>
                  <a:srgbClr val="6B7C8F"/>
                </a:solidFill>
              </a:rPr>
              <a:t>Integrated Gradients per token</a:t>
            </a:r>
            <a:endParaRPr lang="en-US" sz="1400" dirty="0"/>
          </a:p>
        </p:txBody>
      </p:sp>
      <p:sp>
        <p:nvSpPr>
          <p:cNvPr id="33" name="card"/>
          <p:cNvSpPr/>
          <p:nvPr/>
        </p:nvSpPr>
        <p:spPr>
          <a:xfrm>
            <a:off x="4160520" y="4151376"/>
            <a:ext cx="3429000" cy="804672"/>
          </a:xfrm>
          <a:prstGeom prst="roundRect">
            <a:avLst>
              <a:gd name="adj" fmla="val 13636"/>
            </a:avLst>
          </a:prstGeom>
          <a:solidFill>
            <a:schemeClr val="bg2"/>
          </a:solidFill>
          <a:ln w="12700">
            <a:solidFill>
              <a:schemeClr val="bg2"/>
            </a:solidFill>
            <a:prstDash val="solid"/>
          </a:ln>
        </p:spPr>
      </p:sp>
      <p:sp>
        <p:nvSpPr>
          <p:cNvPr id="34" name="icon-dot"/>
          <p:cNvSpPr/>
          <p:nvPr/>
        </p:nvSpPr>
        <p:spPr>
          <a:xfrm>
            <a:off x="4297680" y="4325112"/>
            <a:ext cx="457200" cy="457200"/>
          </a:xfrm>
          <a:prstGeom prst="ellipse">
            <a:avLst/>
          </a:prstGeom>
          <a:solidFill>
            <a:srgbClr val="3B7D5A"/>
          </a:solidFill>
          <a:ln w="12700">
            <a:solidFill>
              <a:srgbClr val="3B7D5A"/>
            </a:solidFill>
            <a:prstDash val="solid"/>
          </a:ln>
        </p:spPr>
      </p:sp>
      <p:pic>
        <p:nvPicPr>
          <p:cNvPr id="35" name="Image 7" descr="icon">    </p:cNvPr>
          <p:cNvPicPr>
            <a:picLocks noChangeAspect="1"/>
          </p:cNvPicPr>
          <p:nvPr/>
        </p:nvPicPr>
        <p:blipFill>
          <a:blip r:embed="rId8"/>
          <a:stretch>
            <a:fillRect/>
          </a:stretch>
        </p:blipFill>
        <p:spPr>
          <a:xfrm>
            <a:off x="4411980" y="4439412"/>
            <a:ext cx="228600" cy="228600"/>
          </a:xfrm>
          <a:prstGeom prst="rect">
            <a:avLst/>
          </a:prstGeom>
        </p:spPr>
      </p:pic>
      <p:sp>
        <p:nvSpPr>
          <p:cNvPr id="36" name="Text 26"/>
          <p:cNvSpPr txBox="1"/>
          <p:nvPr/>
        </p:nvSpPr>
        <p:spPr>
          <a:xfrm>
            <a:off x="4873752" y="4151376"/>
            <a:ext cx="2651760" cy="804672"/>
          </a:xfrm>
          <a:prstGeom prst="rect">
            <a:avLst/>
          </a:prstGeom>
          <a:noFill/>
          <a:ln/>
        </p:spPr>
        <p:txBody>
          <a:bodyPr wrap="square" lIns="0" tIns="0" rIns="0" bIns="0" rtlCol="0" anchor="ctr"/>
          <a:lstStyle/>
          <a:p>
            <a:pPr indent="0" marL="0">
              <a:buNone/>
            </a:pPr>
            <a:r>
              <a:rPr lang="en-US" sz="1400" b="1" dirty="0">
                <a:solidFill>
                  <a:schemeClr val="tx1"/>
                </a:solidFill>
              </a:rPr>
              <a:t>Web app + API</a:t>
            </a:r>
            <a:endParaRPr lang="en-US" sz="1400" dirty="0"/>
          </a:p>
          <a:p>
            <a:pPr indent="0" marL="0">
              <a:buNone/>
            </a:pPr>
            <a:r>
              <a:rPr lang="en-US" sz="1200" dirty="0">
                <a:solidFill>
                  <a:srgbClr val="6B7C8F"/>
                </a:solidFill>
              </a:rPr>
              <a:t>FastAPI, 9 pages, batch CSV</a:t>
            </a:r>
            <a:endParaRPr lang="en-US" sz="1400" dirty="0"/>
          </a:p>
        </p:txBody>
      </p:sp>
      <p:sp>
        <p:nvSpPr>
          <p:cNvPr id="37" name="card"/>
          <p:cNvSpPr/>
          <p:nvPr/>
        </p:nvSpPr>
        <p:spPr>
          <a:xfrm>
            <a:off x="548640" y="5093208"/>
            <a:ext cx="3429000" cy="804672"/>
          </a:xfrm>
          <a:prstGeom prst="roundRect">
            <a:avLst>
              <a:gd name="adj" fmla="val 13636"/>
            </a:avLst>
          </a:prstGeom>
          <a:solidFill>
            <a:schemeClr val="bg2"/>
          </a:solidFill>
          <a:ln w="12700">
            <a:solidFill>
              <a:schemeClr val="bg2"/>
            </a:solidFill>
            <a:prstDash val="solid"/>
          </a:ln>
        </p:spPr>
      </p:sp>
      <p:sp>
        <p:nvSpPr>
          <p:cNvPr id="38" name="icon-dot"/>
          <p:cNvSpPr/>
          <p:nvPr/>
        </p:nvSpPr>
        <p:spPr>
          <a:xfrm>
            <a:off x="685800" y="5266944"/>
            <a:ext cx="457200" cy="457200"/>
          </a:xfrm>
          <a:prstGeom prst="ellipse">
            <a:avLst/>
          </a:prstGeom>
          <a:solidFill>
            <a:srgbClr val="3B7D5A"/>
          </a:solidFill>
          <a:ln w="12700">
            <a:solidFill>
              <a:srgbClr val="3B7D5A"/>
            </a:solidFill>
            <a:prstDash val="solid"/>
          </a:ln>
        </p:spPr>
      </p:sp>
      <p:pic>
        <p:nvPicPr>
          <p:cNvPr id="39" name="Image 8" descr="icon">    </p:cNvPr>
          <p:cNvPicPr>
            <a:picLocks noChangeAspect="1"/>
          </p:cNvPicPr>
          <p:nvPr/>
        </p:nvPicPr>
        <p:blipFill>
          <a:blip r:embed="rId9"/>
          <a:stretch>
            <a:fillRect/>
          </a:stretch>
        </p:blipFill>
        <p:spPr>
          <a:xfrm>
            <a:off x="800100" y="5381244"/>
            <a:ext cx="228600" cy="228600"/>
          </a:xfrm>
          <a:prstGeom prst="rect">
            <a:avLst/>
          </a:prstGeom>
        </p:spPr>
      </p:pic>
      <p:sp>
        <p:nvSpPr>
          <p:cNvPr id="40" name="Text 29"/>
          <p:cNvSpPr txBox="1"/>
          <p:nvPr/>
        </p:nvSpPr>
        <p:spPr>
          <a:xfrm>
            <a:off x="1261872" y="5093208"/>
            <a:ext cx="2651760" cy="804672"/>
          </a:xfrm>
          <a:prstGeom prst="rect">
            <a:avLst/>
          </a:prstGeom>
          <a:noFill/>
          <a:ln/>
        </p:spPr>
        <p:txBody>
          <a:bodyPr wrap="square" lIns="0" tIns="0" rIns="0" bIns="0" rtlCol="0" anchor="ctr"/>
          <a:lstStyle/>
          <a:p>
            <a:pPr indent="0" marL="0">
              <a:buNone/>
            </a:pPr>
            <a:r>
              <a:rPr lang="en-US" sz="1400" b="1" dirty="0">
                <a:solidFill>
                  <a:schemeClr val="tx1"/>
                </a:solidFill>
              </a:rPr>
              <a:t>Privacy + safety</a:t>
            </a:r>
            <a:endParaRPr lang="en-US" sz="1400" dirty="0"/>
          </a:p>
          <a:p>
            <a:pPr indent="0" marL="0">
              <a:buNone/>
            </a:pPr>
            <a:r>
              <a:rPr lang="en-US" sz="1200" dirty="0">
                <a:solidFill>
                  <a:srgbClr val="6B7C8F"/>
                </a:solidFill>
              </a:rPr>
              <a:t>no text logged, PII masking, notices</a:t>
            </a:r>
            <a:endParaRPr lang="en-US" sz="1400" dirty="0"/>
          </a:p>
        </p:txBody>
      </p:sp>
      <p:sp>
        <p:nvSpPr>
          <p:cNvPr id="41" name="card"/>
          <p:cNvSpPr/>
          <p:nvPr/>
        </p:nvSpPr>
        <p:spPr>
          <a:xfrm>
            <a:off x="4160520" y="5093208"/>
            <a:ext cx="3429000" cy="804672"/>
          </a:xfrm>
          <a:prstGeom prst="roundRect">
            <a:avLst>
              <a:gd name="adj" fmla="val 13636"/>
            </a:avLst>
          </a:prstGeom>
          <a:solidFill>
            <a:schemeClr val="bg2"/>
          </a:solidFill>
          <a:ln w="12700">
            <a:solidFill>
              <a:schemeClr val="bg2"/>
            </a:solidFill>
            <a:prstDash val="solid"/>
          </a:ln>
        </p:spPr>
      </p:sp>
      <p:sp>
        <p:nvSpPr>
          <p:cNvPr id="42" name="icon-dot"/>
          <p:cNvSpPr/>
          <p:nvPr/>
        </p:nvSpPr>
        <p:spPr>
          <a:xfrm>
            <a:off x="4297680" y="5266944"/>
            <a:ext cx="457200" cy="457200"/>
          </a:xfrm>
          <a:prstGeom prst="ellipse">
            <a:avLst/>
          </a:prstGeom>
          <a:solidFill>
            <a:srgbClr val="3B7D5A"/>
          </a:solidFill>
          <a:ln w="12700">
            <a:solidFill>
              <a:srgbClr val="3B7D5A"/>
            </a:solidFill>
            <a:prstDash val="solid"/>
          </a:ln>
        </p:spPr>
      </p:sp>
      <p:pic>
        <p:nvPicPr>
          <p:cNvPr id="43" name="Image 9" descr="icon">    </p:cNvPr>
          <p:cNvPicPr>
            <a:picLocks noChangeAspect="1"/>
          </p:cNvPicPr>
          <p:nvPr/>
        </p:nvPicPr>
        <p:blipFill>
          <a:blip r:embed="rId10"/>
          <a:stretch>
            <a:fillRect/>
          </a:stretch>
        </p:blipFill>
        <p:spPr>
          <a:xfrm>
            <a:off x="4411980" y="5381244"/>
            <a:ext cx="228600" cy="228600"/>
          </a:xfrm>
          <a:prstGeom prst="rect">
            <a:avLst/>
          </a:prstGeom>
        </p:spPr>
      </p:pic>
      <p:sp>
        <p:nvSpPr>
          <p:cNvPr id="44" name="Text 32"/>
          <p:cNvSpPr txBox="1"/>
          <p:nvPr/>
        </p:nvSpPr>
        <p:spPr>
          <a:xfrm>
            <a:off x="4873752" y="5093208"/>
            <a:ext cx="2651760" cy="804672"/>
          </a:xfrm>
          <a:prstGeom prst="rect">
            <a:avLst/>
          </a:prstGeom>
          <a:noFill/>
          <a:ln/>
        </p:spPr>
        <p:txBody>
          <a:bodyPr wrap="square" lIns="0" tIns="0" rIns="0" bIns="0" rtlCol="0" anchor="ctr"/>
          <a:lstStyle/>
          <a:p>
            <a:pPr indent="0" marL="0">
              <a:buNone/>
            </a:pPr>
            <a:r>
              <a:rPr lang="en-US" sz="1400" b="1" dirty="0">
                <a:solidFill>
                  <a:schemeClr val="tx1"/>
                </a:solidFill>
              </a:rPr>
              <a:t>Tests</a:t>
            </a:r>
            <a:endParaRPr lang="en-US" sz="1400" dirty="0"/>
          </a:p>
          <a:p>
            <a:pPr indent="0" marL="0">
              <a:buNone/>
            </a:pPr>
            <a:r>
              <a:rPr lang="en-US" sz="1200" dirty="0">
                <a:solidFill>
                  <a:srgbClr val="6B7C8F"/>
                </a:solidFill>
              </a:rPr>
              <a:t>68 unit tests, all passing</a:t>
            </a:r>
            <a:endParaRPr lang="en-US" sz="1400" dirty="0"/>
          </a:p>
        </p:txBody>
      </p:sp>
      <p:sp>
        <p:nvSpPr>
          <p:cNvPr id="45" name="card"/>
          <p:cNvSpPr/>
          <p:nvPr/>
        </p:nvSpPr>
        <p:spPr>
          <a:xfrm>
            <a:off x="7909560" y="1325880"/>
            <a:ext cx="3749040" cy="2240280"/>
          </a:xfrm>
          <a:prstGeom prst="roundRect">
            <a:avLst>
              <a:gd name="adj" fmla="val 4898"/>
            </a:avLst>
          </a:prstGeom>
          <a:solidFill>
            <a:srgbClr val="E6F4F1"/>
          </a:solidFill>
          <a:ln w="12700">
            <a:solidFill>
              <a:srgbClr val="E6F4F1"/>
            </a:solidFill>
            <a:prstDash val="solid"/>
          </a:ln>
        </p:spPr>
      </p:sp>
      <p:sp>
        <p:nvSpPr>
          <p:cNvPr id="46" name="Text 34"/>
          <p:cNvSpPr txBox="1"/>
          <p:nvPr/>
        </p:nvSpPr>
        <p:spPr>
          <a:xfrm>
            <a:off x="8138160" y="1417320"/>
            <a:ext cx="3383280" cy="685800"/>
          </a:xfrm>
          <a:prstGeom prst="rect">
            <a:avLst/>
          </a:prstGeom>
          <a:noFill/>
          <a:ln/>
        </p:spPr>
        <p:txBody>
          <a:bodyPr wrap="square" lIns="0" tIns="0" rIns="0" bIns="0" rtlCol="0" anchor="ctr"/>
          <a:lstStyle/>
          <a:p>
            <a:pPr indent="0" marL="0">
              <a:buNone/>
            </a:pPr>
            <a:r>
              <a:rPr lang="en-US" sz="3600" b="1" dirty="0">
                <a:solidFill>
                  <a:srgbClr val="3B7D5A"/>
                </a:solidFill>
                <a:latin typeface="Cambria" pitchFamily="34" charset="0"/>
                <a:ea typeface="Cambria" pitchFamily="34" charset="-122"/>
                <a:cs typeface="Cambria" pitchFamily="34" charset="-120"/>
              </a:rPr>
              <a:t>21</a:t>
            </a:r>
            <a:endParaRPr lang="en-US" sz="3600" dirty="0"/>
          </a:p>
        </p:txBody>
      </p:sp>
      <p:sp>
        <p:nvSpPr>
          <p:cNvPr id="47" name="Text 35"/>
          <p:cNvSpPr txBox="1"/>
          <p:nvPr/>
        </p:nvSpPr>
        <p:spPr>
          <a:xfrm>
            <a:off x="8138160" y="2103120"/>
            <a:ext cx="3383280" cy="685800"/>
          </a:xfrm>
          <a:prstGeom prst="rect">
            <a:avLst/>
          </a:prstGeom>
          <a:noFill/>
          <a:ln/>
        </p:spPr>
        <p:txBody>
          <a:bodyPr wrap="square" lIns="0" tIns="0" rIns="0" bIns="0" rtlCol="0" anchor="t"/>
          <a:lstStyle/>
          <a:p>
            <a:pPr indent="0" marL="0">
              <a:buNone/>
            </a:pPr>
            <a:r>
              <a:rPr lang="en-US" sz="1400" dirty="0">
                <a:solidFill>
                  <a:schemeClr val="tx1"/>
                </a:solidFill>
              </a:rPr>
              <a:t>training runs on CPU (7 configurations x 3 seeds)</a:t>
            </a:r>
            <a:endParaRPr lang="en-US" sz="1400" dirty="0"/>
          </a:p>
        </p:txBody>
      </p:sp>
      <p:sp>
        <p:nvSpPr>
          <p:cNvPr id="48" name="Text 36"/>
          <p:cNvSpPr txBox="1"/>
          <p:nvPr/>
        </p:nvSpPr>
        <p:spPr>
          <a:xfrm>
            <a:off x="8138160" y="2880360"/>
            <a:ext cx="3383280" cy="594360"/>
          </a:xfrm>
          <a:prstGeom prst="rect">
            <a:avLst/>
          </a:prstGeom>
          <a:noFill/>
          <a:ln/>
        </p:spPr>
        <p:txBody>
          <a:bodyPr wrap="square" lIns="0" tIns="0" rIns="0" bIns="0" rtlCol="0" anchor="ctr"/>
          <a:lstStyle/>
          <a:p>
            <a:pPr indent="0" marL="0">
              <a:buNone/>
            </a:pPr>
            <a:r>
              <a:rPr lang="en-US" sz="1300" dirty="0">
                <a:solidFill>
                  <a:schemeClr val="tx1"/>
                </a:solidFill>
              </a:rPr>
              <a:t>2,893 lines of Python in src/, 809 in scripts/, 713 in tests/</a:t>
            </a:r>
            <a:endParaRPr lang="en-US" sz="1300" dirty="0"/>
          </a:p>
        </p:txBody>
      </p:sp>
      <p:sp>
        <p:nvSpPr>
          <p:cNvPr id="49" name="card"/>
          <p:cNvSpPr/>
          <p:nvPr/>
        </p:nvSpPr>
        <p:spPr>
          <a:xfrm>
            <a:off x="7909560" y="3703320"/>
            <a:ext cx="3749040" cy="2377440"/>
          </a:xfrm>
          <a:prstGeom prst="roundRect">
            <a:avLst>
              <a:gd name="adj" fmla="val 4615"/>
            </a:avLst>
          </a:prstGeom>
          <a:solidFill>
            <a:srgbClr val="FCEFD9"/>
          </a:solidFill>
          <a:ln w="12700">
            <a:solidFill>
              <a:srgbClr val="FCEFD9"/>
            </a:solidFill>
            <a:prstDash val="solid"/>
          </a:ln>
        </p:spPr>
      </p:sp>
      <p:sp>
        <p:nvSpPr>
          <p:cNvPr id="50" name="Text 38"/>
          <p:cNvSpPr txBox="1"/>
          <p:nvPr/>
        </p:nvSpPr>
        <p:spPr>
          <a:xfrm>
            <a:off x="8138160" y="3794760"/>
            <a:ext cx="3291840" cy="365760"/>
          </a:xfrm>
          <a:prstGeom prst="rect">
            <a:avLst/>
          </a:prstGeom>
          <a:noFill/>
          <a:ln/>
        </p:spPr>
        <p:txBody>
          <a:bodyPr wrap="square" lIns="0" tIns="0" rIns="0" bIns="0" rtlCol="0" anchor="ctr"/>
          <a:lstStyle/>
          <a:p>
            <a:pPr indent="0" marL="0">
              <a:buNone/>
            </a:pPr>
            <a:r>
              <a:rPr lang="en-US" sz="1600" b="1" dirty="0">
                <a:solidFill>
                  <a:schemeClr val="tx2"/>
                </a:solidFill>
              </a:rPr>
              <a:t>Not done yet</a:t>
            </a:r>
            <a:endParaRPr lang="en-US" sz="1600" dirty="0"/>
          </a:p>
        </p:txBody>
      </p:sp>
      <p:sp>
        <p:nvSpPr>
          <p:cNvPr id="51" name="Text 39"/>
          <p:cNvSpPr txBox="1"/>
          <p:nvPr/>
        </p:nvSpPr>
        <p:spPr>
          <a:xfrm>
            <a:off x="8138160" y="4206240"/>
            <a:ext cx="3383280" cy="1828800"/>
          </a:xfrm>
          <a:prstGeom prst="rect">
            <a:avLst/>
          </a:prstGeom>
          <a:noFill/>
          <a:ln/>
        </p:spPr>
        <p:txBody>
          <a:bodyPr wrap="square" lIns="0" tIns="0" rIns="0" bIns="0" rtlCol="0" anchor="t"/>
          <a:lstStyle/>
          <a:p>
            <a:pPr marL="228600" indent="-228600">
              <a:spcAft>
                <a:spcPts val="800"/>
              </a:spcAft>
              <a:buSzPct val="100000"/>
              <a:buChar char="•"/>
            </a:pPr>
            <a:r>
              <a:rPr lang="en-US" sz="1300" dirty="0">
                <a:solidFill>
                  <a:schemeClr val="tx1"/>
                </a:solidFill>
              </a:rPr>
              <a:t>Transliteration / spelling normalisation</a:t>
            </a:r>
            <a:endParaRPr lang="en-US" sz="1300" dirty="0"/>
          </a:p>
          <a:p>
            <a:pPr marL="228600" indent="-228600">
              <a:spcAft>
                <a:spcPts val="800"/>
              </a:spcAft>
              <a:buSzPct val="100000"/>
              <a:buChar char="•"/>
            </a:pPr>
            <a:r>
              <a:rPr lang="en-US" sz="1300" dirty="0">
                <a:solidFill>
                  <a:schemeClr val="tx1"/>
                </a:solidFill>
              </a:rPr>
              <a:t>Learning-rate grid and XLM-R control (need a GPU)</a:t>
            </a:r>
            <a:endParaRPr lang="en-US" sz="1300" dirty="0"/>
          </a:p>
          <a:p>
            <a:pPr marL="228600" indent="-228600">
              <a:spcAft>
                <a:spcPts val="800"/>
              </a:spcAft>
              <a:buSzPct val="100000"/>
              <a:buChar char="•"/>
            </a:pPr>
            <a:r>
              <a:rPr lang="en-US" sz="1300" dirty="0">
                <a:solidFill>
                  <a:schemeClr val="tx1"/>
                </a:solidFill>
              </a:rPr>
              <a:t>Manual error taxonomy (sheet ready)</a:t>
            </a:r>
            <a:endParaRPr lang="en-US" sz="1300" dirty="0"/>
          </a:p>
          <a:p>
            <a:pPr marL="228600" indent="-228600">
              <a:spcAft>
                <a:spcPts val="800"/>
              </a:spcAft>
              <a:buSzPct val="100000"/>
              <a:buChar char="•"/>
            </a:pPr>
            <a:r>
              <a:rPr lang="en-US" sz="1300" dirty="0">
                <a:solidFill>
                  <a:schemeClr val="tx1"/>
                </a:solidFill>
              </a:rPr>
              <a:t>Sarvam adapter tested with mocks only</a:t>
            </a:r>
            <a:endParaRPr lang="en-US" sz="13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Live web app: dashboard</a:t>
            </a:r>
            <a:endParaRPr lang="en-US" sz="3200" dirty="0"/>
          </a:p>
        </p:txBody>
      </p:sp>
      <p:sp>
        <p:nvSpPr>
          <p:cNvPr id="3" name="rubric-chip"/>
          <p:cNvSpPr/>
          <p:nvPr/>
        </p:nvSpPr>
        <p:spPr>
          <a:xfrm>
            <a:off x="9921240" y="502920"/>
            <a:ext cx="173736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921240" y="502920"/>
            <a:ext cx="1737360" cy="411480"/>
          </a:xfrm>
          <a:prstGeom prst="rect">
            <a:avLst/>
          </a:prstGeom>
          <a:noFill/>
          <a:ln/>
        </p:spPr>
        <p:txBody>
          <a:bodyPr wrap="square" lIns="0" tIns="0" rIns="0" bIns="0" rtlCol="0" anchor="ctr"/>
          <a:lstStyle/>
          <a:p>
            <a:pPr algn="ctr" indent="0" marL="0">
              <a:buNone/>
            </a:pPr>
            <a:r>
              <a:rPr lang="en-US" sz="1200" b="1" dirty="0">
                <a:solidFill>
                  <a:schemeClr val="tx2"/>
                </a:solidFill>
              </a:rPr>
              <a:t>Rubric 2</a:t>
            </a:r>
            <a:endParaRPr lang="en-US" sz="1200" dirty="0"/>
          </a:p>
        </p:txBody>
      </p:sp>
      <p:sp>
        <p:nvSpPr>
          <p:cNvPr id="5" name="frame-dashboard.png"/>
          <p:cNvSpPr/>
          <p:nvPr/>
        </p:nvSpPr>
        <p:spPr>
          <a:xfrm>
            <a:off x="548640" y="1388737"/>
            <a:ext cx="7863840" cy="4720607"/>
          </a:xfrm>
          <a:prstGeom prst="rect">
            <a:avLst/>
          </a:prstGeom>
          <a:solidFill>
            <a:schemeClr val="bg1"/>
          </a:solidFill>
          <a:ln w="9525">
            <a:solidFill>
              <a:srgbClr val="D3DCE5"/>
            </a:solidFill>
            <a:prstDash val="solid"/>
          </a:ln>
          <a:effectLst>
            <a:outerShdw sx="100000" sy="100000" kx="0" ky="0" algn="bl" rotWithShape="0" blurRad="101600" dist="25400" dir="5400000">
              <a:srgbClr val="1B2433">
                <a:alpha val="18000"/>
              </a:srgbClr>
            </a:outerShdw>
          </a:effectLst>
        </p:spPr>
      </p:sp>
      <p:pic>
        <p:nvPicPr>
          <p:cNvPr id="6" name="Image 0" descr="Dashboard of the web app showing loaded models, calibration and test metrics">    </p:cNvPr>
          <p:cNvPicPr>
            <a:picLocks noChangeAspect="1"/>
          </p:cNvPicPr>
          <p:nvPr/>
        </p:nvPicPr>
        <p:blipFill>
          <a:blip r:embed="rId1"/>
          <a:stretch>
            <a:fillRect/>
          </a:stretch>
        </p:blipFill>
        <p:spPr>
          <a:xfrm>
            <a:off x="548640" y="1388737"/>
            <a:ext cx="7863840" cy="4720607"/>
          </a:xfrm>
          <a:prstGeom prst="rect">
            <a:avLst/>
          </a:prstGeom>
        </p:spPr>
      </p:pic>
      <p:sp>
        <p:nvSpPr>
          <p:cNvPr id="7" name="Text 4"/>
          <p:cNvSpPr txBox="1"/>
          <p:nvPr/>
        </p:nvSpPr>
        <p:spPr>
          <a:xfrm>
            <a:off x="8732520" y="1371600"/>
            <a:ext cx="2926080" cy="475488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Shows which models loaded from disk (TF-IDF, BiLSTM, MuRIL) and the device.</a:t>
            </a:r>
            <a:endParaRPr lang="en-US" sz="1400" dirty="0"/>
          </a:p>
          <a:p>
            <a:pPr marL="228600" indent="-228600">
              <a:spcAft>
                <a:spcPts val="800"/>
              </a:spcAft>
              <a:buSzPct val="100000"/>
              <a:buChar char="•"/>
            </a:pPr>
            <a:r>
              <a:rPr lang="en-US" sz="1400" dirty="0">
                <a:solidFill>
                  <a:schemeClr val="tx1"/>
                </a:solidFill>
              </a:rPr>
              <a:t>Test metrics are read from evaluation files, never typed in by hand.</a:t>
            </a:r>
            <a:endParaRPr lang="en-US" sz="1400" dirty="0"/>
          </a:p>
          <a:p>
            <a:pPr marL="228600" indent="-228600">
              <a:spcAft>
                <a:spcPts val="800"/>
              </a:spcAft>
              <a:buSzPct val="100000"/>
              <a:buChar char="•"/>
            </a:pPr>
            <a:r>
              <a:rPr lang="en-US" sz="1400" dirty="0">
                <a:solidFill>
                  <a:schemeClr val="tx1"/>
                </a:solidFill>
              </a:rPr>
              <a:t>A banner on every page says the tool is not diagnostic.</a:t>
            </a:r>
            <a:endParaRPr lang="en-US" sz="1400" dirty="0"/>
          </a:p>
          <a:p>
            <a:pPr marL="228600" indent="-228600">
              <a:spcAft>
                <a:spcPts val="800"/>
              </a:spcAft>
              <a:buSzPct val="100000"/>
              <a:buChar char="•"/>
            </a:pPr>
            <a:r>
              <a:rPr lang="en-US" sz="1400" dirty="0">
                <a:solidFill>
                  <a:schemeClr val="tx1"/>
                </a:solidFill>
              </a:rPr>
              <a:t>Run locally with one command: uvicorn src.app.main:app_factory --factory</a:t>
            </a:r>
            <a:endParaRPr lang="en-US" sz="14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Live example 1: English post</a:t>
            </a:r>
            <a:endParaRPr lang="en-US" sz="3200" dirty="0"/>
          </a:p>
        </p:txBody>
      </p:sp>
      <p:sp>
        <p:nvSpPr>
          <p:cNvPr id="3" name="rubric-chip"/>
          <p:cNvSpPr/>
          <p:nvPr/>
        </p:nvSpPr>
        <p:spPr>
          <a:xfrm>
            <a:off x="9921240" y="502920"/>
            <a:ext cx="173736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921240" y="502920"/>
            <a:ext cx="1737360" cy="411480"/>
          </a:xfrm>
          <a:prstGeom prst="rect">
            <a:avLst/>
          </a:prstGeom>
          <a:noFill/>
          <a:ln/>
        </p:spPr>
        <p:txBody>
          <a:bodyPr wrap="square" lIns="0" tIns="0" rIns="0" bIns="0" rtlCol="0" anchor="ctr"/>
          <a:lstStyle/>
          <a:p>
            <a:pPr algn="ctr" indent="0" marL="0">
              <a:buNone/>
            </a:pPr>
            <a:r>
              <a:rPr lang="en-US" sz="1200" b="1" dirty="0">
                <a:solidFill>
                  <a:schemeClr val="tx2"/>
                </a:solidFill>
              </a:rPr>
              <a:t>Rubric 2</a:t>
            </a:r>
            <a:endParaRPr lang="en-US" sz="1200" dirty="0"/>
          </a:p>
        </p:txBody>
      </p:sp>
      <p:sp>
        <p:nvSpPr>
          <p:cNvPr id="5" name="frame-c_en_main.png"/>
          <p:cNvSpPr/>
          <p:nvPr/>
        </p:nvSpPr>
        <p:spPr>
          <a:xfrm>
            <a:off x="574337" y="1234440"/>
            <a:ext cx="5983647" cy="5029200"/>
          </a:xfrm>
          <a:prstGeom prst="rect">
            <a:avLst/>
          </a:prstGeom>
          <a:solidFill>
            <a:schemeClr val="bg1"/>
          </a:solidFill>
          <a:ln w="9525">
            <a:solidFill>
              <a:srgbClr val="D3DCE5"/>
            </a:solidFill>
            <a:prstDash val="solid"/>
          </a:ln>
          <a:effectLst>
            <a:outerShdw sx="100000" sy="100000" kx="0" ky="0" algn="bl" rotWithShape="0" blurRad="101600" dist="25400" dir="5400000">
              <a:srgbClr val="1B2433">
                <a:alpha val="18000"/>
              </a:srgbClr>
            </a:outerShdw>
          </a:effectLst>
        </p:spPr>
      </p:sp>
      <p:pic>
        <p:nvPicPr>
          <p:cNvPr id="6" name="Image 0" descr="Analyze page with an English example and its predictions">    </p:cNvPr>
          <p:cNvPicPr>
            <a:picLocks noChangeAspect="1"/>
          </p:cNvPicPr>
          <p:nvPr/>
        </p:nvPicPr>
        <p:blipFill>
          <a:blip r:embed="rId1"/>
          <a:stretch>
            <a:fillRect/>
          </a:stretch>
        </p:blipFill>
        <p:spPr>
          <a:xfrm>
            <a:off x="574337" y="1234440"/>
            <a:ext cx="5983647" cy="5029200"/>
          </a:xfrm>
          <a:prstGeom prst="rect">
            <a:avLst/>
          </a:prstGeom>
        </p:spPr>
      </p:pic>
      <p:sp>
        <p:nvSpPr>
          <p:cNvPr id="7" name="Text 4"/>
          <p:cNvSpPr txBox="1"/>
          <p:nvPr/>
        </p:nvSpPr>
        <p:spPr>
          <a:xfrm>
            <a:off x="6903720" y="1280160"/>
            <a:ext cx="4754880" cy="868680"/>
          </a:xfrm>
          <a:prstGeom prst="rect">
            <a:avLst/>
          </a:prstGeom>
          <a:noFill/>
          <a:ln/>
        </p:spPr>
        <p:txBody>
          <a:bodyPr wrap="square" lIns="0" tIns="0" rIns="0" bIns="0" rtlCol="0" anchor="ctr"/>
          <a:lstStyle/>
          <a:p>
            <a:pPr indent="0" marL="0">
              <a:buNone/>
            </a:pPr>
            <a:r>
              <a:rPr lang="en-US" sz="1400" i="1" dirty="0">
                <a:solidFill>
                  <a:schemeClr val="tx1"/>
                </a:solidFill>
              </a:rPr>
              <a:t>Input: "I haven't slept properly in days. Work keeps piling up and I feel like I'm failing at everything."</a:t>
            </a:r>
            <a:endParaRPr lang="en-US" sz="1400" dirty="0"/>
          </a:p>
        </p:txBody>
      </p:sp>
      <p:sp>
        <p:nvSpPr>
          <p:cNvPr id="8" name="card"/>
          <p:cNvSpPr/>
          <p:nvPr/>
        </p:nvSpPr>
        <p:spPr>
          <a:xfrm>
            <a:off x="6903720" y="2286000"/>
            <a:ext cx="4754880" cy="658368"/>
          </a:xfrm>
          <a:prstGeom prst="roundRect">
            <a:avLst>
              <a:gd name="adj" fmla="val 16667"/>
            </a:avLst>
          </a:prstGeom>
          <a:solidFill>
            <a:schemeClr val="bg2"/>
          </a:solidFill>
          <a:ln w="12700">
            <a:solidFill>
              <a:schemeClr val="bg2"/>
            </a:solidFill>
            <a:prstDash val="solid"/>
          </a:ln>
        </p:spPr>
      </p:sp>
      <p:sp>
        <p:nvSpPr>
          <p:cNvPr id="9" name="Text 6"/>
          <p:cNvSpPr txBox="1"/>
          <p:nvPr/>
        </p:nvSpPr>
        <p:spPr>
          <a:xfrm>
            <a:off x="7086600" y="2286000"/>
            <a:ext cx="4480560" cy="658368"/>
          </a:xfrm>
          <a:prstGeom prst="rect">
            <a:avLst/>
          </a:prstGeom>
          <a:noFill/>
          <a:ln/>
        </p:spPr>
        <p:txBody>
          <a:bodyPr wrap="square" lIns="0" tIns="0" rIns="0" bIns="0" rtlCol="0" anchor="ctr"/>
          <a:lstStyle/>
          <a:p>
            <a:pPr indent="0" marL="0">
              <a:buNone/>
            </a:pPr>
            <a:r>
              <a:rPr lang="en-US" sz="1500" b="1" dirty="0">
                <a:solidFill>
                  <a:srgbClr val="1F3354"/>
                </a:solidFill>
              </a:rPr>
              <a:t>Language: </a:t>
            </a:r>
            <a:pPr indent="0" marL="0">
              <a:buNone/>
            </a:pPr>
            <a:r>
              <a:rPr lang="en-US" sz="1500" dirty="0">
                <a:solidFill>
                  <a:schemeClr val="tx1"/>
                </a:solidFill>
              </a:rPr>
              <a:t>English, confidence 0.979</a:t>
            </a:r>
            <a:endParaRPr lang="en-US" sz="1500" dirty="0"/>
          </a:p>
        </p:txBody>
      </p:sp>
      <p:sp>
        <p:nvSpPr>
          <p:cNvPr id="10" name="card"/>
          <p:cNvSpPr/>
          <p:nvPr/>
        </p:nvSpPr>
        <p:spPr>
          <a:xfrm>
            <a:off x="6903720" y="3063240"/>
            <a:ext cx="4754880" cy="658368"/>
          </a:xfrm>
          <a:prstGeom prst="roundRect">
            <a:avLst>
              <a:gd name="adj" fmla="val 16667"/>
            </a:avLst>
          </a:prstGeom>
          <a:solidFill>
            <a:schemeClr val="bg2"/>
          </a:solidFill>
          <a:ln w="12700">
            <a:solidFill>
              <a:schemeClr val="bg2"/>
            </a:solidFill>
            <a:prstDash val="solid"/>
          </a:ln>
        </p:spPr>
      </p:sp>
      <p:sp>
        <p:nvSpPr>
          <p:cNvPr id="11" name="Text 8"/>
          <p:cNvSpPr txBox="1"/>
          <p:nvPr/>
        </p:nvSpPr>
        <p:spPr>
          <a:xfrm>
            <a:off x="7086600" y="3063240"/>
            <a:ext cx="4480560" cy="658368"/>
          </a:xfrm>
          <a:prstGeom prst="rect">
            <a:avLst/>
          </a:prstGeom>
          <a:noFill/>
          <a:ln/>
        </p:spPr>
        <p:txBody>
          <a:bodyPr wrap="square" lIns="0" tIns="0" rIns="0" bIns="0" rtlCol="0" anchor="ctr"/>
          <a:lstStyle/>
          <a:p>
            <a:pPr indent="0" marL="0">
              <a:buNone/>
            </a:pPr>
            <a:r>
              <a:rPr lang="en-US" sz="1500" b="1" dirty="0">
                <a:solidFill>
                  <a:srgbClr val="1F3354"/>
                </a:solidFill>
              </a:rPr>
              <a:t>Sentiment: </a:t>
            </a:r>
            <a:pPr indent="0" marL="0">
              <a:buNone/>
            </a:pPr>
            <a:r>
              <a:rPr lang="en-US" sz="1500" dirty="0">
                <a:solidFill>
                  <a:schemeClr val="tx1"/>
                </a:solidFill>
              </a:rPr>
              <a:t>Negative (0.75)</a:t>
            </a:r>
            <a:endParaRPr lang="en-US" sz="1500" dirty="0"/>
          </a:p>
        </p:txBody>
      </p:sp>
      <p:sp>
        <p:nvSpPr>
          <p:cNvPr id="12" name="card"/>
          <p:cNvSpPr/>
          <p:nvPr/>
        </p:nvSpPr>
        <p:spPr>
          <a:xfrm>
            <a:off x="6903720" y="3840480"/>
            <a:ext cx="4754880" cy="658368"/>
          </a:xfrm>
          <a:prstGeom prst="roundRect">
            <a:avLst>
              <a:gd name="adj" fmla="val 16667"/>
            </a:avLst>
          </a:prstGeom>
          <a:solidFill>
            <a:schemeClr val="bg2"/>
          </a:solidFill>
          <a:ln w="12700">
            <a:solidFill>
              <a:schemeClr val="bg2"/>
            </a:solidFill>
            <a:prstDash val="solid"/>
          </a:ln>
        </p:spPr>
      </p:sp>
      <p:sp>
        <p:nvSpPr>
          <p:cNvPr id="13" name="Text 10"/>
          <p:cNvSpPr txBox="1"/>
          <p:nvPr/>
        </p:nvSpPr>
        <p:spPr>
          <a:xfrm>
            <a:off x="7086600" y="3840480"/>
            <a:ext cx="4480560" cy="658368"/>
          </a:xfrm>
          <a:prstGeom prst="rect">
            <a:avLst/>
          </a:prstGeom>
          <a:noFill/>
          <a:ln/>
        </p:spPr>
        <p:txBody>
          <a:bodyPr wrap="square" lIns="0" tIns="0" rIns="0" bIns="0" rtlCol="0" anchor="ctr"/>
          <a:lstStyle/>
          <a:p>
            <a:pPr indent="0" marL="0">
              <a:buNone/>
            </a:pPr>
            <a:r>
              <a:rPr lang="en-US" sz="1500" b="1" dirty="0">
                <a:solidFill>
                  <a:srgbClr val="1F3354"/>
                </a:solidFill>
              </a:rPr>
              <a:t>Emotion: </a:t>
            </a:r>
            <a:pPr indent="0" marL="0">
              <a:buNone/>
            </a:pPr>
            <a:r>
              <a:rPr lang="en-US" sz="1500" dirty="0">
                <a:solidFill>
                  <a:schemeClr val="tx1"/>
                </a:solidFill>
              </a:rPr>
              <a:t>Sadness 0.88, fear 0.73</a:t>
            </a:r>
            <a:endParaRPr lang="en-US" sz="1500" dirty="0"/>
          </a:p>
        </p:txBody>
      </p:sp>
      <p:sp>
        <p:nvSpPr>
          <p:cNvPr id="14" name="card"/>
          <p:cNvSpPr/>
          <p:nvPr/>
        </p:nvSpPr>
        <p:spPr>
          <a:xfrm>
            <a:off x="6903720" y="4617720"/>
            <a:ext cx="4754880" cy="658368"/>
          </a:xfrm>
          <a:prstGeom prst="roundRect">
            <a:avLst>
              <a:gd name="adj" fmla="val 16667"/>
            </a:avLst>
          </a:prstGeom>
          <a:solidFill>
            <a:schemeClr val="bg2"/>
          </a:solidFill>
          <a:ln w="12700">
            <a:solidFill>
              <a:schemeClr val="bg2"/>
            </a:solidFill>
            <a:prstDash val="solid"/>
          </a:ln>
        </p:spPr>
      </p:sp>
      <p:sp>
        <p:nvSpPr>
          <p:cNvPr id="15" name="Text 12"/>
          <p:cNvSpPr txBox="1"/>
          <p:nvPr/>
        </p:nvSpPr>
        <p:spPr>
          <a:xfrm>
            <a:off x="7086600" y="4617720"/>
            <a:ext cx="4480560" cy="658368"/>
          </a:xfrm>
          <a:prstGeom prst="rect">
            <a:avLst/>
          </a:prstGeom>
          <a:noFill/>
          <a:ln/>
        </p:spPr>
        <p:txBody>
          <a:bodyPr wrap="square" lIns="0" tIns="0" rIns="0" bIns="0" rtlCol="0" anchor="ctr"/>
          <a:lstStyle/>
          <a:p>
            <a:pPr indent="0" marL="0">
              <a:buNone/>
            </a:pPr>
            <a:r>
              <a:rPr lang="en-US" sz="1500" b="1" dirty="0">
                <a:solidFill>
                  <a:srgbClr val="1F3354"/>
                </a:solidFill>
              </a:rPr>
              <a:t>Stress signal: </a:t>
            </a:r>
            <a:pPr indent="0" marL="0">
              <a:buNone/>
            </a:pPr>
            <a:r>
              <a:rPr lang="en-US" sz="1500" dirty="0">
                <a:solidFill>
                  <a:schemeClr val="tx1"/>
                </a:solidFill>
              </a:rPr>
              <a:t>Elevated, probability 0.86</a:t>
            </a:r>
            <a:endParaRPr lang="en-US" sz="1500" dirty="0"/>
          </a:p>
        </p:txBody>
      </p:sp>
      <p:sp>
        <p:nvSpPr>
          <p:cNvPr id="16" name="card"/>
          <p:cNvSpPr/>
          <p:nvPr/>
        </p:nvSpPr>
        <p:spPr>
          <a:xfrm>
            <a:off x="6903720" y="5394960"/>
            <a:ext cx="4754880" cy="658368"/>
          </a:xfrm>
          <a:prstGeom prst="roundRect">
            <a:avLst>
              <a:gd name="adj" fmla="val 16667"/>
            </a:avLst>
          </a:prstGeom>
          <a:solidFill>
            <a:schemeClr val="bg2"/>
          </a:solidFill>
          <a:ln w="12700">
            <a:solidFill>
              <a:schemeClr val="bg2"/>
            </a:solidFill>
            <a:prstDash val="solid"/>
          </a:ln>
        </p:spPr>
      </p:sp>
      <p:sp>
        <p:nvSpPr>
          <p:cNvPr id="17" name="Text 14"/>
          <p:cNvSpPr txBox="1"/>
          <p:nvPr/>
        </p:nvSpPr>
        <p:spPr>
          <a:xfrm>
            <a:off x="7086600" y="5394960"/>
            <a:ext cx="4480560" cy="658368"/>
          </a:xfrm>
          <a:prstGeom prst="rect">
            <a:avLst/>
          </a:prstGeom>
          <a:noFill/>
          <a:ln/>
        </p:spPr>
        <p:txBody>
          <a:bodyPr wrap="square" lIns="0" tIns="0" rIns="0" bIns="0" rtlCol="0" anchor="ctr"/>
          <a:lstStyle/>
          <a:p>
            <a:pPr indent="0" marL="0">
              <a:buNone/>
            </a:pPr>
            <a:r>
              <a:rPr lang="en-US" sz="1500" b="1" dirty="0">
                <a:solidFill>
                  <a:srgbClr val="1F3354"/>
                </a:solidFill>
              </a:rPr>
              <a:t>Response: </a:t>
            </a:r>
            <a:pPr indent="0" marL="0">
              <a:buNone/>
            </a:pPr>
            <a:r>
              <a:rPr lang="en-US" sz="1500" dirty="0">
                <a:solidFill>
                  <a:schemeClr val="tx1"/>
                </a:solidFill>
              </a:rPr>
              <a:t>Safety notice with official helpline directories</a:t>
            </a:r>
            <a:endParaRPr lang="en-US" sz="15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Live example 2: Hinglish post with explanation</a:t>
            </a:r>
            <a:endParaRPr lang="en-US" sz="3200" dirty="0"/>
          </a:p>
        </p:txBody>
      </p:sp>
      <p:sp>
        <p:nvSpPr>
          <p:cNvPr id="3" name="rubric-chip"/>
          <p:cNvSpPr/>
          <p:nvPr/>
        </p:nvSpPr>
        <p:spPr>
          <a:xfrm>
            <a:off x="9921240" y="502920"/>
            <a:ext cx="173736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921240" y="502920"/>
            <a:ext cx="1737360" cy="411480"/>
          </a:xfrm>
          <a:prstGeom prst="rect">
            <a:avLst/>
          </a:prstGeom>
          <a:noFill/>
          <a:ln/>
        </p:spPr>
        <p:txBody>
          <a:bodyPr wrap="square" lIns="0" tIns="0" rIns="0" bIns="0" rtlCol="0" anchor="ctr"/>
          <a:lstStyle/>
          <a:p>
            <a:pPr algn="ctr" indent="0" marL="0">
              <a:buNone/>
            </a:pPr>
            <a:r>
              <a:rPr lang="en-US" sz="1200" b="1" dirty="0">
                <a:solidFill>
                  <a:schemeClr val="tx2"/>
                </a:solidFill>
              </a:rPr>
              <a:t>Rubric 2</a:t>
            </a:r>
            <a:endParaRPr lang="en-US" sz="1200" dirty="0"/>
          </a:p>
        </p:txBody>
      </p:sp>
      <p:sp>
        <p:nvSpPr>
          <p:cNvPr id="5" name="Text 3"/>
          <p:cNvSpPr txBox="1"/>
          <p:nvPr/>
        </p:nvSpPr>
        <p:spPr>
          <a:xfrm>
            <a:off x="548640" y="1188720"/>
            <a:ext cx="11064240" cy="411480"/>
          </a:xfrm>
          <a:prstGeom prst="rect">
            <a:avLst/>
          </a:prstGeom>
          <a:noFill/>
          <a:ln/>
        </p:spPr>
        <p:txBody>
          <a:bodyPr wrap="square" lIns="0" tIns="0" rIns="0" bIns="0" rtlCol="0" anchor="ctr"/>
          <a:lstStyle/>
          <a:p>
            <a:pPr indent="0" marL="0">
              <a:buNone/>
            </a:pPr>
            <a:r>
              <a:rPr lang="en-US" sz="1500" i="1" dirty="0">
                <a:solidFill>
                  <a:schemeClr val="tx1"/>
                </a:solidFill>
              </a:rPr>
              <a:t>Input: "yaar exam ka bahut tension hai, kuch samajh nahi aa raha, neend bhi nahi aati"</a:t>
            </a:r>
            <a:endParaRPr lang="en-US" sz="1500" dirty="0"/>
          </a:p>
        </p:txBody>
      </p:sp>
      <p:sp>
        <p:nvSpPr>
          <p:cNvPr id="6" name="frame-c_hi_cards.png"/>
          <p:cNvSpPr/>
          <p:nvPr/>
        </p:nvSpPr>
        <p:spPr>
          <a:xfrm>
            <a:off x="548640" y="1737360"/>
            <a:ext cx="6675120" cy="3706125"/>
          </a:xfrm>
          <a:prstGeom prst="rect">
            <a:avLst/>
          </a:prstGeom>
          <a:solidFill>
            <a:schemeClr val="bg1"/>
          </a:solidFill>
          <a:ln w="9525">
            <a:solidFill>
              <a:srgbClr val="D3DCE5"/>
            </a:solidFill>
            <a:prstDash val="solid"/>
          </a:ln>
          <a:effectLst>
            <a:outerShdw sx="100000" sy="100000" kx="0" ky="0" algn="bl" rotWithShape="0" blurRad="101600" dist="25400" dir="5400000">
              <a:srgbClr val="1B2433">
                <a:alpha val="18000"/>
              </a:srgbClr>
            </a:outerShdw>
          </a:effectLst>
        </p:spPr>
      </p:sp>
      <p:pic>
        <p:nvPicPr>
          <p:cNvPr id="7" name="Image 0" descr="Prediction cards for the Hinglish example">    </p:cNvPr>
          <p:cNvPicPr>
            <a:picLocks noChangeAspect="1"/>
          </p:cNvPicPr>
          <p:nvPr/>
        </p:nvPicPr>
        <p:blipFill>
          <a:blip r:embed="rId1"/>
          <a:stretch>
            <a:fillRect/>
          </a:stretch>
        </p:blipFill>
        <p:spPr>
          <a:xfrm>
            <a:off x="548640" y="1737360"/>
            <a:ext cx="6675120" cy="3706125"/>
          </a:xfrm>
          <a:prstGeom prst="rect">
            <a:avLst/>
          </a:prstGeom>
        </p:spPr>
      </p:pic>
      <p:sp>
        <p:nvSpPr>
          <p:cNvPr id="8" name="Text 5"/>
          <p:cNvSpPr txBox="1"/>
          <p:nvPr/>
        </p:nvSpPr>
        <p:spPr>
          <a:xfrm>
            <a:off x="7498080" y="1783080"/>
            <a:ext cx="4160520" cy="274320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Detected as Romanized Hindi (hi-Latn), confidence 0.999.</a:t>
            </a:r>
            <a:endParaRPr lang="en-US" sz="1400" dirty="0"/>
          </a:p>
          <a:p>
            <a:pPr marL="228600" indent="-228600">
              <a:spcAft>
                <a:spcPts val="800"/>
              </a:spcAft>
              <a:buSzPct val="100000"/>
              <a:buChar char="•"/>
            </a:pPr>
            <a:r>
              <a:rPr lang="en-US" sz="1400" dirty="0">
                <a:solidFill>
                  <a:schemeClr val="tx1"/>
                </a:solidFill>
              </a:rPr>
              <a:t>The app warns that the stress head was trained on English only, so this output is unvalidated for Hinglish.</a:t>
            </a:r>
            <a:endParaRPr lang="en-US" sz="1400" dirty="0"/>
          </a:p>
          <a:p>
            <a:pPr marL="228600" indent="-228600">
              <a:spcAft>
                <a:spcPts val="800"/>
              </a:spcAft>
              <a:buSzPct val="100000"/>
              <a:buChar char="•"/>
            </a:pPr>
            <a:r>
              <a:rPr lang="en-US" sz="1400" dirty="0">
                <a:solidFill>
                  <a:schemeClr val="tx1"/>
                </a:solidFill>
              </a:rPr>
              <a:t>Token attribution below: blue pushes toward the label, orange away. Our deletion test found it only weakly faithful for Hinglish (58% of examples).</a:t>
            </a:r>
            <a:endParaRPr lang="en-US" sz="1400" dirty="0"/>
          </a:p>
        </p:txBody>
      </p:sp>
      <p:sp>
        <p:nvSpPr>
          <p:cNvPr id="9" name="frame-c_hi_tok.png"/>
          <p:cNvSpPr/>
          <p:nvPr/>
        </p:nvSpPr>
        <p:spPr>
          <a:xfrm>
            <a:off x="7498080" y="4572000"/>
            <a:ext cx="4160520" cy="775122"/>
          </a:xfrm>
          <a:prstGeom prst="rect">
            <a:avLst/>
          </a:prstGeom>
          <a:solidFill>
            <a:schemeClr val="bg1"/>
          </a:solidFill>
          <a:ln w="9525">
            <a:solidFill>
              <a:srgbClr val="D3DCE5"/>
            </a:solidFill>
            <a:prstDash val="solid"/>
          </a:ln>
          <a:effectLst>
            <a:outerShdw sx="100000" sy="100000" kx="0" ky="0" algn="bl" rotWithShape="0" blurRad="101600" dist="25400" dir="5400000">
              <a:srgbClr val="1B2433">
                <a:alpha val="18000"/>
              </a:srgbClr>
            </a:outerShdw>
          </a:effectLst>
        </p:spPr>
      </p:sp>
      <p:pic>
        <p:nvPicPr>
          <p:cNvPr id="10" name="Image 1" descr="Integrated Gradients token attribution for the Hinglish example">    </p:cNvPr>
          <p:cNvPicPr>
            <a:picLocks noChangeAspect="1"/>
          </p:cNvPicPr>
          <p:nvPr/>
        </p:nvPicPr>
        <p:blipFill>
          <a:blip r:embed="rId2"/>
          <a:stretch>
            <a:fillRect/>
          </a:stretch>
        </p:blipFill>
        <p:spPr>
          <a:xfrm>
            <a:off x="7498080" y="4572000"/>
            <a:ext cx="4160520" cy="775122"/>
          </a:xfrm>
          <a:prstGeom prst="rect">
            <a:avLst/>
          </a:prstGeom>
        </p:spPr>
      </p:pic>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Model playground and batch analysis</a:t>
            </a:r>
            <a:endParaRPr lang="en-US" sz="3200" dirty="0"/>
          </a:p>
        </p:txBody>
      </p:sp>
      <p:sp>
        <p:nvSpPr>
          <p:cNvPr id="3" name="rubric-chip"/>
          <p:cNvSpPr/>
          <p:nvPr/>
        </p:nvSpPr>
        <p:spPr>
          <a:xfrm>
            <a:off x="9921240" y="502920"/>
            <a:ext cx="173736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921240" y="502920"/>
            <a:ext cx="1737360" cy="411480"/>
          </a:xfrm>
          <a:prstGeom prst="rect">
            <a:avLst/>
          </a:prstGeom>
          <a:noFill/>
          <a:ln/>
        </p:spPr>
        <p:txBody>
          <a:bodyPr wrap="square" lIns="0" tIns="0" rIns="0" bIns="0" rtlCol="0" anchor="ctr"/>
          <a:lstStyle/>
          <a:p>
            <a:pPr algn="ctr" indent="0" marL="0">
              <a:buNone/>
            </a:pPr>
            <a:r>
              <a:rPr lang="en-US" sz="1200" b="1" dirty="0">
                <a:solidFill>
                  <a:schemeClr val="tx2"/>
                </a:solidFill>
              </a:rPr>
              <a:t>Rubric 2</a:t>
            </a:r>
            <a:endParaRPr lang="en-US" sz="1200" dirty="0"/>
          </a:p>
        </p:txBody>
      </p:sp>
      <p:sp>
        <p:nvSpPr>
          <p:cNvPr id="5" name="frame-c_play.png"/>
          <p:cNvSpPr/>
          <p:nvPr/>
        </p:nvSpPr>
        <p:spPr>
          <a:xfrm>
            <a:off x="548640" y="1280160"/>
            <a:ext cx="5669280" cy="3481733"/>
          </a:xfrm>
          <a:prstGeom prst="rect">
            <a:avLst/>
          </a:prstGeom>
          <a:solidFill>
            <a:schemeClr val="bg1"/>
          </a:solidFill>
          <a:ln w="9525">
            <a:solidFill>
              <a:srgbClr val="D3DCE5"/>
            </a:solidFill>
            <a:prstDash val="solid"/>
          </a:ln>
          <a:effectLst>
            <a:outerShdw sx="100000" sy="100000" kx="0" ky="0" algn="bl" rotWithShape="0" blurRad="101600" dist="25400" dir="5400000">
              <a:srgbClr val="1B2433">
                <a:alpha val="18000"/>
              </a:srgbClr>
            </a:outerShdw>
          </a:effectLst>
        </p:spPr>
      </p:sp>
      <p:pic>
        <p:nvPicPr>
          <p:cNvPr id="6" name="Image 0" descr="Playground comparing BiLSTM and MuRIL">    </p:cNvPr>
          <p:cNvPicPr>
            <a:picLocks noChangeAspect="1"/>
          </p:cNvPicPr>
          <p:nvPr/>
        </p:nvPicPr>
        <p:blipFill>
          <a:blip r:embed="rId1"/>
          <a:stretch>
            <a:fillRect/>
          </a:stretch>
        </p:blipFill>
        <p:spPr>
          <a:xfrm>
            <a:off x="548640" y="1280160"/>
            <a:ext cx="5669280" cy="3481733"/>
          </a:xfrm>
          <a:prstGeom prst="rect">
            <a:avLst/>
          </a:prstGeom>
        </p:spPr>
      </p:pic>
      <p:sp>
        <p:nvSpPr>
          <p:cNvPr id="7" name="frame-c_batch.png"/>
          <p:cNvSpPr/>
          <p:nvPr/>
        </p:nvSpPr>
        <p:spPr>
          <a:xfrm>
            <a:off x="6400800" y="1280160"/>
            <a:ext cx="5257800" cy="2772237"/>
          </a:xfrm>
          <a:prstGeom prst="rect">
            <a:avLst/>
          </a:prstGeom>
          <a:solidFill>
            <a:schemeClr val="bg1"/>
          </a:solidFill>
          <a:ln w="9525">
            <a:solidFill>
              <a:srgbClr val="D3DCE5"/>
            </a:solidFill>
            <a:prstDash val="solid"/>
          </a:ln>
          <a:effectLst>
            <a:outerShdw sx="100000" sy="100000" kx="0" ky="0" algn="bl" rotWithShape="0" blurRad="101600" dist="25400" dir="5400000">
              <a:srgbClr val="1B2433">
                <a:alpha val="18000"/>
              </a:srgbClr>
            </a:outerShdw>
          </a:effectLst>
        </p:spPr>
      </p:sp>
      <p:pic>
        <p:nvPicPr>
          <p:cNvPr id="8" name="Image 1" descr="Batch CSV analysis results">    </p:cNvPr>
          <p:cNvPicPr>
            <a:picLocks noChangeAspect="1"/>
          </p:cNvPicPr>
          <p:nvPr/>
        </p:nvPicPr>
        <p:blipFill>
          <a:blip r:embed="rId2"/>
          <a:stretch>
            <a:fillRect/>
          </a:stretch>
        </p:blipFill>
        <p:spPr>
          <a:xfrm>
            <a:off x="6400800" y="1280160"/>
            <a:ext cx="5257800" cy="2772237"/>
          </a:xfrm>
          <a:prstGeom prst="rect">
            <a:avLst/>
          </a:prstGeom>
        </p:spPr>
      </p:pic>
      <p:sp>
        <p:nvSpPr>
          <p:cNvPr id="9" name="Text 5"/>
          <p:cNvSpPr txBox="1"/>
          <p:nvPr/>
        </p:nvSpPr>
        <p:spPr>
          <a:xfrm>
            <a:off x="548640" y="4944773"/>
            <a:ext cx="5669280" cy="731520"/>
          </a:xfrm>
          <a:prstGeom prst="rect">
            <a:avLst/>
          </a:prstGeom>
          <a:noFill/>
          <a:ln/>
        </p:spPr>
        <p:txBody>
          <a:bodyPr wrap="square" lIns="0" tIns="0" rIns="0" bIns="0" rtlCol="0" anchor="t"/>
          <a:lstStyle/>
          <a:p>
            <a:pPr indent="0" marL="0">
              <a:buNone/>
            </a:pPr>
            <a:r>
              <a:rPr lang="en-US" sz="1400" dirty="0">
                <a:solidFill>
                  <a:schemeClr val="tx1"/>
                </a:solidFill>
              </a:rPr>
              <a:t>Same Hinglish sentence through BiLSTM and MuRIL side by side. Both flag stress; their emotion outputs differ (sadness vs anger).</a:t>
            </a:r>
            <a:endParaRPr lang="en-US" sz="1400" dirty="0"/>
          </a:p>
        </p:txBody>
      </p:sp>
      <p:sp>
        <p:nvSpPr>
          <p:cNvPr id="10" name="Text 6"/>
          <p:cNvSpPr txBox="1"/>
          <p:nvPr/>
        </p:nvSpPr>
        <p:spPr>
          <a:xfrm>
            <a:off x="6400800" y="4235277"/>
            <a:ext cx="5257800" cy="731520"/>
          </a:xfrm>
          <a:prstGeom prst="rect">
            <a:avLst/>
          </a:prstGeom>
          <a:noFill/>
          <a:ln/>
        </p:spPr>
        <p:txBody>
          <a:bodyPr wrap="square" lIns="0" tIns="0" rIns="0" bIns="0" rtlCol="0" anchor="t"/>
          <a:lstStyle/>
          <a:p>
            <a:pPr indent="0" marL="0">
              <a:buNone/>
            </a:pPr>
            <a:r>
              <a:rPr lang="en-US" sz="1400" dirty="0">
                <a:solidFill>
                  <a:schemeClr val="tx1"/>
                </a:solidFill>
              </a:rPr>
              <a:t>A 4-row CSV (2 English, 2 Hinglish) processed in memory; nothing is written to disk. Up to 500 rows per file.</a:t>
            </a:r>
            <a:endParaRPr lang="en-US" sz="14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Anyone can clone and run it</a:t>
            </a:r>
            <a:endParaRPr lang="en-US" sz="3200" dirty="0"/>
          </a:p>
        </p:txBody>
      </p:sp>
      <p:sp>
        <p:nvSpPr>
          <p:cNvPr id="3" name="rubric-chip"/>
          <p:cNvSpPr/>
          <p:nvPr/>
        </p:nvSpPr>
        <p:spPr>
          <a:xfrm>
            <a:off x="9921240" y="502920"/>
            <a:ext cx="173736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921240" y="502920"/>
            <a:ext cx="1737360" cy="411480"/>
          </a:xfrm>
          <a:prstGeom prst="rect">
            <a:avLst/>
          </a:prstGeom>
          <a:noFill/>
          <a:ln/>
        </p:spPr>
        <p:txBody>
          <a:bodyPr wrap="square" lIns="0" tIns="0" rIns="0" bIns="0" rtlCol="0" anchor="ctr"/>
          <a:lstStyle/>
          <a:p>
            <a:pPr algn="ctr" indent="0" marL="0">
              <a:buNone/>
            </a:pPr>
            <a:r>
              <a:rPr lang="en-US" sz="1200" b="1" dirty="0">
                <a:solidFill>
                  <a:schemeClr val="tx2"/>
                </a:solidFill>
              </a:rPr>
              <a:t>Rubric 2</a:t>
            </a:r>
            <a:endParaRPr lang="en-US" sz="1200" dirty="0"/>
          </a:p>
        </p:txBody>
      </p:sp>
      <p:sp>
        <p:nvSpPr>
          <p:cNvPr id="5" name="card"/>
          <p:cNvSpPr/>
          <p:nvPr/>
        </p:nvSpPr>
        <p:spPr>
          <a:xfrm>
            <a:off x="548640" y="1325880"/>
            <a:ext cx="6400800" cy="4206240"/>
          </a:xfrm>
          <a:prstGeom prst="roundRect">
            <a:avLst>
              <a:gd name="adj" fmla="val 2609"/>
            </a:avLst>
          </a:prstGeom>
          <a:solidFill>
            <a:srgbClr val="1E2A3D"/>
          </a:solidFill>
          <a:ln w="12700">
            <a:solidFill>
              <a:srgbClr val="1E2A3D"/>
            </a:solidFill>
            <a:prstDash val="solid"/>
          </a:ln>
        </p:spPr>
      </p:sp>
      <p:sp>
        <p:nvSpPr>
          <p:cNvPr id="6" name="Text 4"/>
          <p:cNvSpPr txBox="1"/>
          <p:nvPr/>
        </p:nvSpPr>
        <p:spPr>
          <a:xfrm>
            <a:off x="777240" y="1463040"/>
            <a:ext cx="6035040" cy="3931920"/>
          </a:xfrm>
          <a:prstGeom prst="rect">
            <a:avLst/>
          </a:prstGeom>
          <a:noFill/>
          <a:ln/>
        </p:spPr>
        <p:txBody>
          <a:bodyPr wrap="square" lIns="0" tIns="0" rIns="0" bIns="0" rtlCol="0" anchor="t"/>
          <a:lstStyle/>
          <a:p>
            <a:pPr indent="0" marL="0">
              <a:spcAft>
                <a:spcPts val="600"/>
              </a:spcAft>
              <a:buNone/>
            </a:pPr>
            <a:r>
              <a:rPr lang="en-US" sz="1400" dirty="0">
                <a:solidFill>
                  <a:srgbClr val="D7E3EE"/>
                </a:solidFill>
                <a:latin typeface="Courier New" pitchFamily="34" charset="0"/>
                <a:ea typeface="Courier New" pitchFamily="34" charset="-122"/>
                <a:cs typeface="Courier New" pitchFamily="34" charset="-120"/>
              </a:rPr>
              <a:t>git clone https://github.com/faizdevx/</a:t>
            </a:r>
            <a:endParaRPr lang="en-US" sz="1400" dirty="0"/>
          </a:p>
          <a:p>
            <a:pPr indent="0" marL="0">
              <a:spcAft>
                <a:spcPts val="600"/>
              </a:spcAft>
              <a:buNone/>
            </a:pPr>
            <a:r>
              <a:rPr lang="en-US" sz="1400" dirty="0">
                <a:solidFill>
                  <a:srgbClr val="D7E3EE"/>
                </a:solidFill>
                <a:latin typeface="Courier New" pitchFamily="34" charset="0"/>
                <a:ea typeface="Courier New" pitchFamily="34" charset="-122"/>
                <a:cs typeface="Courier New" pitchFamily="34" charset="-120"/>
              </a:rPr>
              <a:t>    Multilingual-Mental-Health-Risk-.git</a:t>
            </a:r>
            <a:endParaRPr lang="en-US" sz="1400" dirty="0"/>
          </a:p>
          <a:p>
            <a:pPr indent="0" marL="0">
              <a:spcAft>
                <a:spcPts val="600"/>
              </a:spcAft>
              <a:buNone/>
            </a:pPr>
            <a:r>
              <a:rPr lang="en-US" sz="1400" dirty="0">
                <a:solidFill>
                  <a:srgbClr val="D7E3EE"/>
                </a:solidFill>
                <a:latin typeface="Courier New" pitchFamily="34" charset="0"/>
                <a:ea typeface="Courier New" pitchFamily="34" charset="-122"/>
                <a:cs typeface="Courier New" pitchFamily="34" charset="-120"/>
              </a:rPr>
              <a:t>pip install -r requirements.txt</a:t>
            </a:r>
            <a:endParaRPr lang="en-US" sz="1400" dirty="0"/>
          </a:p>
          <a:p>
            <a:pPr indent="0" marL="0">
              <a:spcAft>
                <a:spcPts val="600"/>
              </a:spcAft>
              <a:buNone/>
            </a:pPr>
            <a:r>
              <a:rPr lang="en-US" sz="1400" dirty="0">
                <a:solidFill>
                  <a:srgbClr val="D7E3EE"/>
                </a:solidFill>
                <a:latin typeface="Courier New" pitchFamily="34" charset="0"/>
                <a:ea typeface="Courier New" pitchFamily="34" charset="-122"/>
                <a:cs typeface="Courier New" pitchFamily="34" charset="-120"/>
              </a:rPr>
              <a:t>python -m pytest -q          # 68 tests</a:t>
            </a:r>
            <a:endParaRPr lang="en-US" sz="1400" dirty="0"/>
          </a:p>
          <a:p>
            <a:pPr indent="0" marL="0">
              <a:spcAft>
                <a:spcPts val="600"/>
              </a:spcAft>
              <a:buNone/>
            </a:pPr>
            <a:r>
              <a:rPr lang="en-US" sz="1400" dirty="0">
                <a:solidFill>
                  <a:srgbClr val="D7E3EE"/>
                </a:solidFill>
                <a:latin typeface="Courier New" pitchFamily="34" charset="0"/>
                <a:ea typeface="Courier New" pitchFamily="34" charset="-122"/>
                <a:cs typeface="Courier New" pitchFamily="34" charset="-120"/>
              </a:rPr>
              <a:t>python scripts/download_data.py</a:t>
            </a:r>
            <a:endParaRPr lang="en-US" sz="1400" dirty="0"/>
          </a:p>
          <a:p>
            <a:pPr indent="0" marL="0">
              <a:spcAft>
                <a:spcPts val="600"/>
              </a:spcAft>
              <a:buNone/>
            </a:pPr>
            <a:r>
              <a:rPr lang="en-US" sz="1400" dirty="0">
                <a:solidFill>
                  <a:srgbClr val="D7E3EE"/>
                </a:solidFill>
                <a:latin typeface="Courier New" pitchFamily="34" charset="0"/>
                <a:ea typeface="Courier New" pitchFamily="34" charset="-122"/>
                <a:cs typeface="Courier New" pitchFamily="34" charset="-120"/>
              </a:rPr>
              <a:t>python scripts/prepare_data.py</a:t>
            </a:r>
            <a:endParaRPr lang="en-US" sz="1400" dirty="0"/>
          </a:p>
          <a:p>
            <a:pPr indent="0" marL="0">
              <a:spcAft>
                <a:spcPts val="600"/>
              </a:spcAft>
              <a:buNone/>
            </a:pPr>
            <a:r>
              <a:rPr lang="en-US" sz="1400" dirty="0">
                <a:solidFill>
                  <a:srgbClr val="D7E3EE"/>
                </a:solidFill>
                <a:latin typeface="Courier New" pitchFamily="34" charset="0"/>
                <a:ea typeface="Courier New" pitchFamily="34" charset="-122"/>
                <a:cs typeface="Courier New" pitchFamily="34" charset="-120"/>
              </a:rPr>
              <a:t>python scripts/train_baseline.py</a:t>
            </a:r>
            <a:endParaRPr lang="en-US" sz="1400" dirty="0"/>
          </a:p>
          <a:p>
            <a:pPr indent="0" marL="0">
              <a:spcAft>
                <a:spcPts val="600"/>
              </a:spcAft>
              <a:buNone/>
            </a:pPr>
            <a:r>
              <a:rPr lang="en-US" sz="1400" dirty="0">
                <a:solidFill>
                  <a:srgbClr val="D7E3EE"/>
                </a:solidFill>
                <a:latin typeface="Courier New" pitchFamily="34" charset="0"/>
                <a:ea typeface="Courier New" pitchFamily="34" charset="-122"/>
                <a:cs typeface="Courier New" pitchFamily="34" charset="-120"/>
              </a:rPr>
              <a:t>uvicorn src.app.main:app_factory --factory</a:t>
            </a:r>
            <a:endParaRPr lang="en-US" sz="1400" dirty="0"/>
          </a:p>
        </p:txBody>
      </p:sp>
      <p:sp>
        <p:nvSpPr>
          <p:cNvPr id="7" name="Text 5"/>
          <p:cNvSpPr txBox="1"/>
          <p:nvPr/>
        </p:nvSpPr>
        <p:spPr>
          <a:xfrm>
            <a:off x="548640" y="5669280"/>
            <a:ext cx="6400800" cy="548640"/>
          </a:xfrm>
          <a:prstGeom prst="rect">
            <a:avLst/>
          </a:prstGeom>
          <a:noFill/>
          <a:ln/>
        </p:spPr>
        <p:txBody>
          <a:bodyPr wrap="square" lIns="0" tIns="0" rIns="0" bIns="0" rtlCol="0" anchor="ctr"/>
          <a:lstStyle/>
          <a:p>
            <a:pPr indent="0" marL="0">
              <a:buNone/>
            </a:pPr>
            <a:r>
              <a:rPr lang="en-US" sz="1300" dirty="0">
                <a:solidFill>
                  <a:schemeClr val="accent5"/>
                </a:solidFill>
              </a:rPr>
              <a:t>Step-by-step guide in README.md: install, check, data, training, app, reproducing experiments.</a:t>
            </a:r>
            <a:endParaRPr lang="en-US" sz="1300" dirty="0"/>
          </a:p>
        </p:txBody>
      </p:sp>
      <p:sp>
        <p:nvSpPr>
          <p:cNvPr id="8" name="Text 6"/>
          <p:cNvSpPr txBox="1"/>
          <p:nvPr/>
        </p:nvSpPr>
        <p:spPr>
          <a:xfrm>
            <a:off x="7315200" y="1325880"/>
            <a:ext cx="4343400" cy="411480"/>
          </a:xfrm>
          <a:prstGeom prst="rect">
            <a:avLst/>
          </a:prstGeom>
          <a:noFill/>
          <a:ln/>
        </p:spPr>
        <p:txBody>
          <a:bodyPr wrap="square" lIns="0" tIns="0" rIns="0" bIns="0" rtlCol="0" anchor="ctr"/>
          <a:lstStyle/>
          <a:p>
            <a:pPr indent="0" marL="0">
              <a:buNone/>
            </a:pPr>
            <a:r>
              <a:rPr lang="en-US" sz="1500" b="1" dirty="0">
                <a:solidFill>
                  <a:schemeClr val="tx2"/>
                </a:solidFill>
              </a:rPr>
              <a:t>Measured latency (median, 30 requests, 4-core CPU)</a:t>
            </a:r>
            <a:endParaRPr lang="en-US" sz="1500" dirty="0"/>
          </a:p>
        </p:txBody>
      </p:sp>
      <p:sp>
        <p:nvSpPr>
          <p:cNvPr id="9" name="card"/>
          <p:cNvSpPr/>
          <p:nvPr/>
        </p:nvSpPr>
        <p:spPr>
          <a:xfrm>
            <a:off x="7315200" y="1828800"/>
            <a:ext cx="4343400" cy="1143000"/>
          </a:xfrm>
          <a:prstGeom prst="roundRect">
            <a:avLst>
              <a:gd name="adj" fmla="val 9600"/>
            </a:avLst>
          </a:prstGeom>
          <a:solidFill>
            <a:schemeClr val="bg2"/>
          </a:solidFill>
          <a:ln w="12700">
            <a:solidFill>
              <a:schemeClr val="bg2"/>
            </a:solidFill>
            <a:prstDash val="solid"/>
          </a:ln>
        </p:spPr>
      </p:sp>
      <p:sp>
        <p:nvSpPr>
          <p:cNvPr id="10" name="Text 8"/>
          <p:cNvSpPr txBox="1"/>
          <p:nvPr/>
        </p:nvSpPr>
        <p:spPr>
          <a:xfrm>
            <a:off x="7543800" y="1828800"/>
            <a:ext cx="2286000" cy="1143000"/>
          </a:xfrm>
          <a:prstGeom prst="rect">
            <a:avLst/>
          </a:prstGeom>
          <a:noFill/>
          <a:ln/>
        </p:spPr>
        <p:txBody>
          <a:bodyPr wrap="square" lIns="0" tIns="0" rIns="0" bIns="0" rtlCol="0" anchor="ctr"/>
          <a:lstStyle/>
          <a:p>
            <a:pPr indent="0" marL="0">
              <a:buNone/>
            </a:pPr>
            <a:r>
              <a:rPr lang="en-US" sz="3000" b="1" dirty="0">
                <a:solidFill>
                  <a:srgbClr val="2A9D8F"/>
                </a:solidFill>
                <a:latin typeface="Cambria" pitchFamily="34" charset="0"/>
                <a:ea typeface="Cambria" pitchFamily="34" charset="-122"/>
                <a:cs typeface="Cambria" pitchFamily="34" charset="-120"/>
              </a:rPr>
              <a:t>10.5 ms</a:t>
            </a:r>
            <a:endParaRPr lang="en-US" sz="3000" dirty="0"/>
          </a:p>
        </p:txBody>
      </p:sp>
      <p:sp>
        <p:nvSpPr>
          <p:cNvPr id="11" name="Text 9"/>
          <p:cNvSpPr txBox="1"/>
          <p:nvPr/>
        </p:nvSpPr>
        <p:spPr>
          <a:xfrm>
            <a:off x="9829800" y="1828800"/>
            <a:ext cx="1737360" cy="1143000"/>
          </a:xfrm>
          <a:prstGeom prst="rect">
            <a:avLst/>
          </a:prstGeom>
          <a:noFill/>
          <a:ln/>
        </p:spPr>
        <p:txBody>
          <a:bodyPr wrap="square" lIns="0" tIns="0" rIns="0" bIns="0" rtlCol="0" anchor="ctr"/>
          <a:lstStyle/>
          <a:p>
            <a:pPr indent="0" marL="0">
              <a:buNone/>
            </a:pPr>
            <a:r>
              <a:rPr lang="en-US" sz="1400" dirty="0">
                <a:solidFill>
                  <a:schemeClr val="tx1"/>
                </a:solidFill>
              </a:rPr>
              <a:t>TF-IDF + LogReg</a:t>
            </a:r>
            <a:endParaRPr lang="en-US" sz="1400" dirty="0"/>
          </a:p>
        </p:txBody>
      </p:sp>
      <p:sp>
        <p:nvSpPr>
          <p:cNvPr id="12" name="card"/>
          <p:cNvSpPr/>
          <p:nvPr/>
        </p:nvSpPr>
        <p:spPr>
          <a:xfrm>
            <a:off x="7315200" y="3108960"/>
            <a:ext cx="4343400" cy="1143000"/>
          </a:xfrm>
          <a:prstGeom prst="roundRect">
            <a:avLst>
              <a:gd name="adj" fmla="val 9600"/>
            </a:avLst>
          </a:prstGeom>
          <a:solidFill>
            <a:schemeClr val="bg2"/>
          </a:solidFill>
          <a:ln w="12700">
            <a:solidFill>
              <a:schemeClr val="bg2"/>
            </a:solidFill>
            <a:prstDash val="solid"/>
          </a:ln>
        </p:spPr>
      </p:sp>
      <p:sp>
        <p:nvSpPr>
          <p:cNvPr id="13" name="Text 11"/>
          <p:cNvSpPr txBox="1"/>
          <p:nvPr/>
        </p:nvSpPr>
        <p:spPr>
          <a:xfrm>
            <a:off x="7543800" y="3108960"/>
            <a:ext cx="2286000" cy="1143000"/>
          </a:xfrm>
          <a:prstGeom prst="rect">
            <a:avLst/>
          </a:prstGeom>
          <a:noFill/>
          <a:ln/>
        </p:spPr>
        <p:txBody>
          <a:bodyPr wrap="square" lIns="0" tIns="0" rIns="0" bIns="0" rtlCol="0" anchor="ctr"/>
          <a:lstStyle/>
          <a:p>
            <a:pPr indent="0" marL="0">
              <a:buNone/>
            </a:pPr>
            <a:r>
              <a:rPr lang="en-US" sz="3000" b="1" dirty="0">
                <a:solidFill>
                  <a:srgbClr val="2A9D8F"/>
                </a:solidFill>
                <a:latin typeface="Cambria" pitchFamily="34" charset="0"/>
                <a:ea typeface="Cambria" pitchFamily="34" charset="-122"/>
                <a:cs typeface="Cambria" pitchFamily="34" charset="-120"/>
              </a:rPr>
              <a:t>11.7 ms</a:t>
            </a:r>
            <a:endParaRPr lang="en-US" sz="3000" dirty="0"/>
          </a:p>
        </p:txBody>
      </p:sp>
      <p:sp>
        <p:nvSpPr>
          <p:cNvPr id="14" name="Text 12"/>
          <p:cNvSpPr txBox="1"/>
          <p:nvPr/>
        </p:nvSpPr>
        <p:spPr>
          <a:xfrm>
            <a:off x="9829800" y="3108960"/>
            <a:ext cx="1737360" cy="1143000"/>
          </a:xfrm>
          <a:prstGeom prst="rect">
            <a:avLst/>
          </a:prstGeom>
          <a:noFill/>
          <a:ln/>
        </p:spPr>
        <p:txBody>
          <a:bodyPr wrap="square" lIns="0" tIns="0" rIns="0" bIns="0" rtlCol="0" anchor="ctr"/>
          <a:lstStyle/>
          <a:p>
            <a:pPr indent="0" marL="0">
              <a:buNone/>
            </a:pPr>
            <a:r>
              <a:rPr lang="en-US" sz="1400" dirty="0">
                <a:solidFill>
                  <a:schemeClr val="tx1"/>
                </a:solidFill>
              </a:rPr>
              <a:t>BiLSTM</a:t>
            </a:r>
            <a:endParaRPr lang="en-US" sz="1400" dirty="0"/>
          </a:p>
        </p:txBody>
      </p:sp>
      <p:sp>
        <p:nvSpPr>
          <p:cNvPr id="15" name="card"/>
          <p:cNvSpPr/>
          <p:nvPr/>
        </p:nvSpPr>
        <p:spPr>
          <a:xfrm>
            <a:off x="7315200" y="4389120"/>
            <a:ext cx="4343400" cy="1143000"/>
          </a:xfrm>
          <a:prstGeom prst="roundRect">
            <a:avLst>
              <a:gd name="adj" fmla="val 9600"/>
            </a:avLst>
          </a:prstGeom>
          <a:solidFill>
            <a:schemeClr val="bg2"/>
          </a:solidFill>
          <a:ln w="12700">
            <a:solidFill>
              <a:schemeClr val="bg2"/>
            </a:solidFill>
            <a:prstDash val="solid"/>
          </a:ln>
        </p:spPr>
      </p:sp>
      <p:sp>
        <p:nvSpPr>
          <p:cNvPr id="16" name="Text 14"/>
          <p:cNvSpPr txBox="1"/>
          <p:nvPr/>
        </p:nvSpPr>
        <p:spPr>
          <a:xfrm>
            <a:off x="7543800" y="4389120"/>
            <a:ext cx="2286000" cy="1143000"/>
          </a:xfrm>
          <a:prstGeom prst="rect">
            <a:avLst/>
          </a:prstGeom>
          <a:noFill/>
          <a:ln/>
        </p:spPr>
        <p:txBody>
          <a:bodyPr wrap="square" lIns="0" tIns="0" rIns="0" bIns="0" rtlCol="0" anchor="ctr"/>
          <a:lstStyle/>
          <a:p>
            <a:pPr indent="0" marL="0">
              <a:buNone/>
            </a:pPr>
            <a:r>
              <a:rPr lang="en-US" sz="3000" b="1" dirty="0">
                <a:solidFill>
                  <a:srgbClr val="4F63D2"/>
                </a:solidFill>
                <a:latin typeface="Cambria" pitchFamily="34" charset="0"/>
                <a:ea typeface="Cambria" pitchFamily="34" charset="-122"/>
                <a:cs typeface="Cambria" pitchFamily="34" charset="-120"/>
              </a:rPr>
              <a:t>124.5 ms</a:t>
            </a:r>
            <a:endParaRPr lang="en-US" sz="3000" dirty="0"/>
          </a:p>
        </p:txBody>
      </p:sp>
      <p:sp>
        <p:nvSpPr>
          <p:cNvPr id="17" name="Text 15"/>
          <p:cNvSpPr txBox="1"/>
          <p:nvPr/>
        </p:nvSpPr>
        <p:spPr>
          <a:xfrm>
            <a:off x="9829800" y="4389120"/>
            <a:ext cx="1737360" cy="1143000"/>
          </a:xfrm>
          <a:prstGeom prst="rect">
            <a:avLst/>
          </a:prstGeom>
          <a:noFill/>
          <a:ln/>
        </p:spPr>
        <p:txBody>
          <a:bodyPr wrap="square" lIns="0" tIns="0" rIns="0" bIns="0" rtlCol="0" anchor="ctr"/>
          <a:lstStyle/>
          <a:p>
            <a:pPr indent="0" marL="0">
              <a:buNone/>
            </a:pPr>
            <a:r>
              <a:rPr lang="en-US" sz="1400" dirty="0">
                <a:solidFill>
                  <a:schemeClr val="tx1"/>
                </a:solidFill>
              </a:rPr>
              <a:t>MuRIL transformer</a:t>
            </a:r>
            <a:endParaRPr lang="en-US" sz="1400" dirty="0"/>
          </a:p>
        </p:txBody>
      </p:sp>
      <p:sp>
        <p:nvSpPr>
          <p:cNvPr id="18" name="Text 16"/>
          <p:cNvSpPr txBox="1"/>
          <p:nvPr/>
        </p:nvSpPr>
        <p:spPr>
          <a:xfrm>
            <a:off x="7315200" y="5669280"/>
            <a:ext cx="4343400" cy="548640"/>
          </a:xfrm>
          <a:prstGeom prst="rect">
            <a:avLst/>
          </a:prstGeom>
          <a:noFill/>
          <a:ln/>
        </p:spPr>
        <p:txBody>
          <a:bodyPr wrap="square" lIns="0" tIns="0" rIns="0" bIns="0" rtlCol="0" anchor="ctr"/>
          <a:lstStyle/>
          <a:p>
            <a:pPr indent="0" marL="0">
              <a:buNone/>
            </a:pPr>
            <a:r>
              <a:rPr lang="en-US" sz="1300" dirty="0">
                <a:solidFill>
                  <a:schemeClr val="accent5"/>
                </a:solidFill>
              </a:rPr>
              <a:t>End-to-end HTTP time for all three heads, without explanations.</a:t>
            </a:r>
            <a:endParaRPr lang="en-US" sz="13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ection-number"/>
          <p:cNvSpPr/>
          <p:nvPr/>
        </p:nvSpPr>
        <p:spPr>
          <a:xfrm>
            <a:off x="502920" y="2606040"/>
            <a:ext cx="777240" cy="777240"/>
          </a:xfrm>
          <a:prstGeom prst="ellipse">
            <a:avLst/>
          </a:prstGeom>
          <a:solidFill>
            <a:schemeClr val="accent1"/>
          </a:solidFill>
          <a:ln w="12700">
            <a:solidFill>
              <a:schemeClr val="accent1"/>
            </a:solidFill>
            <a:prstDash val="solid"/>
          </a:ln>
        </p:spPr>
      </p:sp>
      <p:sp>
        <p:nvSpPr>
          <p:cNvPr id="3" name="Text 1"/>
          <p:cNvSpPr txBox="1"/>
          <p:nvPr/>
        </p:nvSpPr>
        <p:spPr>
          <a:xfrm>
            <a:off x="502920" y="2606040"/>
            <a:ext cx="777240" cy="777240"/>
          </a:xfrm>
          <a:prstGeom prst="rect">
            <a:avLst/>
          </a:prstGeom>
          <a:noFill/>
          <a:ln/>
        </p:spPr>
        <p:txBody>
          <a:bodyPr wrap="square" lIns="0" tIns="0" rIns="0" bIns="0" rtlCol="0" anchor="ctr"/>
          <a:lstStyle/>
          <a:p>
            <a:pPr algn="ctr" indent="0" marL="0">
              <a:buNone/>
            </a:pPr>
            <a:r>
              <a:rPr lang="en-US" sz="2800" b="1" dirty="0">
                <a:solidFill>
                  <a:schemeClr val="bg1"/>
                </a:solidFill>
                <a:latin typeface="Cambria" pitchFamily="34" charset="0"/>
                <a:ea typeface="Cambria" pitchFamily="34" charset="-122"/>
                <a:cs typeface="Cambria" pitchFamily="34" charset="-120"/>
              </a:rPr>
              <a:t>3</a:t>
            </a:r>
            <a:endParaRPr lang="en-US" sz="2800" dirty="0"/>
          </a:p>
        </p:txBody>
      </p:sp>
      <p:sp>
        <p:nvSpPr>
          <p:cNvPr id="4" name="Text 0"/>
          <p:cNvSpPr/>
          <p:nvPr>
            <p:ph idx="100" type="title" hasCustomPrompt="1"/>
          </p:nvPr>
        </p:nvSpPr>
        <p:spPr>
          <a:xfrm>
            <a:off x="1463040" y="2514600"/>
            <a:ext cx="9601200" cy="109728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Results and validation</a:t>
            </a:r>
            <a:endParaRPr lang="en-US" sz="4000" dirty="0"/>
          </a:p>
        </p:txBody>
      </p:sp>
      <p:sp>
        <p:nvSpPr>
          <p:cNvPr id="5" name="Text 0"/>
          <p:cNvSpPr/>
          <p:nvPr>
            <p:ph idx="101" type="body" hasCustomPrompt="1"/>
          </p:nvPr>
        </p:nvSpPr>
        <p:spPr>
          <a:xfrm>
            <a:off x="1463040" y="3611880"/>
            <a:ext cx="9601200" cy="822960"/>
          </a:xfrm>
          <a:prstGeom prst="rect">
            <a:avLst/>
          </a:prstGeom>
          <a:noFill/>
          <a:ln/>
        </p:spPr>
        <p:txBody>
          <a:bodyPr wrap="square" lIns="0" tIns="0" rIns="0" bIns="0" rtlCol="0" anchor="t"/>
          <a:lstStyle/>
          <a:p>
            <a:pPr algn="l" indent="0" marL="0">
              <a:buNone/>
            </a:pPr>
            <a:r>
              <a:rPr lang="en-US" sz="1800" dirty="0">
                <a:solidFill>
                  <a:srgbClr val="C9D6E3"/>
                </a:solidFill>
              </a:rPr>
              <a:t>Test-set results, mean of 3 seeds, with paired bootstrap 95% confidence intervals</a:t>
            </a:r>
            <a:endParaRPr lang="en-US" sz="18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C9D6E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Headline test results</a:t>
            </a:r>
            <a:endParaRPr lang="en-US" sz="3200" dirty="0"/>
          </a:p>
        </p:txBody>
      </p:sp>
      <p:sp>
        <p:nvSpPr>
          <p:cNvPr id="3" name="rubric-chip"/>
          <p:cNvSpPr/>
          <p:nvPr/>
        </p:nvSpPr>
        <p:spPr>
          <a:xfrm>
            <a:off x="9921240" y="502920"/>
            <a:ext cx="173736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921240" y="502920"/>
            <a:ext cx="1737360" cy="411480"/>
          </a:xfrm>
          <a:prstGeom prst="rect">
            <a:avLst/>
          </a:prstGeom>
          <a:noFill/>
          <a:ln/>
        </p:spPr>
        <p:txBody>
          <a:bodyPr wrap="square" lIns="0" tIns="0" rIns="0" bIns="0" rtlCol="0" anchor="ctr"/>
          <a:lstStyle/>
          <a:p>
            <a:pPr algn="ctr" indent="0" marL="0">
              <a:buNone/>
            </a:pPr>
            <a:r>
              <a:rPr lang="en-US" sz="1200" b="1" dirty="0">
                <a:solidFill>
                  <a:schemeClr val="tx2"/>
                </a:solidFill>
              </a:rPr>
              <a:t>Rubric 3</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834640"/>
                <a:gridCol w="1737360"/>
                <a:gridCol w="1645920"/>
                <a:gridCol w="1554480"/>
                <a:gridCol w="1645920"/>
                <a:gridCol w="1645920"/>
              </a:tblGrid>
              <a:tr h="548640">
                <a:tc>
                  <a:txBody>
                    <a:bodyPr/>
                    <a:lstStyle/>
                    <a:p>
                      <a:pPr indent="0" marL="0">
                        <a:buNone/>
                      </a:pPr>
                      <a:r>
                        <a:rPr lang="en-US" sz="1300" b="1" dirty="0">
                          <a:solidFill>
                            <a:srgbClr val="FFFFFF"/>
                          </a:solidFill>
                        </a:rPr>
                        <a:t>Model</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1F3354"/>
                    </a:solidFill>
                  </a:tcPr>
                </a:tc>
                <a:tc>
                  <a:txBody>
                    <a:bodyPr/>
                    <a:lstStyle/>
                    <a:p>
                      <a:pPr indent="0" marL="0">
                        <a:buNone/>
                      </a:pPr>
                      <a:r>
                        <a:rPr lang="en-US" sz="1300" b="1" dirty="0">
                          <a:solidFill>
                            <a:srgbClr val="FFFFFF"/>
                          </a:solidFill>
                        </a:rPr>
                        <a:t>Sentiment macro-F1</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1F3354"/>
                    </a:solidFill>
                  </a:tcPr>
                </a:tc>
                <a:tc>
                  <a:txBody>
                    <a:bodyPr/>
                    <a:lstStyle/>
                    <a:p>
                      <a:pPr indent="0" marL="0">
                        <a:buNone/>
                      </a:pPr>
                      <a:r>
                        <a:rPr lang="en-US" sz="1300" b="1" dirty="0">
                          <a:solidFill>
                            <a:srgbClr val="FFFFFF"/>
                          </a:solidFill>
                        </a:rPr>
                        <a:t>Emotion macro-F1</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1F3354"/>
                    </a:solidFill>
                  </a:tcPr>
                </a:tc>
                <a:tc>
                  <a:txBody>
                    <a:bodyPr/>
                    <a:lstStyle/>
                    <a:p>
                      <a:pPr indent="0" marL="0">
                        <a:buNone/>
                      </a:pPr>
                      <a:r>
                        <a:rPr lang="en-US" sz="1300" b="1" dirty="0">
                          <a:solidFill>
                            <a:srgbClr val="FFFFFF"/>
                          </a:solidFill>
                        </a:rPr>
                        <a:t>Stress F1</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1F3354"/>
                    </a:solidFill>
                  </a:tcPr>
                </a:tc>
                <a:tc>
                  <a:txBody>
                    <a:bodyPr/>
                    <a:lstStyle/>
                    <a:p>
                      <a:pPr indent="0" marL="0">
                        <a:buNone/>
                      </a:pPr>
                      <a:r>
                        <a:rPr lang="en-US" sz="1300" b="1" dirty="0">
                          <a:solidFill>
                            <a:srgbClr val="FFFFFF"/>
                          </a:solidFill>
                        </a:rPr>
                        <a:t>Stress PR-AUC</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1F3354"/>
                    </a:solidFill>
                  </a:tcPr>
                </a:tc>
                <a:tc>
                  <a:txBody>
                    <a:bodyPr/>
                    <a:lstStyle/>
                    <a:p>
                      <a:pPr indent="0" marL="0">
                        <a:buNone/>
                      </a:pPr>
                      <a:r>
                        <a:rPr lang="en-US" sz="1300" b="1" dirty="0">
                          <a:solidFill>
                            <a:srgbClr val="FFFFFF"/>
                          </a:solidFill>
                        </a:rPr>
                        <a:t>Stress ECE</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1F3354"/>
                    </a:solidFill>
                  </a:tcPr>
                </a:tc>
              </a:tr>
              <a:tr h="548640">
                <a:tc>
                  <a:txBody>
                    <a:bodyPr/>
                    <a:lstStyle/>
                    <a:p>
                      <a:pPr indent="0" marL="0">
                        <a:buNone/>
                      </a:pPr>
                      <a:r>
                        <a:rPr lang="en-US" sz="1400" dirty="0">
                          <a:solidFill>
                            <a:srgbClr val="1B2433"/>
                          </a:solidFill>
                        </a:rPr>
                        <a:t>Multi-task MuRIL (baseline)</a:t>
                      </a:r>
                      <a:endParaRPr lang="en-US" sz="14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rPr>
                        <a:t>0.603 ± 0.008</a:t>
                      </a:r>
                      <a:endParaRPr lang="en-US" sz="14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rPr>
                        <a:t>0.684 ± 0.011</a:t>
                      </a:r>
                      <a:endParaRPr lang="en-US" sz="14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rPr>
                        <a:t>0.796 ± 0.014</a:t>
                      </a:r>
                      <a:endParaRPr lang="en-US" sz="14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rPr>
                        <a:t>0.852 ± 0.029</a:t>
                      </a:r>
                      <a:endParaRPr lang="en-US" sz="14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rPr>
                        <a:t>0.035 ± 0.002</a:t>
                      </a:r>
                      <a:endParaRPr lang="en-US" sz="14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B2433"/>
                          </a:solidFill>
                        </a:rPr>
                        <a:t>Single-task MuRIL</a:t>
                      </a:r>
                      <a:endParaRPr lang="en-US" sz="14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400" dirty="0">
                          <a:solidFill>
                            <a:srgbClr val="1B2433"/>
                          </a:solidFill>
                        </a:rPr>
                        <a:t>0.606 ± 0.003</a:t>
                      </a:r>
                      <a:endParaRPr lang="en-US" sz="14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400" dirty="0">
                          <a:solidFill>
                            <a:srgbClr val="1B2433"/>
                          </a:solidFill>
                        </a:rPr>
                        <a:t>0.682 ± 0.002</a:t>
                      </a:r>
                      <a:endParaRPr lang="en-US" sz="14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400" dirty="0">
                          <a:solidFill>
                            <a:srgbClr val="1B2433"/>
                          </a:solidFill>
                        </a:rPr>
                        <a:t>0.799 ± 0.005</a:t>
                      </a:r>
                      <a:endParaRPr lang="en-US" sz="14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400" b="1" dirty="0">
                          <a:solidFill>
                            <a:srgbClr val="3B7D5A"/>
                          </a:solidFill>
                        </a:rPr>
                        <a:t>0.875 ± 0.010</a:t>
                      </a:r>
                      <a:endParaRPr lang="en-US" sz="14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400" dirty="0">
                          <a:solidFill>
                            <a:srgbClr val="1B2433"/>
                          </a:solidFill>
                        </a:rPr>
                        <a:t>0.062 ± 0.023</a:t>
                      </a:r>
                      <a:endParaRPr lang="en-US" sz="14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r>
              <a:tr h="548640">
                <a:tc>
                  <a:txBody>
                    <a:bodyPr/>
                    <a:lstStyle/>
                    <a:p>
                      <a:pPr indent="0" marL="0">
                        <a:buNone/>
                      </a:pPr>
                      <a:r>
                        <a:rPr lang="en-US" sz="1400" dirty="0">
                          <a:solidFill>
                            <a:srgbClr val="1B2433"/>
                          </a:solidFill>
                        </a:rPr>
                        <a:t>Single-task HingRoBERTa</a:t>
                      </a:r>
                      <a:endParaRPr lang="en-US" sz="14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400" b="1" dirty="0">
                          <a:solidFill>
                            <a:srgbClr val="3B7D5A"/>
                          </a:solidFill>
                        </a:rPr>
                        <a:t>0.648 ± 0.013</a:t>
                      </a:r>
                      <a:endParaRPr lang="en-US" sz="14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rPr>
                        <a:t>-</a:t>
                      </a:r>
                      <a:endParaRPr lang="en-US" sz="14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rPr>
                        <a:t>-</a:t>
                      </a:r>
                      <a:endParaRPr lang="en-US" sz="14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rPr>
                        <a:t>-</a:t>
                      </a:r>
                      <a:endParaRPr lang="en-US" sz="14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400" dirty="0">
                          <a:solidFill>
                            <a:srgbClr val="1B2433"/>
                          </a:solidFill>
                        </a:rPr>
                        <a:t>-</a:t>
                      </a:r>
                      <a:endParaRPr lang="en-US" sz="14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r>
            </a:tbl>
          </a:graphicData>
        </a:graphic>
      </p:graphicFrame>
      <p:sp>
        <p:nvSpPr>
          <p:cNvPr id="6" name="card"/>
          <p:cNvSpPr/>
          <p:nvPr/>
        </p:nvSpPr>
        <p:spPr>
          <a:xfrm>
            <a:off x="548640" y="3931920"/>
            <a:ext cx="3566160" cy="1828800"/>
          </a:xfrm>
          <a:prstGeom prst="roundRect">
            <a:avLst>
              <a:gd name="adj" fmla="val 6000"/>
            </a:avLst>
          </a:prstGeom>
          <a:solidFill>
            <a:schemeClr val="bg2"/>
          </a:solidFill>
          <a:ln w="12700">
            <a:solidFill>
              <a:schemeClr val="bg2"/>
            </a:solidFill>
            <a:prstDash val="solid"/>
          </a:ln>
        </p:spPr>
      </p:sp>
      <p:sp>
        <p:nvSpPr>
          <p:cNvPr id="7" name="Text 4"/>
          <p:cNvSpPr txBox="1"/>
          <p:nvPr/>
        </p:nvSpPr>
        <p:spPr>
          <a:xfrm>
            <a:off x="777240" y="4023360"/>
            <a:ext cx="3200400" cy="685800"/>
          </a:xfrm>
          <a:prstGeom prst="rect">
            <a:avLst/>
          </a:prstGeom>
          <a:noFill/>
          <a:ln/>
        </p:spPr>
        <p:txBody>
          <a:bodyPr wrap="square" lIns="0" tIns="0" rIns="0" bIns="0" rtlCol="0" anchor="ctr"/>
          <a:lstStyle/>
          <a:p>
            <a:pPr indent="0" marL="0">
              <a:buNone/>
            </a:pPr>
            <a:r>
              <a:rPr lang="en-US" sz="3600" b="1" dirty="0">
                <a:solidFill>
                  <a:srgbClr val="2A9D8F"/>
                </a:solidFill>
                <a:latin typeface="Cambria" pitchFamily="34" charset="0"/>
                <a:ea typeface="Cambria" pitchFamily="34" charset="-122"/>
                <a:cs typeface="Cambria" pitchFamily="34" charset="-120"/>
              </a:rPr>
              <a:t>+0.056</a:t>
            </a:r>
            <a:endParaRPr lang="en-US" sz="3600" dirty="0"/>
          </a:p>
        </p:txBody>
      </p:sp>
      <p:sp>
        <p:nvSpPr>
          <p:cNvPr id="8" name="Text 5"/>
          <p:cNvSpPr txBox="1"/>
          <p:nvPr/>
        </p:nvSpPr>
        <p:spPr>
          <a:xfrm>
            <a:off x="777240" y="4709160"/>
            <a:ext cx="3200400" cy="685800"/>
          </a:xfrm>
          <a:prstGeom prst="rect">
            <a:avLst/>
          </a:prstGeom>
          <a:noFill/>
          <a:ln/>
        </p:spPr>
        <p:txBody>
          <a:bodyPr wrap="square" lIns="0" tIns="0" rIns="0" bIns="0" rtlCol="0" anchor="t"/>
          <a:lstStyle/>
          <a:p>
            <a:pPr indent="0" marL="0">
              <a:buNone/>
            </a:pPr>
            <a:r>
              <a:rPr lang="en-US" sz="1400" dirty="0">
                <a:solidFill>
                  <a:schemeClr val="tx1"/>
                </a:solidFill>
              </a:rPr>
              <a:t>Hinglish sentiment macro-F1 from HingRoBERTa, 95% CI [+0.032, +0.079]</a:t>
            </a:r>
            <a:endParaRPr lang="en-US" sz="1400" dirty="0"/>
          </a:p>
        </p:txBody>
      </p:sp>
      <p:sp>
        <p:nvSpPr>
          <p:cNvPr id="9" name="card"/>
          <p:cNvSpPr/>
          <p:nvPr/>
        </p:nvSpPr>
        <p:spPr>
          <a:xfrm>
            <a:off x="4297680" y="3931920"/>
            <a:ext cx="3566160" cy="1828800"/>
          </a:xfrm>
          <a:prstGeom prst="roundRect">
            <a:avLst>
              <a:gd name="adj" fmla="val 6000"/>
            </a:avLst>
          </a:prstGeom>
          <a:solidFill>
            <a:schemeClr val="bg2"/>
          </a:solidFill>
          <a:ln w="12700">
            <a:solidFill>
              <a:schemeClr val="bg2"/>
            </a:solidFill>
            <a:prstDash val="solid"/>
          </a:ln>
        </p:spPr>
      </p:sp>
      <p:sp>
        <p:nvSpPr>
          <p:cNvPr id="10" name="Text 7"/>
          <p:cNvSpPr txBox="1"/>
          <p:nvPr/>
        </p:nvSpPr>
        <p:spPr>
          <a:xfrm>
            <a:off x="4526280" y="4023360"/>
            <a:ext cx="3200400" cy="685800"/>
          </a:xfrm>
          <a:prstGeom prst="rect">
            <a:avLst/>
          </a:prstGeom>
          <a:noFill/>
          <a:ln/>
        </p:spPr>
        <p:txBody>
          <a:bodyPr wrap="square" lIns="0" tIns="0" rIns="0" bIns="0" rtlCol="0" anchor="ctr"/>
          <a:lstStyle/>
          <a:p>
            <a:pPr indent="0" marL="0">
              <a:buNone/>
            </a:pPr>
            <a:r>
              <a:rPr lang="en-US" sz="3600" b="1" dirty="0">
                <a:solidFill>
                  <a:srgbClr val="4F63D2"/>
                </a:solidFill>
                <a:latin typeface="Cambria" pitchFamily="34" charset="0"/>
                <a:ea typeface="Cambria" pitchFamily="34" charset="-122"/>
                <a:cs typeface="Cambria" pitchFamily="34" charset="-120"/>
              </a:rPr>
              <a:t>+0.023</a:t>
            </a:r>
            <a:endParaRPr lang="en-US" sz="3600" dirty="0"/>
          </a:p>
        </p:txBody>
      </p:sp>
      <p:sp>
        <p:nvSpPr>
          <p:cNvPr id="11" name="Text 8"/>
          <p:cNvSpPr txBox="1"/>
          <p:nvPr/>
        </p:nvSpPr>
        <p:spPr>
          <a:xfrm>
            <a:off x="4526280" y="4709160"/>
            <a:ext cx="3200400" cy="685800"/>
          </a:xfrm>
          <a:prstGeom prst="rect">
            <a:avLst/>
          </a:prstGeom>
          <a:noFill/>
          <a:ln/>
        </p:spPr>
        <p:txBody>
          <a:bodyPr wrap="square" lIns="0" tIns="0" rIns="0" bIns="0" rtlCol="0" anchor="t"/>
          <a:lstStyle/>
          <a:p>
            <a:pPr indent="0" marL="0">
              <a:buNone/>
            </a:pPr>
            <a:r>
              <a:rPr lang="en-US" sz="1400" dirty="0">
                <a:solidFill>
                  <a:schemeClr val="tx1"/>
                </a:solidFill>
              </a:rPr>
              <a:t>stress PR-AUC from training stress alone, CI [+0.008, +0.038]</a:t>
            </a:r>
            <a:endParaRPr lang="en-US" sz="1400" dirty="0"/>
          </a:p>
        </p:txBody>
      </p:sp>
      <p:sp>
        <p:nvSpPr>
          <p:cNvPr id="12" name="card"/>
          <p:cNvSpPr/>
          <p:nvPr/>
        </p:nvSpPr>
        <p:spPr>
          <a:xfrm>
            <a:off x="8046720" y="3931920"/>
            <a:ext cx="3566160" cy="1828800"/>
          </a:xfrm>
          <a:prstGeom prst="roundRect">
            <a:avLst>
              <a:gd name="adj" fmla="val 6000"/>
            </a:avLst>
          </a:prstGeom>
          <a:solidFill>
            <a:schemeClr val="bg2"/>
          </a:solidFill>
          <a:ln w="12700">
            <a:solidFill>
              <a:schemeClr val="bg2"/>
            </a:solidFill>
            <a:prstDash val="solid"/>
          </a:ln>
        </p:spPr>
      </p:sp>
      <p:sp>
        <p:nvSpPr>
          <p:cNvPr id="13" name="Text 10"/>
          <p:cNvSpPr txBox="1"/>
          <p:nvPr/>
        </p:nvSpPr>
        <p:spPr>
          <a:xfrm>
            <a:off x="8275320" y="4023360"/>
            <a:ext cx="3200400" cy="685800"/>
          </a:xfrm>
          <a:prstGeom prst="rect">
            <a:avLst/>
          </a:prstGeom>
          <a:noFill/>
          <a:ln/>
        </p:spPr>
        <p:txBody>
          <a:bodyPr wrap="square" lIns="0" tIns="0" rIns="0" bIns="0" rtlCol="0" anchor="ctr"/>
          <a:lstStyle/>
          <a:p>
            <a:pPr indent="0" marL="0">
              <a:buNone/>
            </a:pPr>
            <a:r>
              <a:rPr lang="en-US" sz="3600" b="1" dirty="0">
                <a:solidFill>
                  <a:srgbClr val="C8475A"/>
                </a:solidFill>
                <a:latin typeface="Cambria" pitchFamily="34" charset="0"/>
                <a:ea typeface="Cambria" pitchFamily="34" charset="-122"/>
                <a:cs typeface="Cambria" pitchFamily="34" charset="-120"/>
              </a:rPr>
              <a:t>0</a:t>
            </a:r>
            <a:endParaRPr lang="en-US" sz="3600" dirty="0"/>
          </a:p>
        </p:txBody>
      </p:sp>
      <p:sp>
        <p:nvSpPr>
          <p:cNvPr id="14" name="Text 11"/>
          <p:cNvSpPr txBox="1"/>
          <p:nvPr/>
        </p:nvSpPr>
        <p:spPr>
          <a:xfrm>
            <a:off x="8275320" y="4709160"/>
            <a:ext cx="3200400" cy="685800"/>
          </a:xfrm>
          <a:prstGeom prst="rect">
            <a:avLst/>
          </a:prstGeom>
          <a:noFill/>
          <a:ln/>
        </p:spPr>
        <p:txBody>
          <a:bodyPr wrap="square" lIns="0" tIns="0" rIns="0" bIns="0" rtlCol="0" anchor="t"/>
          <a:lstStyle/>
          <a:p>
            <a:pPr indent="0" marL="0">
              <a:buNone/>
            </a:pPr>
            <a:r>
              <a:rPr lang="en-US" sz="1400" dirty="0">
                <a:solidFill>
                  <a:schemeClr val="tx1"/>
                </a:solidFill>
              </a:rPr>
              <a:t>tasks that gained from multi-task sharing</a:t>
            </a:r>
            <a:endParaRPr lang="en-US" sz="14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Hinglish pre-training narrows the gap</a:t>
            </a:r>
            <a:endParaRPr lang="en-US" sz="3200" dirty="0"/>
          </a:p>
        </p:txBody>
      </p:sp>
      <p:sp>
        <p:nvSpPr>
          <p:cNvPr id="3" name="rubric-chip"/>
          <p:cNvSpPr/>
          <p:nvPr/>
        </p:nvSpPr>
        <p:spPr>
          <a:xfrm>
            <a:off x="9921240" y="502920"/>
            <a:ext cx="173736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921240" y="502920"/>
            <a:ext cx="1737360" cy="411480"/>
          </a:xfrm>
          <a:prstGeom prst="rect">
            <a:avLst/>
          </a:prstGeom>
          <a:noFill/>
          <a:ln/>
        </p:spPr>
        <p:txBody>
          <a:bodyPr wrap="square" lIns="0" tIns="0" rIns="0" bIns="0" rtlCol="0" anchor="ctr"/>
          <a:lstStyle/>
          <a:p>
            <a:pPr algn="ctr" indent="0" marL="0">
              <a:buNone/>
            </a:pPr>
            <a:r>
              <a:rPr lang="en-US" sz="1200" b="1" dirty="0">
                <a:solidFill>
                  <a:schemeClr val="tx2"/>
                </a:solidFill>
              </a:rPr>
              <a:t>Rubric 3</a:t>
            </a:r>
            <a:endParaRPr lang="en-US" sz="1200" dirty="0"/>
          </a:p>
        </p:txBody>
      </p:sp>
      <p:graphicFrame>
        <p:nvGraphicFramePr>
          <p:cNvPr id="5" name="Chart 0" descr=""/>
          <p:cNvGraphicFramePr/>
          <p:nvPr/>
        </p:nvGraphicFramePr>
        <p:xfrm>
          <a:off x="548640" y="128016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7863840" y="1325880"/>
            <a:ext cx="3794760" cy="4754880"/>
          </a:xfrm>
          <a:prstGeom prst="roundRect">
            <a:avLst>
              <a:gd name="adj" fmla="val 2892"/>
            </a:avLst>
          </a:prstGeom>
          <a:solidFill>
            <a:schemeClr val="bg2"/>
          </a:solidFill>
          <a:ln w="12700">
            <a:solidFill>
              <a:schemeClr val="bg2"/>
            </a:solidFill>
            <a:prstDash val="solid"/>
          </a:ln>
        </p:spPr>
      </p:sp>
      <p:sp>
        <p:nvSpPr>
          <p:cNvPr id="7" name="Text 4"/>
          <p:cNvSpPr txBox="1"/>
          <p:nvPr/>
        </p:nvSpPr>
        <p:spPr>
          <a:xfrm>
            <a:off x="8092440" y="1508760"/>
            <a:ext cx="3383280" cy="448056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Hinglish: 0.556 to 0.611, +0.056 [+0.032, +0.079].</a:t>
            </a:r>
            <a:endParaRPr lang="en-US" sz="1500" dirty="0"/>
          </a:p>
          <a:p>
            <a:pPr marL="228600" indent="-228600">
              <a:spcAft>
                <a:spcPts val="800"/>
              </a:spcAft>
              <a:buSzPct val="100000"/>
              <a:buChar char="•"/>
            </a:pPr>
            <a:r>
              <a:rPr lang="en-US" sz="1500" dirty="0">
                <a:solidFill>
                  <a:schemeClr val="tx1"/>
                </a:solidFill>
              </a:rPr>
              <a:t>Gains on both Hinglish sources: tweets +0.054, YouTube +0.071.</a:t>
            </a:r>
            <a:endParaRPr lang="en-US" sz="1500" dirty="0"/>
          </a:p>
          <a:p>
            <a:pPr marL="228600" indent="-228600">
              <a:spcAft>
                <a:spcPts val="800"/>
              </a:spcAft>
              <a:buSzPct val="100000"/>
              <a:buChar char="•"/>
            </a:pPr>
            <a:r>
              <a:rPr lang="en-US" sz="1500" dirty="0">
                <a:solidFill>
                  <a:schemeClr val="tx1"/>
                </a:solidFill>
              </a:rPr>
              <a:t>English unchanged: +0.020 [-0.002, +0.044].</a:t>
            </a:r>
            <a:endParaRPr lang="en-US" sz="1500" dirty="0"/>
          </a:p>
          <a:p>
            <a:pPr marL="228600" indent="-228600">
              <a:spcAft>
                <a:spcPts val="800"/>
              </a:spcAft>
              <a:buSzPct val="100000"/>
              <a:buChar char="•"/>
            </a:pPr>
            <a:r>
              <a:rPr lang="en-US" sz="1500" dirty="0">
                <a:solidFill>
                  <a:schemeClr val="tx1"/>
                </a:solidFill>
              </a:rPr>
              <a:t>English to Hinglish gap: 0.128 to 0.093.</a:t>
            </a:r>
            <a:endParaRPr lang="en-US" sz="1500" dirty="0"/>
          </a:p>
          <a:p>
            <a:pPr marL="228600" indent="-228600">
              <a:spcAft>
                <a:spcPts val="800"/>
              </a:spcAft>
              <a:buSzPct val="100000"/>
              <a:buChar char="•"/>
            </a:pPr>
            <a:r>
              <a:rPr lang="en-US" sz="1500" dirty="0">
                <a:solidFill>
                  <a:schemeClr val="tx1"/>
                </a:solidFill>
              </a:rPr>
              <a:t>Contamination check: 0 test texts found in HingRoBERTa's 52.9 M-line pre-training corpus.</a:t>
            </a:r>
            <a:endParaRPr lang="en-US" sz="15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Multi-task sharing did not help</a:t>
            </a:r>
            <a:endParaRPr lang="en-US" sz="3200" dirty="0"/>
          </a:p>
        </p:txBody>
      </p:sp>
      <p:sp>
        <p:nvSpPr>
          <p:cNvPr id="3" name="rubric-chip"/>
          <p:cNvSpPr/>
          <p:nvPr/>
        </p:nvSpPr>
        <p:spPr>
          <a:xfrm>
            <a:off x="9921240" y="502920"/>
            <a:ext cx="173736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921240" y="502920"/>
            <a:ext cx="1737360" cy="411480"/>
          </a:xfrm>
          <a:prstGeom prst="rect">
            <a:avLst/>
          </a:prstGeom>
          <a:noFill/>
          <a:ln/>
        </p:spPr>
        <p:txBody>
          <a:bodyPr wrap="square" lIns="0" tIns="0" rIns="0" bIns="0" rtlCol="0" anchor="ctr"/>
          <a:lstStyle/>
          <a:p>
            <a:pPr algn="ctr" indent="0" marL="0">
              <a:buNone/>
            </a:pPr>
            <a:r>
              <a:rPr lang="en-US" sz="1200" b="1" dirty="0">
                <a:solidFill>
                  <a:schemeClr val="tx2"/>
                </a:solidFill>
              </a:rPr>
              <a:t>Rubric 3</a:t>
            </a:r>
            <a:endParaRPr lang="en-US" sz="1200" dirty="0"/>
          </a:p>
        </p:txBody>
      </p:sp>
      <p:graphicFrame>
        <p:nvGraphicFramePr>
          <p:cNvPr id="5" name="Chart 0" descr=""/>
          <p:cNvGraphicFramePr/>
          <p:nvPr/>
        </p:nvGraphicFramePr>
        <p:xfrm>
          <a:off x="548640" y="1280160"/>
          <a:ext cx="6766560" cy="484632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7680960" y="1325880"/>
            <a:ext cx="3977640" cy="2331720"/>
          </a:xfrm>
          <a:prstGeom prst="roundRect">
            <a:avLst>
              <a:gd name="adj" fmla="val 4706"/>
            </a:avLst>
          </a:prstGeom>
          <a:solidFill>
            <a:schemeClr val="bg2"/>
          </a:solidFill>
          <a:ln w="12700">
            <a:solidFill>
              <a:schemeClr val="bg2"/>
            </a:solidFill>
            <a:prstDash val="solid"/>
          </a:ln>
        </p:spPr>
      </p:sp>
      <p:sp>
        <p:nvSpPr>
          <p:cNvPr id="7" name="Text 4"/>
          <p:cNvSpPr txBox="1"/>
          <p:nvPr/>
        </p:nvSpPr>
        <p:spPr>
          <a:xfrm>
            <a:off x="7909560" y="1417320"/>
            <a:ext cx="3566160" cy="365760"/>
          </a:xfrm>
          <a:prstGeom prst="rect">
            <a:avLst/>
          </a:prstGeom>
          <a:noFill/>
          <a:ln/>
        </p:spPr>
        <p:txBody>
          <a:bodyPr wrap="square" lIns="0" tIns="0" rIns="0" bIns="0" rtlCol="0" anchor="ctr"/>
          <a:lstStyle/>
          <a:p>
            <a:pPr indent="0" marL="0">
              <a:buNone/>
            </a:pPr>
            <a:r>
              <a:rPr lang="en-US" sz="1700" b="1" dirty="0">
                <a:solidFill>
                  <a:schemeClr val="tx2"/>
                </a:solidFill>
              </a:rPr>
              <a:t>Sharing</a:t>
            </a:r>
            <a:endParaRPr lang="en-US" sz="1700" dirty="0"/>
          </a:p>
        </p:txBody>
      </p:sp>
      <p:sp>
        <p:nvSpPr>
          <p:cNvPr id="8" name="Text 5"/>
          <p:cNvSpPr txBox="1"/>
          <p:nvPr/>
        </p:nvSpPr>
        <p:spPr>
          <a:xfrm>
            <a:off x="7909560" y="1828800"/>
            <a:ext cx="3566160" cy="1737360"/>
          </a:xfrm>
          <a:prstGeom prst="rect">
            <a:avLst/>
          </a:prstGeom>
          <a:noFill/>
          <a:ln/>
        </p:spPr>
        <p:txBody>
          <a:bodyPr wrap="square" lIns="0" tIns="0" rIns="0" bIns="0" rtlCol="0" anchor="t"/>
          <a:lstStyle/>
          <a:p>
            <a:pPr indent="0" marL="0">
              <a:buNone/>
            </a:pPr>
            <a:r>
              <a:rPr lang="en-US" sz="1400" dirty="0">
                <a:solidFill>
                  <a:schemeClr val="tx1"/>
                </a:solidFill>
              </a:rPr>
              <a:t>Only stress PR-AUC changed significantly: -0.023 [-0.038, -0.008]. The three datasets come from different platforms and annotators, so the tasks interfere.</a:t>
            </a:r>
            <a:endParaRPr lang="en-US" sz="1400" dirty="0"/>
          </a:p>
        </p:txBody>
      </p:sp>
      <p:sp>
        <p:nvSpPr>
          <p:cNvPr id="9" name="card"/>
          <p:cNvSpPr/>
          <p:nvPr/>
        </p:nvSpPr>
        <p:spPr>
          <a:xfrm>
            <a:off x="7680960" y="3794760"/>
            <a:ext cx="3977640" cy="2286000"/>
          </a:xfrm>
          <a:prstGeom prst="roundRect">
            <a:avLst>
              <a:gd name="adj" fmla="val 4800"/>
            </a:avLst>
          </a:prstGeom>
          <a:solidFill>
            <a:srgbClr val="FCEFD9"/>
          </a:solidFill>
          <a:ln w="12700">
            <a:solidFill>
              <a:srgbClr val="FCEFD9"/>
            </a:solidFill>
            <a:prstDash val="solid"/>
          </a:ln>
        </p:spPr>
      </p:sp>
      <p:sp>
        <p:nvSpPr>
          <p:cNvPr id="10" name="Text 7"/>
          <p:cNvSpPr txBox="1"/>
          <p:nvPr/>
        </p:nvSpPr>
        <p:spPr>
          <a:xfrm>
            <a:off x="7909560" y="3886200"/>
            <a:ext cx="3566160" cy="365760"/>
          </a:xfrm>
          <a:prstGeom prst="rect">
            <a:avLst/>
          </a:prstGeom>
          <a:noFill/>
          <a:ln/>
        </p:spPr>
        <p:txBody>
          <a:bodyPr wrap="square" lIns="0" tIns="0" rIns="0" bIns="0" rtlCol="0" anchor="ctr"/>
          <a:lstStyle/>
          <a:p>
            <a:pPr indent="0" marL="0">
              <a:buNone/>
            </a:pPr>
            <a:r>
              <a:rPr lang="en-US" sz="1700" b="1" dirty="0">
                <a:solidFill>
                  <a:schemeClr val="tx2"/>
                </a:solidFill>
              </a:rPr>
              <a:t>Negative result: longer input</a:t>
            </a:r>
            <a:endParaRPr lang="en-US" sz="1700" dirty="0"/>
          </a:p>
        </p:txBody>
      </p:sp>
      <p:sp>
        <p:nvSpPr>
          <p:cNvPr id="11" name="Text 8"/>
          <p:cNvSpPr txBox="1"/>
          <p:nvPr/>
        </p:nvSpPr>
        <p:spPr>
          <a:xfrm>
            <a:off x="7909560" y="4297680"/>
            <a:ext cx="3566160" cy="1691640"/>
          </a:xfrm>
          <a:prstGeom prst="rect">
            <a:avLst/>
          </a:prstGeom>
          <a:noFill/>
          <a:ln/>
        </p:spPr>
        <p:txBody>
          <a:bodyPr wrap="square" lIns="0" tIns="0" rIns="0" bIns="0" rtlCol="0" anchor="t"/>
          <a:lstStyle/>
          <a:p>
            <a:pPr indent="0" marL="0">
              <a:buNone/>
            </a:pPr>
            <a:r>
              <a:rPr lang="en-US" sz="1400" dirty="0">
                <a:solidFill>
                  <a:schemeClr val="tx1"/>
                </a:solidFill>
              </a:rPr>
              <a:t>Head+tail 256 tokens lowered validation macro-F1 by 0.020 [-0.037, -0.003]. Plain 256 tokens made no difference. Neither went to test.</a:t>
            </a:r>
            <a:endParaRPr lang="en-US" sz="14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Reliability: abstention and explanations</a:t>
            </a:r>
            <a:endParaRPr lang="en-US" sz="3200" dirty="0"/>
          </a:p>
        </p:txBody>
      </p:sp>
      <p:sp>
        <p:nvSpPr>
          <p:cNvPr id="3" name="rubric-chip"/>
          <p:cNvSpPr/>
          <p:nvPr/>
        </p:nvSpPr>
        <p:spPr>
          <a:xfrm>
            <a:off x="9921240" y="502920"/>
            <a:ext cx="173736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921240" y="502920"/>
            <a:ext cx="1737360" cy="411480"/>
          </a:xfrm>
          <a:prstGeom prst="rect">
            <a:avLst/>
          </a:prstGeom>
          <a:noFill/>
          <a:ln/>
        </p:spPr>
        <p:txBody>
          <a:bodyPr wrap="square" lIns="0" tIns="0" rIns="0" bIns="0" rtlCol="0" anchor="ctr"/>
          <a:lstStyle/>
          <a:p>
            <a:pPr algn="ctr" indent="0" marL="0">
              <a:buNone/>
            </a:pPr>
            <a:r>
              <a:rPr lang="en-US" sz="1200" b="1" dirty="0">
                <a:solidFill>
                  <a:schemeClr val="tx2"/>
                </a:solidFill>
              </a:rPr>
              <a:t>Rubric 3</a:t>
            </a:r>
            <a:endParaRPr lang="en-US" sz="1200" dirty="0"/>
          </a:p>
        </p:txBody>
      </p:sp>
      <p:sp>
        <p:nvSpPr>
          <p:cNvPr id="5" name="card"/>
          <p:cNvSpPr/>
          <p:nvPr/>
        </p:nvSpPr>
        <p:spPr>
          <a:xfrm>
            <a:off x="548640" y="1325880"/>
            <a:ext cx="4846320" cy="4754880"/>
          </a:xfrm>
          <a:prstGeom prst="roundRect">
            <a:avLst>
              <a:gd name="adj" fmla="val 2308"/>
            </a:avLst>
          </a:prstGeom>
          <a:solidFill>
            <a:schemeClr val="bg2"/>
          </a:solidFill>
          <a:ln w="12700">
            <a:solidFill>
              <a:schemeClr val="bg2"/>
            </a:solidFill>
            <a:prstDash val="solid"/>
          </a:ln>
        </p:spPr>
      </p:sp>
      <p:sp>
        <p:nvSpPr>
          <p:cNvPr id="6" name="Text 4"/>
          <p:cNvSpPr txBox="1"/>
          <p:nvPr/>
        </p:nvSpPr>
        <p:spPr>
          <a:xfrm>
            <a:off x="777240" y="1417320"/>
            <a:ext cx="4480560" cy="411480"/>
          </a:xfrm>
          <a:prstGeom prst="rect">
            <a:avLst/>
          </a:prstGeom>
          <a:noFill/>
          <a:ln/>
        </p:spPr>
        <p:txBody>
          <a:bodyPr wrap="square" lIns="0" tIns="0" rIns="0" bIns="0" rtlCol="0" anchor="ctr"/>
          <a:lstStyle/>
          <a:p>
            <a:pPr indent="0" marL="0">
              <a:buNone/>
            </a:pPr>
            <a:r>
              <a:rPr lang="en-US" sz="1700" b="1" dirty="0">
                <a:solidFill>
                  <a:schemeClr val="tx2"/>
                </a:solidFill>
              </a:rPr>
              <a:t>Abstain on low-confidence inputs</a:t>
            </a:r>
            <a:endParaRPr lang="en-US" sz="1700" dirty="0"/>
          </a:p>
        </p:txBody>
      </p:sp>
      <p:sp>
        <p:nvSpPr>
          <p:cNvPr id="7" name="Text 5"/>
          <p:cNvSpPr txBox="1"/>
          <p:nvPr/>
        </p:nvSpPr>
        <p:spPr>
          <a:xfrm>
            <a:off x="777240" y="1920240"/>
            <a:ext cx="4480560" cy="685800"/>
          </a:xfrm>
          <a:prstGeom prst="rect">
            <a:avLst/>
          </a:prstGeom>
          <a:noFill/>
          <a:ln/>
        </p:spPr>
        <p:txBody>
          <a:bodyPr wrap="square" lIns="0" tIns="0" rIns="0" bIns="0" rtlCol="0" anchor="ctr"/>
          <a:lstStyle/>
          <a:p>
            <a:pPr indent="0" marL="0">
              <a:buNone/>
            </a:pPr>
            <a:r>
              <a:rPr lang="en-US" sz="3600" b="1" dirty="0">
                <a:solidFill>
                  <a:srgbClr val="2A9D8F"/>
                </a:solidFill>
                <a:latin typeface="Cambria" pitchFamily="34" charset="0"/>
                <a:ea typeface="Cambria" pitchFamily="34" charset="-122"/>
                <a:cs typeface="Cambria" pitchFamily="34" charset="-120"/>
              </a:rPr>
              <a:t>0.783 to 0.828</a:t>
            </a:r>
            <a:endParaRPr lang="en-US" sz="3600" dirty="0"/>
          </a:p>
        </p:txBody>
      </p:sp>
      <p:sp>
        <p:nvSpPr>
          <p:cNvPr id="8" name="Text 6"/>
          <p:cNvSpPr txBox="1"/>
          <p:nvPr/>
        </p:nvSpPr>
        <p:spPr>
          <a:xfrm>
            <a:off x="777240" y="2606040"/>
            <a:ext cx="4480560" cy="685800"/>
          </a:xfrm>
          <a:prstGeom prst="rect">
            <a:avLst/>
          </a:prstGeom>
          <a:noFill/>
          <a:ln/>
        </p:spPr>
        <p:txBody>
          <a:bodyPr wrap="square" lIns="0" tIns="0" rIns="0" bIns="0" rtlCol="0" anchor="t"/>
          <a:lstStyle/>
          <a:p>
            <a:pPr indent="0" marL="0">
              <a:buNone/>
            </a:pPr>
            <a:r>
              <a:rPr lang="en-US" sz="1400" dirty="0">
                <a:solidFill>
                  <a:schemeClr val="tx1"/>
                </a:solidFill>
              </a:rPr>
              <a:t>stress macro-F1 on the 83% of inputs the model answers</a:t>
            </a:r>
            <a:endParaRPr lang="en-US" sz="1400" dirty="0"/>
          </a:p>
        </p:txBody>
      </p:sp>
      <p:sp>
        <p:nvSpPr>
          <p:cNvPr id="9" name="Text 7"/>
          <p:cNvSpPr txBox="1"/>
          <p:nvPr/>
        </p:nvSpPr>
        <p:spPr>
          <a:xfrm>
            <a:off x="777240" y="3429000"/>
            <a:ext cx="4480560" cy="685800"/>
          </a:xfrm>
          <a:prstGeom prst="rect">
            <a:avLst/>
          </a:prstGeom>
          <a:noFill/>
          <a:ln/>
        </p:spPr>
        <p:txBody>
          <a:bodyPr wrap="square" lIns="0" tIns="0" rIns="0" bIns="0" rtlCol="0" anchor="ctr"/>
          <a:lstStyle/>
          <a:p>
            <a:pPr indent="0" marL="0">
              <a:buNone/>
            </a:pPr>
            <a:r>
              <a:rPr lang="en-US" sz="3600" b="1" dirty="0">
                <a:solidFill>
                  <a:srgbClr val="2A9D8F"/>
                </a:solidFill>
                <a:latin typeface="Cambria" pitchFamily="34" charset="0"/>
                <a:ea typeface="Cambria" pitchFamily="34" charset="-122"/>
                <a:cs typeface="Cambria" pitchFamily="34" charset="-120"/>
              </a:rPr>
              <a:t>0.647 to 0.702</a:t>
            </a:r>
            <a:endParaRPr lang="en-US" sz="3600" dirty="0"/>
          </a:p>
        </p:txBody>
      </p:sp>
      <p:sp>
        <p:nvSpPr>
          <p:cNvPr id="10" name="Text 8"/>
          <p:cNvSpPr txBox="1"/>
          <p:nvPr/>
        </p:nvSpPr>
        <p:spPr>
          <a:xfrm>
            <a:off x="777240" y="4114800"/>
            <a:ext cx="4480560" cy="685800"/>
          </a:xfrm>
          <a:prstGeom prst="rect">
            <a:avLst/>
          </a:prstGeom>
          <a:noFill/>
          <a:ln/>
        </p:spPr>
        <p:txBody>
          <a:bodyPr wrap="square" lIns="0" tIns="0" rIns="0" bIns="0" rtlCol="0" anchor="t"/>
          <a:lstStyle/>
          <a:p>
            <a:pPr indent="0" marL="0">
              <a:buNone/>
            </a:pPr>
            <a:r>
              <a:rPr lang="en-US" sz="1400" dirty="0">
                <a:solidFill>
                  <a:schemeClr val="tx1"/>
                </a:solidFill>
              </a:rPr>
              <a:t>HingRoBERTa sentiment macro-F1 at 74% coverage</a:t>
            </a:r>
            <a:endParaRPr lang="en-US" sz="1400" dirty="0"/>
          </a:p>
        </p:txBody>
      </p:sp>
      <p:sp>
        <p:nvSpPr>
          <p:cNvPr id="11" name="Text 9"/>
          <p:cNvSpPr txBox="1"/>
          <p:nvPr/>
        </p:nvSpPr>
        <p:spPr>
          <a:xfrm>
            <a:off x="777240" y="4937760"/>
            <a:ext cx="4480560" cy="1051560"/>
          </a:xfrm>
          <a:prstGeom prst="rect">
            <a:avLst/>
          </a:prstGeom>
          <a:noFill/>
          <a:ln/>
        </p:spPr>
        <p:txBody>
          <a:bodyPr wrap="square" lIns="0" tIns="0" rIns="0" bIns="0" rtlCol="0" anchor="t"/>
          <a:lstStyle/>
          <a:p>
            <a:pPr indent="0" marL="0">
              <a:buNone/>
            </a:pPr>
            <a:r>
              <a:rPr lang="en-US" sz="1300" dirty="0">
                <a:solidFill>
                  <a:schemeClr val="accent5"/>
                </a:solidFill>
              </a:rPr>
              <a:t>Cut-off chosen on validation (20th percentile of confidence) and applied unchanged to test. Low confidence describes the text, not the person.</a:t>
            </a:r>
            <a:endParaRPr lang="en-US" sz="1300" dirty="0"/>
          </a:p>
        </p:txBody>
      </p:sp>
      <p:graphicFrame>
        <p:nvGraphicFramePr>
          <p:cNvPr id="12" name="Chart 0" descr=""/>
          <p:cNvGraphicFramePr/>
          <p:nvPr/>
        </p:nvGraphicFramePr>
        <p:xfrm>
          <a:off x="5669280" y="1325880"/>
          <a:ext cx="5989320" cy="374904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5669280" y="5212080"/>
            <a:ext cx="5989320" cy="822960"/>
          </a:xfrm>
          <a:prstGeom prst="rect">
            <a:avLst/>
          </a:prstGeom>
          <a:noFill/>
          <a:ln/>
        </p:spPr>
        <p:txBody>
          <a:bodyPr wrap="square" lIns="0" tIns="0" rIns="0" bIns="0" rtlCol="0" anchor="t"/>
          <a:lstStyle/>
          <a:p>
            <a:pPr indent="0" marL="0">
              <a:buNone/>
            </a:pPr>
            <a:r>
              <a:rPr lang="en-US" sz="1400" dirty="0">
                <a:solidFill>
                  <a:schemeClr val="tx1"/>
                </a:solidFill>
              </a:rPr>
              <a:t>Explanations are faithful for English stress (92% of examples) but weak for Hinglish (58%). The app's explanation note says so.</a:t>
            </a:r>
            <a:endParaRPr lang="en-US" sz="14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Comparison with published research</a:t>
            </a:r>
            <a:endParaRPr lang="en-US" sz="3200" dirty="0"/>
          </a:p>
        </p:txBody>
      </p:sp>
      <p:sp>
        <p:nvSpPr>
          <p:cNvPr id="3" name="rubric-chip"/>
          <p:cNvSpPr/>
          <p:nvPr/>
        </p:nvSpPr>
        <p:spPr>
          <a:xfrm>
            <a:off x="9921240" y="502920"/>
            <a:ext cx="173736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921240" y="502920"/>
            <a:ext cx="1737360" cy="411480"/>
          </a:xfrm>
          <a:prstGeom prst="rect">
            <a:avLst/>
          </a:prstGeom>
          <a:noFill/>
          <a:ln/>
        </p:spPr>
        <p:txBody>
          <a:bodyPr wrap="square" lIns="0" tIns="0" rIns="0" bIns="0" rtlCol="0" anchor="ctr"/>
          <a:lstStyle/>
          <a:p>
            <a:pPr algn="ctr" indent="0" marL="0">
              <a:buNone/>
            </a:pPr>
            <a:r>
              <a:rPr lang="en-US" sz="1200" b="1" dirty="0">
                <a:solidFill>
                  <a:schemeClr val="tx2"/>
                </a:solidFill>
              </a:rPr>
              <a:t>Rubric 3</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194560"/>
                <a:gridCol w="3108960"/>
                <a:gridCol w="2194560"/>
                <a:gridCol w="2103120"/>
                <a:gridCol w="1463040"/>
              </a:tblGrid>
              <a:tr h="566928">
                <a:tc>
                  <a:txBody>
                    <a:bodyPr/>
                    <a:lstStyle/>
                    <a:p>
                      <a:pPr indent="0" marL="0">
                        <a:buNone/>
                      </a:pPr>
                      <a:r>
                        <a:rPr lang="en-US" sz="1300" b="1" dirty="0">
                          <a:solidFill>
                            <a:srgbClr val="FFFFFF"/>
                          </a:solidFill>
                        </a:rPr>
                        <a:t>Task and dataset</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1F3354"/>
                    </a:solidFill>
                  </a:tcPr>
                </a:tc>
                <a:tc>
                  <a:txBody>
                    <a:bodyPr/>
                    <a:lstStyle/>
                    <a:p>
                      <a:pPr indent="0" marL="0">
                        <a:buNone/>
                      </a:pPr>
                      <a:r>
                        <a:rPr lang="en-US" sz="1300" b="1" dirty="0">
                          <a:solidFill>
                            <a:srgbClr val="FFFFFF"/>
                          </a:solidFill>
                        </a:rPr>
                        <a:t>Published (source)</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1F3354"/>
                    </a:solidFill>
                  </a:tcPr>
                </a:tc>
                <a:tc>
                  <a:txBody>
                    <a:bodyPr/>
                    <a:lstStyle/>
                    <a:p>
                      <a:pPr indent="0" marL="0">
                        <a:buNone/>
                      </a:pPr>
                      <a:r>
                        <a:rPr lang="en-US" sz="1300" b="1" dirty="0">
                          <a:solidFill>
                            <a:srgbClr val="FFFFFF"/>
                          </a:solidFill>
                        </a:rPr>
                        <a:t>Ours (test, 3 seeds)</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1F3354"/>
                    </a:solidFill>
                  </a:tcPr>
                </a:tc>
                <a:tc>
                  <a:txBody>
                    <a:bodyPr/>
                    <a:lstStyle/>
                    <a:p>
                      <a:pPr indent="0" marL="0">
                        <a:buNone/>
                      </a:pPr>
                      <a:r>
                        <a:rPr lang="en-US" sz="1300" b="1" dirty="0">
                          <a:solidFill>
                            <a:srgbClr val="FFFFFF"/>
                          </a:solidFill>
                        </a:rPr>
                        <a:t>Comparable?</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1F3354"/>
                    </a:solidFill>
                  </a:tcPr>
                </a:tc>
                <a:tc>
                  <a:txBody>
                    <a:bodyPr/>
                    <a:lstStyle/>
                    <a:p>
                      <a:pPr indent="0" marL="0">
                        <a:buNone/>
                      </a:pPr>
                      <a:r>
                        <a:rPr lang="en-US" sz="1300" b="1" dirty="0">
                          <a:solidFill>
                            <a:srgbClr val="FFFFFF"/>
                          </a:solidFill>
                        </a:rPr>
                        <a:t>Reading</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1F3354"/>
                    </a:solidFill>
                  </a:tcPr>
                </a:tc>
              </a:tr>
              <a:tr h="566928">
                <a:tc>
                  <a:txBody>
                    <a:bodyPr/>
                    <a:lstStyle/>
                    <a:p>
                      <a:pPr indent="0" marL="0">
                        <a:buNone/>
                      </a:pPr>
                      <a:r>
                        <a:rPr lang="en-US" sz="1300" dirty="0">
                          <a:solidFill>
                            <a:srgbClr val="1B2433"/>
                          </a:solidFill>
                        </a:rPr>
                        <a:t>Stress, Dreaddit</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BERT-base F1 0.8065 (Turcan &amp; McKeown, 2019)</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F1 0.798 (single-task MuRIL)</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Yes, same 715-post test set</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On par</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B2433"/>
                          </a:solidFill>
                        </a:rPr>
                        <a:t>Hinglish sentiment</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HingRoBERTa +4.86 over XLM-R (Nayak &amp; Joshi, 2022)</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+5.6 over MuRIL</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Different data</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Effect replicated</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r>
              <a:tr h="566928">
                <a:tc>
                  <a:txBody>
                    <a:bodyPr/>
                    <a:lstStyle/>
                    <a:p>
                      <a:pPr indent="0" marL="0">
                        <a:buNone/>
                      </a:pPr>
                      <a:r>
                        <a:rPr lang="en-US" sz="1300" dirty="0">
                          <a:solidFill>
                            <a:srgbClr val="1B2433"/>
                          </a:solidFill>
                        </a:rPr>
                        <a:t>Hindi tweets, UMSAB</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XLM-Twitter 56.39 (Barbieri et al., 2022)</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HingRoBERTa 0.616</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Same test file, different training mix</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About 5 points above</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B2433"/>
                          </a:solidFill>
                        </a:rPr>
                        <a:t>English tweets, UMSAB</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XLM-Twitter 70.63</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HingRoBERTa 0.704</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Partly</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On par</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r>
              <a:tr h="566928">
                <a:tc>
                  <a:txBody>
                    <a:bodyPr/>
                    <a:lstStyle/>
                    <a:p>
                      <a:pPr indent="0" marL="0">
                        <a:buNone/>
                      </a:pPr>
                      <a:r>
                        <a:rPr lang="en-US" sz="1300" dirty="0">
                          <a:solidFill>
                            <a:srgbClr val="1B2433"/>
                          </a:solidFill>
                        </a:rPr>
                        <a:t>Emotion, BRIGHTER English</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RoBERTa baseline 0.708</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0.639 to 0.645</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Partly</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Below</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B2433"/>
                          </a:solidFill>
                        </a:rPr>
                        <a:t>Emotion, BRIGHTER Hindi</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RoBERTa baseline 0.855</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0.768 to 0.770</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Partly</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Below</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r>
            </a:tbl>
          </a:graphicData>
        </a:graphic>
      </p:graphicFrame>
      <p:sp>
        <p:nvSpPr>
          <p:cNvPr id="6" name="Text 3"/>
          <p:cNvSpPr txBox="1"/>
          <p:nvPr/>
        </p:nvSpPr>
        <p:spPr>
          <a:xfrm>
            <a:off x="548640" y="5623560"/>
            <a:ext cx="11064240" cy="457200"/>
          </a:xfrm>
          <a:prstGeom prst="rect">
            <a:avLst/>
          </a:prstGeom>
          <a:noFill/>
          <a:ln/>
        </p:spPr>
        <p:txBody>
          <a:bodyPr wrap="square" lIns="0" tIns="0" rIns="0" bIns="0" rtlCol="0" anchor="ctr"/>
          <a:lstStyle/>
          <a:p>
            <a:pPr indent="0" marL="0">
              <a:buNone/>
            </a:pPr>
            <a:r>
              <a:rPr lang="en-US" sz="1400" i="1" dirty="0">
                <a:solidFill>
                  <a:schemeClr val="accent5"/>
                </a:solidFill>
              </a:rPr>
              <a:t>Emotion is our weakest task: 3 epochs on CPU and less training data, since validation was carved from train.</a:t>
            </a:r>
            <a:endParaRPr lang="en-US" sz="14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Limitations we report</a:t>
            </a:r>
            <a:endParaRPr lang="en-US" sz="3200" dirty="0"/>
          </a:p>
        </p:txBody>
      </p:sp>
      <p:sp>
        <p:nvSpPr>
          <p:cNvPr id="3" name="rubric-chip"/>
          <p:cNvSpPr/>
          <p:nvPr/>
        </p:nvSpPr>
        <p:spPr>
          <a:xfrm>
            <a:off x="9921240" y="502920"/>
            <a:ext cx="173736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921240" y="502920"/>
            <a:ext cx="1737360" cy="411480"/>
          </a:xfrm>
          <a:prstGeom prst="rect">
            <a:avLst/>
          </a:prstGeom>
          <a:noFill/>
          <a:ln/>
        </p:spPr>
        <p:txBody>
          <a:bodyPr wrap="square" lIns="0" tIns="0" rIns="0" bIns="0" rtlCol="0" anchor="ctr"/>
          <a:lstStyle/>
          <a:p>
            <a:pPr algn="ctr" indent="0" marL="0">
              <a:buNone/>
            </a:pPr>
            <a:r>
              <a:rPr lang="en-US" sz="1200" b="1" dirty="0">
                <a:solidFill>
                  <a:schemeClr val="tx2"/>
                </a:solidFill>
              </a:rPr>
              <a:t>Rubric 3</a:t>
            </a:r>
            <a:endParaRPr lang="en-US" sz="1200" dirty="0"/>
          </a:p>
        </p:txBody>
      </p:sp>
      <p:sp>
        <p:nvSpPr>
          <p:cNvPr id="5" name="card"/>
          <p:cNvSpPr/>
          <p:nvPr/>
        </p:nvSpPr>
        <p:spPr>
          <a:xfrm>
            <a:off x="548640" y="1371600"/>
            <a:ext cx="5440680" cy="2194560"/>
          </a:xfrm>
          <a:prstGeom prst="roundRect">
            <a:avLst>
              <a:gd name="adj" fmla="val 5000"/>
            </a:avLst>
          </a:prstGeom>
          <a:solidFill>
            <a:schemeClr val="bg2"/>
          </a:solidFill>
          <a:ln w="12700">
            <a:solidFill>
              <a:schemeClr val="bg2"/>
            </a:solidFill>
            <a:prstDash val="solid"/>
          </a:ln>
        </p:spPr>
      </p:sp>
      <p:sp>
        <p:nvSpPr>
          <p:cNvPr id="6" name="icon-dot"/>
          <p:cNvSpPr/>
          <p:nvPr/>
        </p:nvSpPr>
        <p:spPr>
          <a:xfrm>
            <a:off x="777240" y="1645920"/>
            <a:ext cx="685800" cy="685800"/>
          </a:xfrm>
          <a:prstGeom prst="ellipse">
            <a:avLst/>
          </a:prstGeom>
          <a:solidFill>
            <a:srgbClr val="E39B2D"/>
          </a:solidFill>
          <a:ln w="12700">
            <a:solidFill>
              <a:srgbClr val="E39B2D"/>
            </a:solidFill>
            <a:prstDash val="solid"/>
          </a:ln>
        </p:spPr>
      </p:sp>
      <p:pic>
        <p:nvPicPr>
          <p:cNvPr id="7" name="Image 0" descr="icon">    </p:cNvPr>
          <p:cNvPicPr>
            <a:picLocks noChangeAspect="1"/>
          </p:cNvPicPr>
          <p:nvPr/>
        </p:nvPicPr>
        <p:blipFill>
          <a:blip r:embed="rId1"/>
          <a:stretch>
            <a:fillRect/>
          </a:stretch>
        </p:blipFill>
        <p:spPr>
          <a:xfrm>
            <a:off x="948690" y="1817370"/>
            <a:ext cx="342900" cy="342900"/>
          </a:xfrm>
          <a:prstGeom prst="rect">
            <a:avLst/>
          </a:prstGeom>
        </p:spPr>
      </p:pic>
      <p:sp>
        <p:nvSpPr>
          <p:cNvPr id="8" name="Text 5"/>
          <p:cNvSpPr txBox="1"/>
          <p:nvPr/>
        </p:nvSpPr>
        <p:spPr>
          <a:xfrm>
            <a:off x="1645920" y="1645920"/>
            <a:ext cx="4114800" cy="411480"/>
          </a:xfrm>
          <a:prstGeom prst="rect">
            <a:avLst/>
          </a:prstGeom>
          <a:noFill/>
          <a:ln/>
        </p:spPr>
        <p:txBody>
          <a:bodyPr wrap="square" lIns="0" tIns="0" rIns="0" bIns="0" rtlCol="0" anchor="ctr"/>
          <a:lstStyle/>
          <a:p>
            <a:pPr indent="0" marL="0">
              <a:buNone/>
            </a:pPr>
            <a:r>
              <a:rPr lang="en-US" sz="1800" b="1" dirty="0">
                <a:solidFill>
                  <a:schemeClr val="tx2"/>
                </a:solidFill>
              </a:rPr>
              <a:t>Compute</a:t>
            </a:r>
            <a:endParaRPr lang="en-US" sz="1800" dirty="0"/>
          </a:p>
        </p:txBody>
      </p:sp>
      <p:sp>
        <p:nvSpPr>
          <p:cNvPr id="9" name="Text 6"/>
          <p:cNvSpPr txBox="1"/>
          <p:nvPr/>
        </p:nvSpPr>
        <p:spPr>
          <a:xfrm>
            <a:off x="1645920" y="2103120"/>
            <a:ext cx="4114800" cy="1371600"/>
          </a:xfrm>
          <a:prstGeom prst="rect">
            <a:avLst/>
          </a:prstGeom>
          <a:noFill/>
          <a:ln/>
        </p:spPr>
        <p:txBody>
          <a:bodyPr wrap="square" lIns="0" tIns="0" rIns="0" bIns="0" rtlCol="0" anchor="t"/>
          <a:lstStyle/>
          <a:p>
            <a:pPr indent="0" marL="0">
              <a:buNone/>
            </a:pPr>
            <a:r>
              <a:rPr lang="en-US" sz="1400" dirty="0">
                <a:solidFill>
                  <a:schemeClr val="tx1"/>
                </a:solidFill>
              </a:rPr>
              <a:t>CPU only: 3 seeds, 3 epochs, no learning-rate search. Best epoch was often the last, so models may be under-trained.</a:t>
            </a:r>
            <a:endParaRPr lang="en-US" sz="1400" dirty="0"/>
          </a:p>
        </p:txBody>
      </p:sp>
      <p:sp>
        <p:nvSpPr>
          <p:cNvPr id="10" name="card"/>
          <p:cNvSpPr/>
          <p:nvPr/>
        </p:nvSpPr>
        <p:spPr>
          <a:xfrm>
            <a:off x="6172200" y="1371600"/>
            <a:ext cx="5440680" cy="2194560"/>
          </a:xfrm>
          <a:prstGeom prst="roundRect">
            <a:avLst>
              <a:gd name="adj" fmla="val 5000"/>
            </a:avLst>
          </a:prstGeom>
          <a:solidFill>
            <a:schemeClr val="bg2"/>
          </a:solidFill>
          <a:ln w="12700">
            <a:solidFill>
              <a:schemeClr val="bg2"/>
            </a:solidFill>
            <a:prstDash val="solid"/>
          </a:ln>
        </p:spPr>
      </p:sp>
      <p:sp>
        <p:nvSpPr>
          <p:cNvPr id="11" name="icon-dot"/>
          <p:cNvSpPr/>
          <p:nvPr/>
        </p:nvSpPr>
        <p:spPr>
          <a:xfrm>
            <a:off x="6400800" y="1645920"/>
            <a:ext cx="685800" cy="685800"/>
          </a:xfrm>
          <a:prstGeom prst="ellipse">
            <a:avLst/>
          </a:prstGeom>
          <a:solidFill>
            <a:srgbClr val="4F63D2"/>
          </a:solidFill>
          <a:ln w="12700">
            <a:solidFill>
              <a:srgbClr val="4F63D2"/>
            </a:solidFill>
            <a:prstDash val="solid"/>
          </a:ln>
        </p:spPr>
      </p:sp>
      <p:pic>
        <p:nvPicPr>
          <p:cNvPr id="12" name="Image 1" descr="icon">    </p:cNvPr>
          <p:cNvPicPr>
            <a:picLocks noChangeAspect="1"/>
          </p:cNvPicPr>
          <p:nvPr/>
        </p:nvPicPr>
        <p:blipFill>
          <a:blip r:embed="rId2"/>
          <a:stretch>
            <a:fillRect/>
          </a:stretch>
        </p:blipFill>
        <p:spPr>
          <a:xfrm>
            <a:off x="6572250" y="1817370"/>
            <a:ext cx="342900" cy="342900"/>
          </a:xfrm>
          <a:prstGeom prst="rect">
            <a:avLst/>
          </a:prstGeom>
        </p:spPr>
      </p:pic>
      <p:sp>
        <p:nvSpPr>
          <p:cNvPr id="13" name="Text 9"/>
          <p:cNvSpPr txBox="1"/>
          <p:nvPr/>
        </p:nvSpPr>
        <p:spPr>
          <a:xfrm>
            <a:off x="7269480" y="1645920"/>
            <a:ext cx="4114800" cy="411480"/>
          </a:xfrm>
          <a:prstGeom prst="rect">
            <a:avLst/>
          </a:prstGeom>
          <a:noFill/>
          <a:ln/>
        </p:spPr>
        <p:txBody>
          <a:bodyPr wrap="square" lIns="0" tIns="0" rIns="0" bIns="0" rtlCol="0" anchor="ctr"/>
          <a:lstStyle/>
          <a:p>
            <a:pPr indent="0" marL="0">
              <a:buNone/>
            </a:pPr>
            <a:r>
              <a:rPr lang="en-US" sz="1800" b="1" dirty="0">
                <a:solidFill>
                  <a:schemeClr val="tx2"/>
                </a:solidFill>
              </a:rPr>
              <a:t>Language coverage</a:t>
            </a:r>
            <a:endParaRPr lang="en-US" sz="1800" dirty="0"/>
          </a:p>
        </p:txBody>
      </p:sp>
      <p:sp>
        <p:nvSpPr>
          <p:cNvPr id="14" name="Text 10"/>
          <p:cNvSpPr txBox="1"/>
          <p:nvPr/>
        </p:nvSpPr>
        <p:spPr>
          <a:xfrm>
            <a:off x="7269480" y="2103120"/>
            <a:ext cx="4114800" cy="1371600"/>
          </a:xfrm>
          <a:prstGeom prst="rect">
            <a:avLst/>
          </a:prstGeom>
          <a:noFill/>
          <a:ln/>
        </p:spPr>
        <p:txBody>
          <a:bodyPr wrap="square" lIns="0" tIns="0" rIns="0" bIns="0" rtlCol="0" anchor="t"/>
          <a:lstStyle/>
          <a:p>
            <a:pPr indent="0" marL="0">
              <a:buNone/>
            </a:pPr>
            <a:r>
              <a:rPr lang="en-US" sz="1400" dirty="0">
                <a:solidFill>
                  <a:schemeClr val="tx1"/>
                </a:solidFill>
              </a:rPr>
              <a:t>Stress labels exist for English only. Hindi in Devanagari has emotion labels only; Hinglish has sentiment only.</a:t>
            </a:r>
            <a:endParaRPr lang="en-US" sz="1400" dirty="0"/>
          </a:p>
        </p:txBody>
      </p:sp>
      <p:sp>
        <p:nvSpPr>
          <p:cNvPr id="15" name="card"/>
          <p:cNvSpPr/>
          <p:nvPr/>
        </p:nvSpPr>
        <p:spPr>
          <a:xfrm>
            <a:off x="548640" y="3749040"/>
            <a:ext cx="5440680" cy="2194560"/>
          </a:xfrm>
          <a:prstGeom prst="roundRect">
            <a:avLst>
              <a:gd name="adj" fmla="val 5000"/>
            </a:avLst>
          </a:prstGeom>
          <a:solidFill>
            <a:schemeClr val="bg2"/>
          </a:solidFill>
          <a:ln w="12700">
            <a:solidFill>
              <a:schemeClr val="bg2"/>
            </a:solidFill>
            <a:prstDash val="solid"/>
          </a:ln>
        </p:spPr>
      </p:sp>
      <p:sp>
        <p:nvSpPr>
          <p:cNvPr id="16" name="icon-dot"/>
          <p:cNvSpPr/>
          <p:nvPr/>
        </p:nvSpPr>
        <p:spPr>
          <a:xfrm>
            <a:off x="777240" y="4023360"/>
            <a:ext cx="685800" cy="685800"/>
          </a:xfrm>
          <a:prstGeom prst="ellipse">
            <a:avLst/>
          </a:prstGeom>
          <a:solidFill>
            <a:srgbClr val="C8475A"/>
          </a:solidFill>
          <a:ln w="12700">
            <a:solidFill>
              <a:srgbClr val="C8475A"/>
            </a:solidFill>
            <a:prstDash val="solid"/>
          </a:ln>
        </p:spPr>
      </p:sp>
      <p:pic>
        <p:nvPicPr>
          <p:cNvPr id="17" name="Image 2" descr="icon">    </p:cNvPr>
          <p:cNvPicPr>
            <a:picLocks noChangeAspect="1"/>
          </p:cNvPicPr>
          <p:nvPr/>
        </p:nvPicPr>
        <p:blipFill>
          <a:blip r:embed="rId3"/>
          <a:stretch>
            <a:fillRect/>
          </a:stretch>
        </p:blipFill>
        <p:spPr>
          <a:xfrm>
            <a:off x="948690" y="4194810"/>
            <a:ext cx="342900" cy="342900"/>
          </a:xfrm>
          <a:prstGeom prst="rect">
            <a:avLst/>
          </a:prstGeom>
        </p:spPr>
      </p:pic>
      <p:sp>
        <p:nvSpPr>
          <p:cNvPr id="18" name="Text 13"/>
          <p:cNvSpPr txBox="1"/>
          <p:nvPr/>
        </p:nvSpPr>
        <p:spPr>
          <a:xfrm>
            <a:off x="1645920" y="4023360"/>
            <a:ext cx="4114800" cy="411480"/>
          </a:xfrm>
          <a:prstGeom prst="rect">
            <a:avLst/>
          </a:prstGeom>
          <a:noFill/>
          <a:ln/>
        </p:spPr>
        <p:txBody>
          <a:bodyPr wrap="square" lIns="0" tIns="0" rIns="0" bIns="0" rtlCol="0" anchor="ctr"/>
          <a:lstStyle/>
          <a:p>
            <a:pPr indent="0" marL="0">
              <a:buNone/>
            </a:pPr>
            <a:r>
              <a:rPr lang="en-US" sz="1800" b="1" dirty="0">
                <a:solidFill>
                  <a:schemeClr val="tx2"/>
                </a:solidFill>
              </a:rPr>
              <a:t>Data quality</a:t>
            </a:r>
            <a:endParaRPr lang="en-US" sz="1800" dirty="0"/>
          </a:p>
        </p:txBody>
      </p:sp>
      <p:sp>
        <p:nvSpPr>
          <p:cNvPr id="19" name="Text 14"/>
          <p:cNvSpPr txBox="1"/>
          <p:nvPr/>
        </p:nvSpPr>
        <p:spPr>
          <a:xfrm>
            <a:off x="1645920" y="4480560"/>
            <a:ext cx="4114800" cy="1371600"/>
          </a:xfrm>
          <a:prstGeom prst="rect">
            <a:avLst/>
          </a:prstGeom>
          <a:noFill/>
          <a:ln/>
        </p:spPr>
        <p:txBody>
          <a:bodyPr wrap="square" lIns="0" tIns="0" rIns="0" bIns="0" rtlCol="0" anchor="t"/>
          <a:lstStyle/>
          <a:p>
            <a:pPr indent="0" marL="0">
              <a:buNone/>
            </a:pPr>
            <a:r>
              <a:rPr lang="en-US" sz="1400" dirty="0">
                <a:solidFill>
                  <a:schemeClr val="tx1"/>
                </a:solidFill>
              </a:rPr>
              <a:t>Hinglish data is small and noisy. The tweets-hindi validation split scores near chance for every model; cause unknown.</a:t>
            </a:r>
            <a:endParaRPr lang="en-US" sz="1400" dirty="0"/>
          </a:p>
        </p:txBody>
      </p:sp>
      <p:sp>
        <p:nvSpPr>
          <p:cNvPr id="20" name="card"/>
          <p:cNvSpPr/>
          <p:nvPr/>
        </p:nvSpPr>
        <p:spPr>
          <a:xfrm>
            <a:off x="6172200" y="3749040"/>
            <a:ext cx="5440680" cy="2194560"/>
          </a:xfrm>
          <a:prstGeom prst="roundRect">
            <a:avLst>
              <a:gd name="adj" fmla="val 5000"/>
            </a:avLst>
          </a:prstGeom>
          <a:solidFill>
            <a:schemeClr val="bg2"/>
          </a:solidFill>
          <a:ln w="12700">
            <a:solidFill>
              <a:schemeClr val="bg2"/>
            </a:solidFill>
            <a:prstDash val="solid"/>
          </a:ln>
        </p:spPr>
      </p:sp>
      <p:sp>
        <p:nvSpPr>
          <p:cNvPr id="21" name="icon-dot"/>
          <p:cNvSpPr/>
          <p:nvPr/>
        </p:nvSpPr>
        <p:spPr>
          <a:xfrm>
            <a:off x="6400800" y="4023360"/>
            <a:ext cx="685800" cy="685800"/>
          </a:xfrm>
          <a:prstGeom prst="ellipse">
            <a:avLst/>
          </a:prstGeom>
          <a:solidFill>
            <a:srgbClr val="6B7C8F"/>
          </a:solidFill>
          <a:ln w="12700">
            <a:solidFill>
              <a:srgbClr val="6B7C8F"/>
            </a:solidFill>
            <a:prstDash val="solid"/>
          </a:ln>
        </p:spPr>
      </p:sp>
      <p:pic>
        <p:nvPicPr>
          <p:cNvPr id="22" name="Image 3" descr="icon">    </p:cNvPr>
          <p:cNvPicPr>
            <a:picLocks noChangeAspect="1"/>
          </p:cNvPicPr>
          <p:nvPr/>
        </p:nvPicPr>
        <p:blipFill>
          <a:blip r:embed="rId4"/>
          <a:stretch>
            <a:fillRect/>
          </a:stretch>
        </p:blipFill>
        <p:spPr>
          <a:xfrm>
            <a:off x="6572250" y="4194810"/>
            <a:ext cx="342900" cy="342900"/>
          </a:xfrm>
          <a:prstGeom prst="rect">
            <a:avLst/>
          </a:prstGeom>
        </p:spPr>
      </p:pic>
      <p:sp>
        <p:nvSpPr>
          <p:cNvPr id="23" name="Text 17"/>
          <p:cNvSpPr txBox="1"/>
          <p:nvPr/>
        </p:nvSpPr>
        <p:spPr>
          <a:xfrm>
            <a:off x="7269480" y="4023360"/>
            <a:ext cx="4114800" cy="411480"/>
          </a:xfrm>
          <a:prstGeom prst="rect">
            <a:avLst/>
          </a:prstGeom>
          <a:noFill/>
          <a:ln/>
        </p:spPr>
        <p:txBody>
          <a:bodyPr wrap="square" lIns="0" tIns="0" rIns="0" bIns="0" rtlCol="0" anchor="ctr"/>
          <a:lstStyle/>
          <a:p>
            <a:pPr indent="0" marL="0">
              <a:buNone/>
            </a:pPr>
            <a:r>
              <a:rPr lang="en-US" sz="1800" b="1" dirty="0">
                <a:solidFill>
                  <a:schemeClr val="tx2"/>
                </a:solidFill>
              </a:rPr>
              <a:t>Clinical meaning</a:t>
            </a:r>
            <a:endParaRPr lang="en-US" sz="1800" dirty="0"/>
          </a:p>
        </p:txBody>
      </p:sp>
      <p:sp>
        <p:nvSpPr>
          <p:cNvPr id="24" name="Text 18"/>
          <p:cNvSpPr txBox="1"/>
          <p:nvPr/>
        </p:nvSpPr>
        <p:spPr>
          <a:xfrm>
            <a:off x="7269480" y="4480560"/>
            <a:ext cx="4114800" cy="1371600"/>
          </a:xfrm>
          <a:prstGeom prst="rect">
            <a:avLst/>
          </a:prstGeom>
          <a:noFill/>
          <a:ln/>
        </p:spPr>
        <p:txBody>
          <a:bodyPr wrap="square" lIns="0" tIns="0" rIns="0" bIns="0" rtlCol="0" anchor="t"/>
          <a:lstStyle/>
          <a:p>
            <a:pPr indent="0" marL="0">
              <a:buNone/>
            </a:pPr>
            <a:r>
              <a:rPr lang="en-US" sz="1400" dirty="0">
                <a:solidFill>
                  <a:schemeClr val="tx1"/>
                </a:solidFill>
              </a:rPr>
              <a:t>Stress is a crowd-annotated label on Reddit posts. It is not a clinical status and was not validated on other populations.</a:t>
            </a:r>
            <a:endParaRPr lang="en-US" sz="14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ection-number"/>
          <p:cNvSpPr/>
          <p:nvPr/>
        </p:nvSpPr>
        <p:spPr>
          <a:xfrm>
            <a:off x="502920" y="2606040"/>
            <a:ext cx="777240" cy="777240"/>
          </a:xfrm>
          <a:prstGeom prst="ellipse">
            <a:avLst/>
          </a:prstGeom>
          <a:solidFill>
            <a:schemeClr val="accent1"/>
          </a:solidFill>
          <a:ln w="12700">
            <a:solidFill>
              <a:schemeClr val="accent1"/>
            </a:solidFill>
            <a:prstDash val="solid"/>
          </a:ln>
        </p:spPr>
      </p:sp>
      <p:sp>
        <p:nvSpPr>
          <p:cNvPr id="3" name="Text 1"/>
          <p:cNvSpPr txBox="1"/>
          <p:nvPr/>
        </p:nvSpPr>
        <p:spPr>
          <a:xfrm>
            <a:off x="502920" y="2606040"/>
            <a:ext cx="777240" cy="777240"/>
          </a:xfrm>
          <a:prstGeom prst="rect">
            <a:avLst/>
          </a:prstGeom>
          <a:noFill/>
          <a:ln/>
        </p:spPr>
        <p:txBody>
          <a:bodyPr wrap="square" lIns="0" tIns="0" rIns="0" bIns="0" rtlCol="0" anchor="ctr"/>
          <a:lstStyle/>
          <a:p>
            <a:pPr algn="ctr" indent="0" marL="0">
              <a:buNone/>
            </a:pPr>
            <a:r>
              <a:rPr lang="en-US" sz="2800" b="1" dirty="0">
                <a:solidFill>
                  <a:schemeClr val="bg1"/>
                </a:solidFill>
                <a:latin typeface="Cambria" pitchFamily="34" charset="0"/>
                <a:ea typeface="Cambria" pitchFamily="34" charset="-122"/>
                <a:cs typeface="Cambria" pitchFamily="34" charset="-120"/>
              </a:rPr>
              <a:t>4</a:t>
            </a:r>
            <a:endParaRPr lang="en-US" sz="2800" dirty="0"/>
          </a:p>
        </p:txBody>
      </p:sp>
      <p:sp>
        <p:nvSpPr>
          <p:cNvPr id="4" name="Text 0"/>
          <p:cNvSpPr/>
          <p:nvPr>
            <p:ph idx="100" type="title" hasCustomPrompt="1"/>
          </p:nvPr>
        </p:nvSpPr>
        <p:spPr>
          <a:xfrm>
            <a:off x="1463040" y="2514600"/>
            <a:ext cx="9601200" cy="109728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Team, planning and scalability</a:t>
            </a:r>
            <a:endParaRPr lang="en-US" sz="4000" dirty="0"/>
          </a:p>
        </p:txBody>
      </p:sp>
      <p:sp>
        <p:nvSpPr>
          <p:cNvPr id="5" name="Text 0"/>
          <p:cNvSpPr/>
          <p:nvPr>
            <p:ph idx="101" type="body" hasCustomPrompt="1"/>
          </p:nvPr>
        </p:nvSpPr>
        <p:spPr>
          <a:xfrm>
            <a:off x="1463040" y="3611880"/>
            <a:ext cx="9601200" cy="822960"/>
          </a:xfrm>
          <a:prstGeom prst="rect">
            <a:avLst/>
          </a:prstGeom>
          <a:noFill/>
          <a:ln/>
        </p:spPr>
        <p:txBody>
          <a:bodyPr wrap="square" lIns="0" tIns="0" rIns="0" bIns="0" rtlCol="0" anchor="t"/>
          <a:lstStyle/>
          <a:p>
            <a:pPr algn="l" indent="0" marL="0">
              <a:buNone/>
            </a:pPr>
            <a:r>
              <a:rPr lang="en-US" sz="1800" dirty="0">
                <a:solidFill>
                  <a:srgbClr val="C9D6E3"/>
                </a:solidFill>
              </a:rPr>
              <a:t>Who did what, how resources were used, and how the system scales</a:t>
            </a:r>
            <a:endParaRPr lang="en-US" sz="18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C9D6E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Team work and individual contribution</a:t>
            </a:r>
            <a:endParaRPr lang="en-US" sz="3200" dirty="0"/>
          </a:p>
        </p:txBody>
      </p:sp>
      <p:sp>
        <p:nvSpPr>
          <p:cNvPr id="3" name="rubric-chip"/>
          <p:cNvSpPr/>
          <p:nvPr/>
        </p:nvSpPr>
        <p:spPr>
          <a:xfrm>
            <a:off x="9921240" y="502920"/>
            <a:ext cx="173736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921240" y="502920"/>
            <a:ext cx="1737360" cy="411480"/>
          </a:xfrm>
          <a:prstGeom prst="rect">
            <a:avLst/>
          </a:prstGeom>
          <a:noFill/>
          <a:ln/>
        </p:spPr>
        <p:txBody>
          <a:bodyPr wrap="square" lIns="0" tIns="0" rIns="0" bIns="0" rtlCol="0" anchor="ctr"/>
          <a:lstStyle/>
          <a:p>
            <a:pPr algn="ctr" indent="0" marL="0">
              <a:buNone/>
            </a:pPr>
            <a:r>
              <a:rPr lang="en-US" sz="1200" b="1" dirty="0">
                <a:solidFill>
                  <a:schemeClr val="tx2"/>
                </a:solidFill>
              </a:rPr>
              <a:t>Rubric 5</a:t>
            </a:r>
            <a:endParaRPr lang="en-US" sz="1200" dirty="0"/>
          </a:p>
        </p:txBody>
      </p:sp>
      <p:sp>
        <p:nvSpPr>
          <p:cNvPr id="5" name="card"/>
          <p:cNvSpPr/>
          <p:nvPr/>
        </p:nvSpPr>
        <p:spPr>
          <a:xfrm>
            <a:off x="548640" y="1325880"/>
            <a:ext cx="2606040" cy="685800"/>
          </a:xfrm>
          <a:prstGeom prst="roundRect">
            <a:avLst>
              <a:gd name="adj" fmla="val 16000"/>
            </a:avLst>
          </a:prstGeom>
          <a:solidFill>
            <a:srgbClr val="E6F4F1"/>
          </a:solidFill>
          <a:ln w="12700">
            <a:solidFill>
              <a:srgbClr val="E6F4F1"/>
            </a:solidFill>
            <a:prstDash val="solid"/>
          </a:ln>
        </p:spPr>
      </p:sp>
      <p:sp>
        <p:nvSpPr>
          <p:cNvPr id="6" name="Text 4"/>
          <p:cNvSpPr txBox="1"/>
          <p:nvPr/>
        </p:nvSpPr>
        <p:spPr>
          <a:xfrm>
            <a:off x="548640" y="1325880"/>
            <a:ext cx="2606040" cy="685800"/>
          </a:xfrm>
          <a:prstGeom prst="rect">
            <a:avLst/>
          </a:prstGeom>
          <a:noFill/>
          <a:ln/>
        </p:spPr>
        <p:txBody>
          <a:bodyPr wrap="square" lIns="0" tIns="0" rIns="0" bIns="0" rtlCol="0" anchor="ctr"/>
          <a:lstStyle/>
          <a:p>
            <a:pPr algn="ctr" indent="0" marL="0">
              <a:buNone/>
            </a:pPr>
            <a:r>
              <a:rPr lang="en-US" sz="1500" b="1" dirty="0">
                <a:solidFill>
                  <a:schemeClr val="tx2"/>
                </a:solidFill>
              </a:rPr>
              <a:t>Faisal Arif Ansari</a:t>
            </a:r>
            <a:endParaRPr lang="en-US" sz="1500" dirty="0"/>
          </a:p>
        </p:txBody>
      </p:sp>
      <p:sp>
        <p:nvSpPr>
          <p:cNvPr id="7" name="card"/>
          <p:cNvSpPr/>
          <p:nvPr/>
        </p:nvSpPr>
        <p:spPr>
          <a:xfrm>
            <a:off x="3337560" y="1325880"/>
            <a:ext cx="2606040" cy="685800"/>
          </a:xfrm>
          <a:prstGeom prst="roundRect">
            <a:avLst>
              <a:gd name="adj" fmla="val 16000"/>
            </a:avLst>
          </a:prstGeom>
          <a:solidFill>
            <a:srgbClr val="E6F4F1"/>
          </a:solidFill>
          <a:ln w="12700">
            <a:solidFill>
              <a:srgbClr val="E6F4F1"/>
            </a:solidFill>
            <a:prstDash val="solid"/>
          </a:ln>
        </p:spPr>
      </p:sp>
      <p:sp>
        <p:nvSpPr>
          <p:cNvPr id="8" name="Text 6"/>
          <p:cNvSpPr txBox="1"/>
          <p:nvPr/>
        </p:nvSpPr>
        <p:spPr>
          <a:xfrm>
            <a:off x="3337560" y="1325880"/>
            <a:ext cx="2606040" cy="685800"/>
          </a:xfrm>
          <a:prstGeom prst="rect">
            <a:avLst/>
          </a:prstGeom>
          <a:noFill/>
          <a:ln/>
        </p:spPr>
        <p:txBody>
          <a:bodyPr wrap="square" lIns="0" tIns="0" rIns="0" bIns="0" rtlCol="0" anchor="ctr"/>
          <a:lstStyle/>
          <a:p>
            <a:pPr algn="ctr" indent="0" marL="0">
              <a:buNone/>
            </a:pPr>
            <a:r>
              <a:rPr lang="en-US" sz="1500" b="1" dirty="0">
                <a:solidFill>
                  <a:schemeClr val="tx2"/>
                </a:solidFill>
              </a:rPr>
              <a:t>Paras Tiwari</a:t>
            </a:r>
            <a:endParaRPr lang="en-US" sz="1500" dirty="0"/>
          </a:p>
        </p:txBody>
      </p:sp>
      <p:sp>
        <p:nvSpPr>
          <p:cNvPr id="9" name="card"/>
          <p:cNvSpPr/>
          <p:nvPr/>
        </p:nvSpPr>
        <p:spPr>
          <a:xfrm>
            <a:off x="6126480" y="1325880"/>
            <a:ext cx="2606040" cy="685800"/>
          </a:xfrm>
          <a:prstGeom prst="roundRect">
            <a:avLst>
              <a:gd name="adj" fmla="val 16000"/>
            </a:avLst>
          </a:prstGeom>
          <a:solidFill>
            <a:srgbClr val="E6F4F1"/>
          </a:solidFill>
          <a:ln w="12700">
            <a:solidFill>
              <a:srgbClr val="E6F4F1"/>
            </a:solidFill>
            <a:prstDash val="solid"/>
          </a:ln>
        </p:spPr>
      </p:sp>
      <p:sp>
        <p:nvSpPr>
          <p:cNvPr id="10" name="Text 8"/>
          <p:cNvSpPr txBox="1"/>
          <p:nvPr/>
        </p:nvSpPr>
        <p:spPr>
          <a:xfrm>
            <a:off x="6126480" y="1325880"/>
            <a:ext cx="2606040" cy="685800"/>
          </a:xfrm>
          <a:prstGeom prst="rect">
            <a:avLst/>
          </a:prstGeom>
          <a:noFill/>
          <a:ln/>
        </p:spPr>
        <p:txBody>
          <a:bodyPr wrap="square" lIns="0" tIns="0" rIns="0" bIns="0" rtlCol="0" anchor="ctr"/>
          <a:lstStyle/>
          <a:p>
            <a:pPr algn="ctr" indent="0" marL="0">
              <a:buNone/>
            </a:pPr>
            <a:r>
              <a:rPr lang="en-US" sz="1500" b="1" dirty="0">
                <a:solidFill>
                  <a:schemeClr val="tx2"/>
                </a:solidFill>
              </a:rPr>
              <a:t>Prateek Rawat</a:t>
            </a:r>
            <a:endParaRPr lang="en-US" sz="1500" dirty="0"/>
          </a:p>
        </p:txBody>
      </p:sp>
      <p:sp>
        <p:nvSpPr>
          <p:cNvPr id="11" name="card"/>
          <p:cNvSpPr/>
          <p:nvPr/>
        </p:nvSpPr>
        <p:spPr>
          <a:xfrm>
            <a:off x="8915400" y="1325880"/>
            <a:ext cx="2606040" cy="685800"/>
          </a:xfrm>
          <a:prstGeom prst="roundRect">
            <a:avLst>
              <a:gd name="adj" fmla="val 16000"/>
            </a:avLst>
          </a:prstGeom>
          <a:solidFill>
            <a:srgbClr val="E6F4F1"/>
          </a:solidFill>
          <a:ln w="12700">
            <a:solidFill>
              <a:srgbClr val="E6F4F1"/>
            </a:solidFill>
            <a:prstDash val="solid"/>
          </a:ln>
        </p:spPr>
      </p:sp>
      <p:sp>
        <p:nvSpPr>
          <p:cNvPr id="12" name="Text 10"/>
          <p:cNvSpPr txBox="1"/>
          <p:nvPr/>
        </p:nvSpPr>
        <p:spPr>
          <a:xfrm>
            <a:off x="8915400" y="1325880"/>
            <a:ext cx="2606040" cy="685800"/>
          </a:xfrm>
          <a:prstGeom prst="rect">
            <a:avLst/>
          </a:prstGeom>
          <a:noFill/>
          <a:ln/>
        </p:spPr>
        <p:txBody>
          <a:bodyPr wrap="square" lIns="0" tIns="0" rIns="0" bIns="0" rtlCol="0" anchor="ctr"/>
          <a:lstStyle/>
          <a:p>
            <a:pPr algn="ctr" indent="0" marL="0">
              <a:buNone/>
            </a:pPr>
            <a:r>
              <a:rPr lang="en-US" sz="1500" b="1" dirty="0">
                <a:solidFill>
                  <a:schemeClr val="tx2"/>
                </a:solidFill>
              </a:rPr>
              <a:t>Lakshay Mishra</a:t>
            </a:r>
            <a:endParaRPr lang="en-US" sz="15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64240" cy="914400"/>
        </p:xfrm>
        <a:graphic>
          <a:graphicData uri="http://schemas.openxmlformats.org/drawingml/2006/table">
            <a:tbl>
              <a:tblPr/>
              <a:tblGrid>
                <a:gridCol w="3931920"/>
                <a:gridCol w="4572000"/>
                <a:gridCol w="2560320"/>
              </a:tblGrid>
              <a:tr h="502920">
                <a:tc>
                  <a:txBody>
                    <a:bodyPr/>
                    <a:lstStyle/>
                    <a:p>
                      <a:pPr indent="0" marL="0">
                        <a:buNone/>
                      </a:pPr>
                      <a:r>
                        <a:rPr lang="en-US" sz="1300" b="1" dirty="0">
                          <a:solidFill>
                            <a:srgbClr val="FFFFFF"/>
                          </a:solidFill>
                        </a:rPr>
                        <a:t>Work package</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1F3354"/>
                    </a:solidFill>
                  </a:tcPr>
                </a:tc>
                <a:tc>
                  <a:txBody>
                    <a:bodyPr/>
                    <a:lstStyle/>
                    <a:p>
                      <a:pPr indent="0" marL="0">
                        <a:buNone/>
                      </a:pPr>
                      <a:r>
                        <a:rPr lang="en-US" sz="1300" b="1" dirty="0">
                          <a:solidFill>
                            <a:srgbClr val="FFFFFF"/>
                          </a:solidFill>
                        </a:rPr>
                        <a:t>Main output</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1F3354"/>
                    </a:solidFill>
                  </a:tcPr>
                </a:tc>
                <a:tc>
                  <a:txBody>
                    <a:bodyPr/>
                    <a:lstStyle/>
                    <a:p>
                      <a:pPr indent="0" marL="0">
                        <a:buNone/>
                      </a:pPr>
                      <a:r>
                        <a:rPr lang="en-US" sz="1300" b="1" dirty="0">
                          <a:solidFill>
                            <a:srgbClr val="FFFFFF"/>
                          </a:solidFill>
                        </a:rPr>
                        <a:t>Owner(s)</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1F3354"/>
                    </a:solidFill>
                  </a:tcPr>
                </a:tc>
              </a:tr>
              <a:tr h="502920">
                <a:tc>
                  <a:txBody>
                    <a:bodyPr/>
                    <a:lstStyle/>
                    <a:p>
                      <a:pPr indent="0" marL="0">
                        <a:buNone/>
                      </a:pPr>
                      <a:r>
                        <a:rPr lang="en-US" sz="1300" dirty="0">
                          <a:solidFill>
                            <a:srgbClr val="1B2433"/>
                          </a:solidFill>
                        </a:rPr>
                        <a:t>Literature review and dataset survey</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Related work, 37 verified references</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1B2433"/>
                          </a:solidFill>
                        </a:rPr>
                        <a:t>Data pipeline and split integrity</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Download, cleaning, dedup, frozen splits</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r>
              <a:tr h="502920">
                <a:tc>
                  <a:txBody>
                    <a:bodyPr/>
                    <a:lstStyle/>
                    <a:p>
                      <a:pPr indent="0" marL="0">
                        <a:buNone/>
                      </a:pPr>
                      <a:r>
                        <a:rPr lang="en-US" sz="1300" dirty="0">
                          <a:solidFill>
                            <a:srgbClr val="1B2433"/>
                          </a:solidFill>
                        </a:rPr>
                        <a:t>Baselines (TF-IDF, BiLSTM) and language ID</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3 baseline models, langid classifier</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1B2433"/>
                          </a:solidFill>
                        </a:rPr>
                        <a:t>Transformer experiments</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21 runs: MuRIL, HingRoBERTa, ablations</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r>
              <a:tr h="502920">
                <a:tc>
                  <a:txBody>
                    <a:bodyPr/>
                    <a:lstStyle/>
                    <a:p>
                      <a:pPr indent="0" marL="0">
                        <a:buNone/>
                      </a:pPr>
                      <a:r>
                        <a:rPr lang="en-US" sz="1300" dirty="0">
                          <a:solidFill>
                            <a:srgbClr val="1B2433"/>
                          </a:solidFill>
                        </a:rPr>
                        <a:t>Evaluation and statistics</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Bootstrap CIs, calibration, faithfulness</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1B2433"/>
                          </a:solidFill>
                        </a:rPr>
                        <a:t>Web app, API, privacy and safety</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FastAPI service, 9-page UI, tests</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r>
              <a:tr h="502920">
                <a:tc>
                  <a:txBody>
                    <a:bodyPr/>
                    <a:lstStyle/>
                    <a:p>
                      <a:pPr indent="0" marL="0">
                        <a:buNone/>
                      </a:pPr>
                      <a:r>
                        <a:rPr lang="en-US" sz="1300" dirty="0">
                          <a:solidFill>
                            <a:srgbClr val="1B2433"/>
                          </a:solidFill>
                        </a:rPr>
                        <a:t>Research paper and presentation</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IEEE paper, README, this deck</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Timeline, resources and cost</a:t>
            </a:r>
            <a:endParaRPr lang="en-US" sz="3200" dirty="0"/>
          </a:p>
        </p:txBody>
      </p:sp>
      <p:sp>
        <p:nvSpPr>
          <p:cNvPr id="3" name="rubric-chip"/>
          <p:cNvSpPr/>
          <p:nvPr/>
        </p:nvSpPr>
        <p:spPr>
          <a:xfrm>
            <a:off x="9921240" y="502920"/>
            <a:ext cx="173736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921240" y="502920"/>
            <a:ext cx="1737360" cy="411480"/>
          </a:xfrm>
          <a:prstGeom prst="rect">
            <a:avLst/>
          </a:prstGeom>
          <a:noFill/>
          <a:ln/>
        </p:spPr>
        <p:txBody>
          <a:bodyPr wrap="square" lIns="0" tIns="0" rIns="0" bIns="0" rtlCol="0" anchor="ctr"/>
          <a:lstStyle/>
          <a:p>
            <a:pPr algn="ctr" indent="0" marL="0">
              <a:buNone/>
            </a:pPr>
            <a:r>
              <a:rPr lang="en-US" sz="1200" b="1" dirty="0">
                <a:solidFill>
                  <a:schemeClr val="tx2"/>
                </a:solidFill>
              </a:rPr>
              <a:t>Rubric 6</a:t>
            </a:r>
            <a:endParaRPr lang="en-US" sz="1200" dirty="0"/>
          </a:p>
        </p:txBody>
      </p:sp>
      <p:sp>
        <p:nvSpPr>
          <p:cNvPr id="5" name="Shape 3"/>
          <p:cNvSpPr/>
          <p:nvPr/>
        </p:nvSpPr>
        <p:spPr>
          <a:xfrm>
            <a:off x="822960" y="1874520"/>
            <a:ext cx="10607040" cy="0"/>
          </a:xfrm>
          <a:prstGeom prst="line">
            <a:avLst/>
          </a:prstGeom>
          <a:noFill/>
          <a:ln w="19050">
            <a:solidFill>
              <a:srgbClr val="6B7C8F"/>
            </a:solidFill>
            <a:prstDash val="solid"/>
          </a:ln>
        </p:spPr>
      </p:sp>
      <p:sp>
        <p:nvSpPr>
          <p:cNvPr id="6" name="milestone"/>
          <p:cNvSpPr/>
          <p:nvPr/>
        </p:nvSpPr>
        <p:spPr>
          <a:xfrm>
            <a:off x="685800" y="1691640"/>
            <a:ext cx="365760" cy="365760"/>
          </a:xfrm>
          <a:prstGeom prst="ellipse">
            <a:avLst/>
          </a:prstGeom>
          <a:solidFill>
            <a:srgbClr val="2A9D8F"/>
          </a:solidFill>
          <a:ln w="25400">
            <a:solidFill>
              <a:srgbClr val="FFFFFF"/>
            </a:solidFill>
            <a:prstDash val="solid"/>
          </a:ln>
        </p:spPr>
      </p:sp>
      <p:sp>
        <p:nvSpPr>
          <p:cNvPr id="7" name="Text 5"/>
          <p:cNvSpPr txBox="1"/>
          <p:nvPr/>
        </p:nvSpPr>
        <p:spPr>
          <a:xfrm>
            <a:off x="548640" y="1188720"/>
            <a:ext cx="2103120" cy="411480"/>
          </a:xfrm>
          <a:prstGeom prst="rect">
            <a:avLst/>
          </a:prstGeom>
          <a:noFill/>
          <a:ln/>
        </p:spPr>
        <p:txBody>
          <a:bodyPr wrap="square" lIns="0" tIns="0" rIns="0" bIns="0" rtlCol="0" anchor="ctr"/>
          <a:lstStyle/>
          <a:p>
            <a:pPr indent="0" marL="0">
              <a:buNone/>
            </a:pPr>
            <a:r>
              <a:rPr lang="en-US" sz="1500" b="1" dirty="0">
                <a:solidFill>
                  <a:schemeClr val="tx2"/>
                </a:solidFill>
              </a:rPr>
              <a:t>7 Oct</a:t>
            </a:r>
            <a:endParaRPr lang="en-US" sz="1500" dirty="0"/>
          </a:p>
        </p:txBody>
      </p:sp>
      <p:sp>
        <p:nvSpPr>
          <p:cNvPr id="8" name="Text 6"/>
          <p:cNvSpPr txBox="1"/>
          <p:nvPr/>
        </p:nvSpPr>
        <p:spPr>
          <a:xfrm>
            <a:off x="548640" y="2194560"/>
            <a:ext cx="2103120" cy="822960"/>
          </a:xfrm>
          <a:prstGeom prst="rect">
            <a:avLst/>
          </a:prstGeom>
          <a:noFill/>
          <a:ln/>
        </p:spPr>
        <p:txBody>
          <a:bodyPr wrap="square" lIns="0" tIns="0" rIns="0" bIns="0" rtlCol="0" anchor="t"/>
          <a:lstStyle/>
          <a:p>
            <a:pPr indent="0" marL="0">
              <a:buNone/>
            </a:pPr>
            <a:r>
              <a:rPr lang="en-US" sz="1300" dirty="0">
                <a:solidFill>
                  <a:schemeClr val="tx1"/>
                </a:solidFill>
              </a:rPr>
              <a:t>System built: data pipeline, 3 models, web app</a:t>
            </a:r>
            <a:endParaRPr lang="en-US" sz="1300" dirty="0"/>
          </a:p>
        </p:txBody>
      </p:sp>
      <p:sp>
        <p:nvSpPr>
          <p:cNvPr id="9" name="milestone"/>
          <p:cNvSpPr/>
          <p:nvPr/>
        </p:nvSpPr>
        <p:spPr>
          <a:xfrm>
            <a:off x="2926080" y="1691640"/>
            <a:ext cx="365760" cy="365760"/>
          </a:xfrm>
          <a:prstGeom prst="ellipse">
            <a:avLst/>
          </a:prstGeom>
          <a:solidFill>
            <a:srgbClr val="2A9D8F"/>
          </a:solidFill>
          <a:ln w="25400">
            <a:solidFill>
              <a:srgbClr val="FFFFFF"/>
            </a:solidFill>
            <a:prstDash val="solid"/>
          </a:ln>
        </p:spPr>
      </p:sp>
      <p:sp>
        <p:nvSpPr>
          <p:cNvPr id="10" name="Text 8"/>
          <p:cNvSpPr txBox="1"/>
          <p:nvPr/>
        </p:nvSpPr>
        <p:spPr>
          <a:xfrm>
            <a:off x="2788920" y="1188720"/>
            <a:ext cx="2103120" cy="411480"/>
          </a:xfrm>
          <a:prstGeom prst="rect">
            <a:avLst/>
          </a:prstGeom>
          <a:noFill/>
          <a:ln/>
        </p:spPr>
        <p:txBody>
          <a:bodyPr wrap="square" lIns="0" tIns="0" rIns="0" bIns="0" rtlCol="0" anchor="ctr"/>
          <a:lstStyle/>
          <a:p>
            <a:pPr indent="0" marL="0">
              <a:buNone/>
            </a:pPr>
            <a:r>
              <a:rPr lang="en-US" sz="1500" b="1" dirty="0">
                <a:solidFill>
                  <a:schemeClr val="tx2"/>
                </a:solidFill>
              </a:rPr>
              <a:t>22 Oct</a:t>
            </a:r>
            <a:endParaRPr lang="en-US" sz="1500" dirty="0"/>
          </a:p>
        </p:txBody>
      </p:sp>
      <p:sp>
        <p:nvSpPr>
          <p:cNvPr id="11" name="Text 9"/>
          <p:cNvSpPr txBox="1"/>
          <p:nvPr/>
        </p:nvSpPr>
        <p:spPr>
          <a:xfrm>
            <a:off x="2788920" y="2194560"/>
            <a:ext cx="2103120" cy="822960"/>
          </a:xfrm>
          <a:prstGeom prst="rect">
            <a:avLst/>
          </a:prstGeom>
          <a:noFill/>
          <a:ln/>
        </p:spPr>
        <p:txBody>
          <a:bodyPr wrap="square" lIns="0" tIns="0" rIns="0" bIns="0" rtlCol="0" anchor="t"/>
          <a:lstStyle/>
          <a:p>
            <a:pPr indent="0" marL="0">
              <a:buNone/>
            </a:pPr>
            <a:r>
              <a:rPr lang="en-US" sz="1300" dirty="0">
                <a:solidFill>
                  <a:schemeClr val="tx1"/>
                </a:solidFill>
              </a:rPr>
              <a:t>Research audit, experiment plan, frozen splits</a:t>
            </a:r>
            <a:endParaRPr lang="en-US" sz="1300" dirty="0"/>
          </a:p>
        </p:txBody>
      </p:sp>
      <p:sp>
        <p:nvSpPr>
          <p:cNvPr id="12" name="milestone"/>
          <p:cNvSpPr/>
          <p:nvPr/>
        </p:nvSpPr>
        <p:spPr>
          <a:xfrm>
            <a:off x="5166360" y="1691640"/>
            <a:ext cx="365760" cy="365760"/>
          </a:xfrm>
          <a:prstGeom prst="ellipse">
            <a:avLst/>
          </a:prstGeom>
          <a:solidFill>
            <a:srgbClr val="2A9D8F"/>
          </a:solidFill>
          <a:ln w="25400">
            <a:solidFill>
              <a:srgbClr val="FFFFFF"/>
            </a:solidFill>
            <a:prstDash val="solid"/>
          </a:ln>
        </p:spPr>
      </p:sp>
      <p:sp>
        <p:nvSpPr>
          <p:cNvPr id="13" name="Text 11"/>
          <p:cNvSpPr txBox="1"/>
          <p:nvPr/>
        </p:nvSpPr>
        <p:spPr>
          <a:xfrm>
            <a:off x="5029200" y="1188720"/>
            <a:ext cx="2103120" cy="411480"/>
          </a:xfrm>
          <a:prstGeom prst="rect">
            <a:avLst/>
          </a:prstGeom>
          <a:noFill/>
          <a:ln/>
        </p:spPr>
        <p:txBody>
          <a:bodyPr wrap="square" lIns="0" tIns="0" rIns="0" bIns="0" rtlCol="0" anchor="ctr"/>
          <a:lstStyle/>
          <a:p>
            <a:pPr indent="0" marL="0">
              <a:buNone/>
            </a:pPr>
            <a:r>
              <a:rPr lang="en-US" sz="1500" b="1" dirty="0">
                <a:solidFill>
                  <a:schemeClr val="tx2"/>
                </a:solidFill>
              </a:rPr>
              <a:t>22-24 Oct</a:t>
            </a:r>
            <a:endParaRPr lang="en-US" sz="1500" dirty="0"/>
          </a:p>
        </p:txBody>
      </p:sp>
      <p:sp>
        <p:nvSpPr>
          <p:cNvPr id="14" name="Text 12"/>
          <p:cNvSpPr txBox="1"/>
          <p:nvPr/>
        </p:nvSpPr>
        <p:spPr>
          <a:xfrm>
            <a:off x="5029200" y="2194560"/>
            <a:ext cx="2103120" cy="822960"/>
          </a:xfrm>
          <a:prstGeom prst="rect">
            <a:avLst/>
          </a:prstGeom>
          <a:noFill/>
          <a:ln/>
        </p:spPr>
        <p:txBody>
          <a:bodyPr wrap="square" lIns="0" tIns="0" rIns="0" bIns="0" rtlCol="0" anchor="t"/>
          <a:lstStyle/>
          <a:p>
            <a:pPr indent="0" marL="0">
              <a:buNone/>
            </a:pPr>
            <a:r>
              <a:rPr lang="en-US" sz="1300" dirty="0">
                <a:solidFill>
                  <a:schemeClr val="tx1"/>
                </a:solidFill>
              </a:rPr>
              <a:t>21 CPU training runs with resumable snapshots</a:t>
            </a:r>
            <a:endParaRPr lang="en-US" sz="1300" dirty="0"/>
          </a:p>
        </p:txBody>
      </p:sp>
      <p:sp>
        <p:nvSpPr>
          <p:cNvPr id="15" name="milestone"/>
          <p:cNvSpPr/>
          <p:nvPr/>
        </p:nvSpPr>
        <p:spPr>
          <a:xfrm>
            <a:off x="7406640" y="1691640"/>
            <a:ext cx="365760" cy="365760"/>
          </a:xfrm>
          <a:prstGeom prst="ellipse">
            <a:avLst/>
          </a:prstGeom>
          <a:solidFill>
            <a:srgbClr val="2A9D8F"/>
          </a:solidFill>
          <a:ln w="25400">
            <a:solidFill>
              <a:srgbClr val="FFFFFF"/>
            </a:solidFill>
            <a:prstDash val="solid"/>
          </a:ln>
        </p:spPr>
      </p:sp>
      <p:sp>
        <p:nvSpPr>
          <p:cNvPr id="16" name="Text 14"/>
          <p:cNvSpPr txBox="1"/>
          <p:nvPr/>
        </p:nvSpPr>
        <p:spPr>
          <a:xfrm>
            <a:off x="7269480" y="1188720"/>
            <a:ext cx="2103120" cy="411480"/>
          </a:xfrm>
          <a:prstGeom prst="rect">
            <a:avLst/>
          </a:prstGeom>
          <a:noFill/>
          <a:ln/>
        </p:spPr>
        <p:txBody>
          <a:bodyPr wrap="square" lIns="0" tIns="0" rIns="0" bIns="0" rtlCol="0" anchor="ctr"/>
          <a:lstStyle/>
          <a:p>
            <a:pPr indent="0" marL="0">
              <a:buNone/>
            </a:pPr>
            <a:r>
              <a:rPr lang="en-US" sz="1500" b="1" dirty="0">
                <a:solidFill>
                  <a:schemeClr val="tx2"/>
                </a:solidFill>
              </a:rPr>
              <a:t>24 Oct</a:t>
            </a:r>
            <a:endParaRPr lang="en-US" sz="1500" dirty="0"/>
          </a:p>
        </p:txBody>
      </p:sp>
      <p:sp>
        <p:nvSpPr>
          <p:cNvPr id="17" name="Text 15"/>
          <p:cNvSpPr txBox="1"/>
          <p:nvPr/>
        </p:nvSpPr>
        <p:spPr>
          <a:xfrm>
            <a:off x="7269480" y="2194560"/>
            <a:ext cx="2103120" cy="822960"/>
          </a:xfrm>
          <a:prstGeom prst="rect">
            <a:avLst/>
          </a:prstGeom>
          <a:noFill/>
          <a:ln/>
        </p:spPr>
        <p:txBody>
          <a:bodyPr wrap="square" lIns="0" tIns="0" rIns="0" bIns="0" rtlCol="0" anchor="t"/>
          <a:lstStyle/>
          <a:p>
            <a:pPr indent="0" marL="0">
              <a:buNone/>
            </a:pPr>
            <a:r>
              <a:rPr lang="en-US" sz="1300" dirty="0">
                <a:solidFill>
                  <a:schemeClr val="tx1"/>
                </a:solidFill>
              </a:rPr>
              <a:t>Results, conclusion, IEEE paper</a:t>
            </a:r>
            <a:endParaRPr lang="en-US" sz="1300" dirty="0"/>
          </a:p>
        </p:txBody>
      </p:sp>
      <p:sp>
        <p:nvSpPr>
          <p:cNvPr id="18" name="milestone"/>
          <p:cNvSpPr/>
          <p:nvPr/>
        </p:nvSpPr>
        <p:spPr>
          <a:xfrm>
            <a:off x="9646920" y="1691640"/>
            <a:ext cx="365760" cy="365760"/>
          </a:xfrm>
          <a:prstGeom prst="ellipse">
            <a:avLst/>
          </a:prstGeom>
          <a:solidFill>
            <a:srgbClr val="2A9D8F"/>
          </a:solidFill>
          <a:ln w="25400">
            <a:solidFill>
              <a:srgbClr val="FFFFFF"/>
            </a:solidFill>
            <a:prstDash val="solid"/>
          </a:ln>
        </p:spPr>
      </p:sp>
      <p:sp>
        <p:nvSpPr>
          <p:cNvPr id="19" name="Text 17"/>
          <p:cNvSpPr txBox="1"/>
          <p:nvPr/>
        </p:nvSpPr>
        <p:spPr>
          <a:xfrm>
            <a:off x="9509760" y="1188720"/>
            <a:ext cx="2103120" cy="411480"/>
          </a:xfrm>
          <a:prstGeom prst="rect">
            <a:avLst/>
          </a:prstGeom>
          <a:noFill/>
          <a:ln/>
        </p:spPr>
        <p:txBody>
          <a:bodyPr wrap="square" lIns="0" tIns="0" rIns="0" bIns="0" rtlCol="0" anchor="ctr"/>
          <a:lstStyle/>
          <a:p>
            <a:pPr indent="0" marL="0">
              <a:buNone/>
            </a:pPr>
            <a:r>
              <a:rPr lang="en-US" sz="1500" b="1" dirty="0">
                <a:solidFill>
                  <a:schemeClr val="tx2"/>
                </a:solidFill>
              </a:rPr>
              <a:t>26 Oct</a:t>
            </a:r>
            <a:endParaRPr lang="en-US" sz="1500" dirty="0"/>
          </a:p>
        </p:txBody>
      </p:sp>
      <p:sp>
        <p:nvSpPr>
          <p:cNvPr id="20" name="Text 18"/>
          <p:cNvSpPr txBox="1"/>
          <p:nvPr/>
        </p:nvSpPr>
        <p:spPr>
          <a:xfrm>
            <a:off x="9509760" y="2194560"/>
            <a:ext cx="2103120" cy="822960"/>
          </a:xfrm>
          <a:prstGeom prst="rect">
            <a:avLst/>
          </a:prstGeom>
          <a:noFill/>
          <a:ln/>
        </p:spPr>
        <p:txBody>
          <a:bodyPr wrap="square" lIns="0" tIns="0" rIns="0" bIns="0" rtlCol="0" anchor="t"/>
          <a:lstStyle/>
          <a:p>
            <a:pPr indent="0" marL="0">
              <a:buNone/>
            </a:pPr>
            <a:r>
              <a:rPr lang="en-US" sz="1300" dirty="0">
                <a:solidFill>
                  <a:schemeClr val="tx1"/>
                </a:solidFill>
              </a:rPr>
              <a:t>Clone-and-run guide for anyone</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3200400"/>
          <a:ext cx="11064240" cy="914400"/>
        </p:xfrm>
        <a:graphic>
          <a:graphicData uri="http://schemas.openxmlformats.org/drawingml/2006/table">
            <a:tbl>
              <a:tblPr/>
              <a:tblGrid>
                <a:gridCol w="1463040"/>
                <a:gridCol w="8138160"/>
                <a:gridCol w="1463040"/>
              </a:tblGrid>
              <a:tr h="457200">
                <a:tc>
                  <a:txBody>
                    <a:bodyPr/>
                    <a:lstStyle/>
                    <a:p>
                      <a:pPr indent="0" marL="0">
                        <a:buNone/>
                      </a:pPr>
                      <a:r>
                        <a:rPr lang="en-US" sz="1300" b="1" dirty="0">
                          <a:solidFill>
                            <a:srgbClr val="FFFFFF"/>
                          </a:solidFill>
                        </a:rPr>
                        <a:t>Resource</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1F3354"/>
                    </a:solidFill>
                  </a:tcPr>
                </a:tc>
                <a:tc>
                  <a:txBody>
                    <a:bodyPr/>
                    <a:lstStyle/>
                    <a:p>
                      <a:pPr indent="0" marL="0">
                        <a:buNone/>
                      </a:pPr>
                      <a:r>
                        <a:rPr lang="en-US" sz="1300" b="1" dirty="0">
                          <a:solidFill>
                            <a:srgbClr val="FFFFFF"/>
                          </a:solidFill>
                        </a:rPr>
                        <a:t>What we used</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1F3354"/>
                    </a:solidFill>
                  </a:tcPr>
                </a:tc>
                <a:tc>
                  <a:txBody>
                    <a:bodyPr/>
                    <a:lstStyle/>
                    <a:p>
                      <a:pPr indent="0" marL="0">
                        <a:buNone/>
                      </a:pPr>
                      <a:r>
                        <a:rPr lang="en-US" sz="1300" b="1" dirty="0">
                          <a:solidFill>
                            <a:srgbClr val="FFFFFF"/>
                          </a:solidFill>
                        </a:rPr>
                        <a:t>Cash cost</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1F3354"/>
                    </a:solidFill>
                  </a:tcPr>
                </a:tc>
              </a:tr>
              <a:tr h="457200">
                <a:tc>
                  <a:txBody>
                    <a:bodyPr/>
                    <a:lstStyle/>
                    <a:p>
                      <a:pPr indent="0" marL="0">
                        <a:buNone/>
                      </a:pPr>
                      <a:r>
                        <a:rPr lang="en-US" sz="1300" dirty="0">
                          <a:solidFill>
                            <a:srgbClr val="1B2433"/>
                          </a:solidFill>
                        </a:rPr>
                        <a:t>Compute</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One 4-core CPU, 16 GB RAM; at least 23.3 h of recorded training time for 21 runs</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Rs 0</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2433"/>
                          </a:solidFill>
                        </a:rPr>
                        <a:t>GPU</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None. Kaggle GPU requests never attached, so training was made resumable instead</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Rs 0</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r>
              <a:tr h="457200">
                <a:tc>
                  <a:txBody>
                    <a:bodyPr/>
                    <a:lstStyle/>
                    <a:p>
                      <a:pPr indent="0" marL="0">
                        <a:buNone/>
                      </a:pPr>
                      <a:r>
                        <a:rPr lang="en-US" sz="1300" dirty="0">
                          <a:solidFill>
                            <a:srgbClr val="1B2433"/>
                          </a:solidFill>
                        </a:rPr>
                        <a:t>Software</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PyTorch, Transformers, scikit-learn, FastAPI (open source)</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Rs 0</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2433"/>
                          </a:solidFill>
                        </a:rPr>
                        <a:t>Data</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4 public datasets; no new data collected from people</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c>
                  <a:txBody>
                    <a:bodyPr/>
                    <a:lstStyle/>
                    <a:p>
                      <a:pPr indent="0" marL="0">
                        <a:buNone/>
                      </a:pPr>
                      <a:r>
                        <a:rPr lang="en-US" sz="1300" dirty="0">
                          <a:solidFill>
                            <a:srgbClr val="1B2433"/>
                          </a:solidFill>
                        </a:rPr>
                        <a:t>Rs 0</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6F8FA"/>
                    </a:solidFill>
                  </a:tcPr>
                </a:tc>
              </a:tr>
              <a:tr h="457200">
                <a:tc>
                  <a:txBody>
                    <a:bodyPr/>
                    <a:lstStyle/>
                    <a:p>
                      <a:pPr indent="0" marL="0">
                        <a:buNone/>
                      </a:pPr>
                      <a:r>
                        <a:rPr lang="en-US" sz="1300" dirty="0">
                          <a:solidFill>
                            <a:srgbClr val="1B2433"/>
                          </a:solidFill>
                        </a:rPr>
                        <a:t>Storage</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940 MB of checkpoints (MuRIL 914 MB, others 13 MB each)</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rPr>
                        <a:t>Rs 0</a:t>
                      </a:r>
                      <a:endParaRPr lang="en-US" sz="1300" dirty="0"/>
                    </a:p>
                  </a:txBody>
                  <a:tcPr marL="76200" marR="76200" marT="38100" marB="38100" anchor="ctr">
                    <a:lnL w="6350" cap="flat" cmpd="sng" algn="ctr">
                      <a:solidFill>
                        <a:srgbClr val="D3DCE5"/>
                      </a:solidFill>
                      <a:prstDash val="solid"/>
                      <a:round/>
                      <a:headEnd type="none" w="med" len="med"/>
                      <a:tailEnd type="none" w="med" len="med"/>
                    </a:lnL>
                    <a:lnR w="6350" cap="flat" cmpd="sng" algn="ctr">
                      <a:solidFill>
                        <a:srgbClr val="D3DCE5"/>
                      </a:solidFill>
                      <a:prstDash val="solid"/>
                      <a:round/>
                      <a:headEnd type="none" w="med" len="med"/>
                      <a:tailEnd type="none" w="med" len="med"/>
                    </a:lnR>
                    <a:lnT w="6350" cap="flat" cmpd="sng" algn="ctr">
                      <a:solidFill>
                        <a:srgbClr val="D3DCE5"/>
                      </a:solidFill>
                      <a:prstDash val="solid"/>
                      <a:round/>
                      <a:headEnd type="none" w="med" len="med"/>
                      <a:tailEnd type="none" w="med" len="med"/>
                    </a:lnT>
                    <a:lnB w="6350" cap="flat" cmpd="sng" algn="ctr">
                      <a:solidFill>
                        <a:srgbClr val="D3DCE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Scalability</a:t>
            </a:r>
            <a:endParaRPr lang="en-US" sz="3200" dirty="0"/>
          </a:p>
        </p:txBody>
      </p:sp>
      <p:sp>
        <p:nvSpPr>
          <p:cNvPr id="3" name="rubric-chip"/>
          <p:cNvSpPr/>
          <p:nvPr/>
        </p:nvSpPr>
        <p:spPr>
          <a:xfrm>
            <a:off x="9921240" y="502920"/>
            <a:ext cx="173736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921240" y="502920"/>
            <a:ext cx="1737360" cy="411480"/>
          </a:xfrm>
          <a:prstGeom prst="rect">
            <a:avLst/>
          </a:prstGeom>
          <a:noFill/>
          <a:ln/>
        </p:spPr>
        <p:txBody>
          <a:bodyPr wrap="square" lIns="0" tIns="0" rIns="0" bIns="0" rtlCol="0" anchor="ctr"/>
          <a:lstStyle/>
          <a:p>
            <a:pPr algn="ctr" indent="0" marL="0">
              <a:buNone/>
            </a:pPr>
            <a:r>
              <a:rPr lang="en-US" sz="1200" b="1" dirty="0">
                <a:solidFill>
                  <a:schemeClr val="tx2"/>
                </a:solidFill>
              </a:rPr>
              <a:t>Rubric 6</a:t>
            </a:r>
            <a:endParaRPr lang="en-US" sz="1200" dirty="0"/>
          </a:p>
        </p:txBody>
      </p:sp>
      <p:sp>
        <p:nvSpPr>
          <p:cNvPr id="5" name="card"/>
          <p:cNvSpPr/>
          <p:nvPr/>
        </p:nvSpPr>
        <p:spPr>
          <a:xfrm>
            <a:off x="548640" y="1325880"/>
            <a:ext cx="4754880" cy="1463040"/>
          </a:xfrm>
          <a:prstGeom prst="roundRect">
            <a:avLst>
              <a:gd name="adj" fmla="val 7500"/>
            </a:avLst>
          </a:prstGeom>
          <a:solidFill>
            <a:schemeClr val="bg2"/>
          </a:solidFill>
          <a:ln w="12700">
            <a:solidFill>
              <a:schemeClr val="bg2"/>
            </a:solidFill>
            <a:prstDash val="solid"/>
          </a:ln>
        </p:spPr>
      </p:sp>
      <p:sp>
        <p:nvSpPr>
          <p:cNvPr id="6" name="Text 4"/>
          <p:cNvSpPr txBox="1"/>
          <p:nvPr/>
        </p:nvSpPr>
        <p:spPr>
          <a:xfrm>
            <a:off x="777240" y="1417320"/>
            <a:ext cx="4389120" cy="685800"/>
          </a:xfrm>
          <a:prstGeom prst="rect">
            <a:avLst/>
          </a:prstGeom>
          <a:noFill/>
          <a:ln/>
        </p:spPr>
        <p:txBody>
          <a:bodyPr wrap="square" lIns="0" tIns="0" rIns="0" bIns="0" rtlCol="0" anchor="ctr"/>
          <a:lstStyle/>
          <a:p>
            <a:pPr indent="0" marL="0">
              <a:buNone/>
            </a:pPr>
            <a:r>
              <a:rPr lang="en-US" sz="3600" b="1" dirty="0">
                <a:solidFill>
                  <a:srgbClr val="4F63D2"/>
                </a:solidFill>
                <a:latin typeface="Cambria" pitchFamily="34" charset="0"/>
                <a:ea typeface="Cambria" pitchFamily="34" charset="-122"/>
                <a:cs typeface="Cambria" pitchFamily="34" charset="-120"/>
              </a:rPr>
              <a:t>~8 texts/s</a:t>
            </a:r>
            <a:endParaRPr lang="en-US" sz="3600" dirty="0"/>
          </a:p>
        </p:txBody>
      </p:sp>
      <p:sp>
        <p:nvSpPr>
          <p:cNvPr id="7" name="Text 5"/>
          <p:cNvSpPr txBox="1"/>
          <p:nvPr/>
        </p:nvSpPr>
        <p:spPr>
          <a:xfrm>
            <a:off x="777240" y="2103120"/>
            <a:ext cx="4389120" cy="685800"/>
          </a:xfrm>
          <a:prstGeom prst="rect">
            <a:avLst/>
          </a:prstGeom>
          <a:noFill/>
          <a:ln/>
        </p:spPr>
        <p:txBody>
          <a:bodyPr wrap="square" lIns="0" tIns="0" rIns="0" bIns="0" rtlCol="0" anchor="t"/>
          <a:lstStyle/>
          <a:p>
            <a:pPr indent="0" marL="0">
              <a:buNone/>
            </a:pPr>
            <a:r>
              <a:rPr lang="en-US" sz="1400" dirty="0">
                <a:solidFill>
                  <a:schemeClr val="tx1"/>
                </a:solidFill>
              </a:rPr>
              <a:t>MuRIL, one process on 4 CPU cores (from 124.5 ms median)</a:t>
            </a:r>
            <a:endParaRPr lang="en-US" sz="1400" dirty="0"/>
          </a:p>
        </p:txBody>
      </p:sp>
      <p:sp>
        <p:nvSpPr>
          <p:cNvPr id="8" name="card"/>
          <p:cNvSpPr/>
          <p:nvPr/>
        </p:nvSpPr>
        <p:spPr>
          <a:xfrm>
            <a:off x="548640" y="2926080"/>
            <a:ext cx="4754880" cy="1463040"/>
          </a:xfrm>
          <a:prstGeom prst="roundRect">
            <a:avLst>
              <a:gd name="adj" fmla="val 7500"/>
            </a:avLst>
          </a:prstGeom>
          <a:solidFill>
            <a:schemeClr val="bg2"/>
          </a:solidFill>
          <a:ln w="12700">
            <a:solidFill>
              <a:schemeClr val="bg2"/>
            </a:solidFill>
            <a:prstDash val="solid"/>
          </a:ln>
        </p:spPr>
      </p:sp>
      <p:sp>
        <p:nvSpPr>
          <p:cNvPr id="9" name="Text 7"/>
          <p:cNvSpPr txBox="1"/>
          <p:nvPr/>
        </p:nvSpPr>
        <p:spPr>
          <a:xfrm>
            <a:off x="777240" y="3017520"/>
            <a:ext cx="4389120" cy="685800"/>
          </a:xfrm>
          <a:prstGeom prst="rect">
            <a:avLst/>
          </a:prstGeom>
          <a:noFill/>
          <a:ln/>
        </p:spPr>
        <p:txBody>
          <a:bodyPr wrap="square" lIns="0" tIns="0" rIns="0" bIns="0" rtlCol="0" anchor="ctr"/>
          <a:lstStyle/>
          <a:p>
            <a:pPr indent="0" marL="0">
              <a:buNone/>
            </a:pPr>
            <a:r>
              <a:rPr lang="en-US" sz="3600" b="1" dirty="0">
                <a:solidFill>
                  <a:srgbClr val="2A9D8F"/>
                </a:solidFill>
                <a:latin typeface="Cambria" pitchFamily="34" charset="0"/>
                <a:ea typeface="Cambria" pitchFamily="34" charset="-122"/>
                <a:cs typeface="Cambria" pitchFamily="34" charset="-120"/>
              </a:rPr>
              <a:t>~85 texts/s</a:t>
            </a:r>
            <a:endParaRPr lang="en-US" sz="3600" dirty="0"/>
          </a:p>
        </p:txBody>
      </p:sp>
      <p:sp>
        <p:nvSpPr>
          <p:cNvPr id="10" name="Text 8"/>
          <p:cNvSpPr txBox="1"/>
          <p:nvPr/>
        </p:nvSpPr>
        <p:spPr>
          <a:xfrm>
            <a:off x="777240" y="3703320"/>
            <a:ext cx="4389120" cy="685800"/>
          </a:xfrm>
          <a:prstGeom prst="rect">
            <a:avLst/>
          </a:prstGeom>
          <a:noFill/>
          <a:ln/>
        </p:spPr>
        <p:txBody>
          <a:bodyPr wrap="square" lIns="0" tIns="0" rIns="0" bIns="0" rtlCol="0" anchor="t"/>
          <a:lstStyle/>
          <a:p>
            <a:pPr indent="0" marL="0">
              <a:buNone/>
            </a:pPr>
            <a:r>
              <a:rPr lang="en-US" sz="1400" dirty="0">
                <a:solidFill>
                  <a:schemeClr val="tx1"/>
                </a:solidFill>
              </a:rPr>
              <a:t>TF-IDF or BiLSTM on the same machine (10.5-11.7 ms)</a:t>
            </a:r>
            <a:endParaRPr lang="en-US" sz="1400" dirty="0"/>
          </a:p>
        </p:txBody>
      </p:sp>
      <p:sp>
        <p:nvSpPr>
          <p:cNvPr id="11" name="card"/>
          <p:cNvSpPr/>
          <p:nvPr/>
        </p:nvSpPr>
        <p:spPr>
          <a:xfrm>
            <a:off x="548640" y="4526280"/>
            <a:ext cx="4754880" cy="1463040"/>
          </a:xfrm>
          <a:prstGeom prst="roundRect">
            <a:avLst>
              <a:gd name="adj" fmla="val 7500"/>
            </a:avLst>
          </a:prstGeom>
          <a:solidFill>
            <a:schemeClr val="bg2"/>
          </a:solidFill>
          <a:ln w="12700">
            <a:solidFill>
              <a:schemeClr val="bg2"/>
            </a:solidFill>
            <a:prstDash val="solid"/>
          </a:ln>
        </p:spPr>
      </p:sp>
      <p:sp>
        <p:nvSpPr>
          <p:cNvPr id="12" name="Text 10"/>
          <p:cNvSpPr txBox="1"/>
          <p:nvPr/>
        </p:nvSpPr>
        <p:spPr>
          <a:xfrm>
            <a:off x="777240" y="4617720"/>
            <a:ext cx="4389120" cy="685800"/>
          </a:xfrm>
          <a:prstGeom prst="rect">
            <a:avLst/>
          </a:prstGeom>
          <a:noFill/>
          <a:ln/>
        </p:spPr>
        <p:txBody>
          <a:bodyPr wrap="square" lIns="0" tIns="0" rIns="0" bIns="0" rtlCol="0" anchor="ctr"/>
          <a:lstStyle/>
          <a:p>
            <a:pPr indent="0" marL="0">
              <a:buNone/>
            </a:pPr>
            <a:r>
              <a:rPr lang="en-US" sz="3600" b="1" dirty="0">
                <a:solidFill>
                  <a:srgbClr val="E39B2D"/>
                </a:solidFill>
                <a:latin typeface="Cambria" pitchFamily="34" charset="0"/>
                <a:ea typeface="Cambria" pitchFamily="34" charset="-122"/>
                <a:cs typeface="Cambria" pitchFamily="34" charset="-120"/>
              </a:rPr>
              <a:t>500 rows</a:t>
            </a:r>
            <a:endParaRPr lang="en-US" sz="3600" dirty="0"/>
          </a:p>
        </p:txBody>
      </p:sp>
      <p:sp>
        <p:nvSpPr>
          <p:cNvPr id="13" name="Text 11"/>
          <p:cNvSpPr txBox="1"/>
          <p:nvPr/>
        </p:nvSpPr>
        <p:spPr>
          <a:xfrm>
            <a:off x="777240" y="5303520"/>
            <a:ext cx="4389120" cy="685800"/>
          </a:xfrm>
          <a:prstGeom prst="rect">
            <a:avLst/>
          </a:prstGeom>
          <a:noFill/>
          <a:ln/>
        </p:spPr>
        <p:txBody>
          <a:bodyPr wrap="square" lIns="0" tIns="0" rIns="0" bIns="0" rtlCol="0" anchor="t"/>
          <a:lstStyle/>
          <a:p>
            <a:pPr indent="0" marL="0">
              <a:buNone/>
            </a:pPr>
            <a:r>
              <a:rPr lang="en-US" sz="1400" dirty="0">
                <a:solidFill>
                  <a:schemeClr val="tx1"/>
                </a:solidFill>
              </a:rPr>
              <a:t>per batch CSV upload, processed in memory</a:t>
            </a:r>
            <a:endParaRPr lang="en-US" sz="1400" dirty="0"/>
          </a:p>
        </p:txBody>
      </p:sp>
      <p:sp>
        <p:nvSpPr>
          <p:cNvPr id="14" name="Text 12"/>
          <p:cNvSpPr txBox="1"/>
          <p:nvPr/>
        </p:nvSpPr>
        <p:spPr>
          <a:xfrm>
            <a:off x="5669280" y="1325880"/>
            <a:ext cx="5943600" cy="411480"/>
          </a:xfrm>
          <a:prstGeom prst="rect">
            <a:avLst/>
          </a:prstGeom>
          <a:noFill/>
          <a:ln/>
        </p:spPr>
        <p:txBody>
          <a:bodyPr wrap="square" lIns="0" tIns="0" rIns="0" bIns="0" rtlCol="0" anchor="ctr"/>
          <a:lstStyle/>
          <a:p>
            <a:pPr indent="0" marL="0">
              <a:buNone/>
            </a:pPr>
            <a:r>
              <a:rPr lang="en-US" sz="1800" b="1" dirty="0">
                <a:solidFill>
                  <a:schemeClr val="tx2"/>
                </a:solidFill>
              </a:rPr>
              <a:t>How it scales</a:t>
            </a:r>
            <a:endParaRPr lang="en-US" sz="1800" dirty="0"/>
          </a:p>
        </p:txBody>
      </p:sp>
      <p:sp>
        <p:nvSpPr>
          <p:cNvPr id="15" name="Text 13"/>
          <p:cNvSpPr txBox="1"/>
          <p:nvPr/>
        </p:nvSpPr>
        <p:spPr>
          <a:xfrm>
            <a:off x="5669280" y="1874520"/>
            <a:ext cx="5943600" cy="420624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The API keeps no per-user state, so more replicas behind a load balancer add throughput linearly. Servers needed is roughly peak texts per second divided by 8.</a:t>
            </a:r>
            <a:endParaRPr lang="en-US" sz="1500" dirty="0"/>
          </a:p>
          <a:p>
            <a:pPr marL="228600" indent="-228600">
              <a:spcAft>
                <a:spcPts val="800"/>
              </a:spcAft>
              <a:buSzPct val="100000"/>
              <a:buChar char="•"/>
            </a:pPr>
            <a:r>
              <a:rPr lang="en-US" sz="1500" dirty="0">
                <a:solidFill>
                  <a:schemeClr val="tx1"/>
                </a:solidFill>
              </a:rPr>
              <a:t>High-volume, low-stakes traffic can go to the 13 MB TF-IDF model, about 12 times faster than MuRIL.</a:t>
            </a:r>
            <a:endParaRPr lang="en-US" sz="1500" dirty="0"/>
          </a:p>
          <a:p>
            <a:pPr marL="228600" indent="-228600">
              <a:spcAft>
                <a:spcPts val="800"/>
              </a:spcAft>
              <a:buSzPct val="100000"/>
              <a:buChar char="•"/>
            </a:pPr>
            <a:r>
              <a:rPr lang="en-US" sz="1500" dirty="0">
                <a:solidFill>
                  <a:schemeClr val="tx1"/>
                </a:solidFill>
              </a:rPr>
              <a:t>New languages need labelled data per task; the code is language-agnostic, the claims are not.</a:t>
            </a:r>
            <a:endParaRPr lang="en-US" sz="1500" dirty="0"/>
          </a:p>
          <a:p>
            <a:pPr marL="228600" indent="-228600">
              <a:spcAft>
                <a:spcPts val="800"/>
              </a:spcAft>
              <a:buSzPct val="100000"/>
              <a:buChar char="•"/>
            </a:pPr>
            <a:r>
              <a:rPr lang="en-US" sz="1500" dirty="0">
                <a:solidFill>
                  <a:schemeClr val="tx1"/>
                </a:solidFill>
              </a:rPr>
              <a:t>Planned, not yet measured: GPU serving, batched inference, 8-bit quantisation.</a:t>
            </a:r>
            <a:endParaRPr lang="en-US" sz="15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ection-number"/>
          <p:cNvSpPr/>
          <p:nvPr/>
        </p:nvSpPr>
        <p:spPr>
          <a:xfrm>
            <a:off x="502920" y="2606040"/>
            <a:ext cx="777240" cy="777240"/>
          </a:xfrm>
          <a:prstGeom prst="ellipse">
            <a:avLst/>
          </a:prstGeom>
          <a:solidFill>
            <a:schemeClr val="accent1"/>
          </a:solidFill>
          <a:ln w="12700">
            <a:solidFill>
              <a:schemeClr val="accent1"/>
            </a:solidFill>
            <a:prstDash val="solid"/>
          </a:ln>
        </p:spPr>
      </p:sp>
      <p:sp>
        <p:nvSpPr>
          <p:cNvPr id="3" name="Text 1"/>
          <p:cNvSpPr txBox="1"/>
          <p:nvPr/>
        </p:nvSpPr>
        <p:spPr>
          <a:xfrm>
            <a:off x="502920" y="2606040"/>
            <a:ext cx="777240" cy="777240"/>
          </a:xfrm>
          <a:prstGeom prst="rect">
            <a:avLst/>
          </a:prstGeom>
          <a:noFill/>
          <a:ln/>
        </p:spPr>
        <p:txBody>
          <a:bodyPr wrap="square" lIns="0" tIns="0" rIns="0" bIns="0" rtlCol="0" anchor="ctr"/>
          <a:lstStyle/>
          <a:p>
            <a:pPr algn="ctr" indent="0" marL="0">
              <a:buNone/>
            </a:pPr>
            <a:r>
              <a:rPr lang="en-US" sz="2800" b="1" dirty="0">
                <a:solidFill>
                  <a:schemeClr val="bg1"/>
                </a:solidFill>
                <a:latin typeface="Cambria" pitchFamily="34" charset="0"/>
                <a:ea typeface="Cambria" pitchFamily="34" charset="-122"/>
                <a:cs typeface="Cambria" pitchFamily="34" charset="-120"/>
              </a:rPr>
              <a:t>5</a:t>
            </a:r>
            <a:endParaRPr lang="en-US" sz="2800" dirty="0"/>
          </a:p>
        </p:txBody>
      </p:sp>
      <p:sp>
        <p:nvSpPr>
          <p:cNvPr id="4" name="Text 0"/>
          <p:cNvSpPr/>
          <p:nvPr>
            <p:ph idx="100" type="title" hasCustomPrompt="1"/>
          </p:nvPr>
        </p:nvSpPr>
        <p:spPr>
          <a:xfrm>
            <a:off x="1463040" y="2514600"/>
            <a:ext cx="9601200" cy="109728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Ethics and research paper</a:t>
            </a:r>
            <a:endParaRPr lang="en-US" sz="4000" dirty="0"/>
          </a:p>
        </p:txBody>
      </p:sp>
      <p:sp>
        <p:nvSpPr>
          <p:cNvPr id="5" name="Text 0"/>
          <p:cNvSpPr/>
          <p:nvPr>
            <p:ph idx="101" type="body" hasCustomPrompt="1"/>
          </p:nvPr>
        </p:nvSpPr>
        <p:spPr>
          <a:xfrm>
            <a:off x="1463040" y="3611880"/>
            <a:ext cx="9601200" cy="822960"/>
          </a:xfrm>
          <a:prstGeom prst="rect">
            <a:avLst/>
          </a:prstGeom>
          <a:noFill/>
          <a:ln/>
        </p:spPr>
        <p:txBody>
          <a:bodyPr wrap="square" lIns="0" tIns="0" rIns="0" bIns="0" rtlCol="0" anchor="t"/>
          <a:lstStyle/>
          <a:p>
            <a:pPr algn="l" indent="0" marL="0">
              <a:buNone/>
            </a:pPr>
            <a:r>
              <a:rPr lang="en-US" sz="1800" dirty="0">
                <a:solidFill>
                  <a:srgbClr val="C9D6E3"/>
                </a:solidFill>
              </a:rPr>
              <a:t>Responsible design, and the state of the paper</a:t>
            </a:r>
            <a:endParaRPr lang="en-US" sz="18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C9D6E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Ethics, privacy, safety and sustainability</a:t>
            </a:r>
            <a:endParaRPr lang="en-US" sz="3200" dirty="0"/>
          </a:p>
        </p:txBody>
      </p:sp>
      <p:sp>
        <p:nvSpPr>
          <p:cNvPr id="3" name="rubric-chip"/>
          <p:cNvSpPr/>
          <p:nvPr/>
        </p:nvSpPr>
        <p:spPr>
          <a:xfrm>
            <a:off x="9921240" y="502920"/>
            <a:ext cx="173736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921240" y="502920"/>
            <a:ext cx="1737360" cy="411480"/>
          </a:xfrm>
          <a:prstGeom prst="rect">
            <a:avLst/>
          </a:prstGeom>
          <a:noFill/>
          <a:ln/>
        </p:spPr>
        <p:txBody>
          <a:bodyPr wrap="square" lIns="0" tIns="0" rIns="0" bIns="0" rtlCol="0" anchor="ctr"/>
          <a:lstStyle/>
          <a:p>
            <a:pPr algn="ctr" indent="0" marL="0">
              <a:buNone/>
            </a:pPr>
            <a:r>
              <a:rPr lang="en-US" sz="1200" b="1" dirty="0">
                <a:solidFill>
                  <a:schemeClr val="tx2"/>
                </a:solidFill>
              </a:rPr>
              <a:t>Rubric 7</a:t>
            </a:r>
            <a:endParaRPr lang="en-US" sz="1200" dirty="0"/>
          </a:p>
        </p:txBody>
      </p:sp>
      <p:sp>
        <p:nvSpPr>
          <p:cNvPr id="5" name="card"/>
          <p:cNvSpPr/>
          <p:nvPr/>
        </p:nvSpPr>
        <p:spPr>
          <a:xfrm>
            <a:off x="548640" y="1325880"/>
            <a:ext cx="3566160" cy="2240280"/>
          </a:xfrm>
          <a:prstGeom prst="roundRect">
            <a:avLst>
              <a:gd name="adj" fmla="val 4898"/>
            </a:avLst>
          </a:prstGeom>
          <a:solidFill>
            <a:schemeClr val="bg2"/>
          </a:solidFill>
          <a:ln w="12700">
            <a:solidFill>
              <a:schemeClr val="bg2"/>
            </a:solidFill>
            <a:prstDash val="solid"/>
          </a:ln>
        </p:spPr>
      </p:sp>
      <p:sp>
        <p:nvSpPr>
          <p:cNvPr id="6" name="icon-dot"/>
          <p:cNvSpPr/>
          <p:nvPr/>
        </p:nvSpPr>
        <p:spPr>
          <a:xfrm>
            <a:off x="777240" y="1554480"/>
            <a:ext cx="594360" cy="594360"/>
          </a:xfrm>
          <a:prstGeom prst="ellipse">
            <a:avLst/>
          </a:prstGeom>
          <a:solidFill>
            <a:srgbClr val="C8475A"/>
          </a:solidFill>
          <a:ln w="12700">
            <a:solidFill>
              <a:srgbClr val="C8475A"/>
            </a:solidFill>
            <a:prstDash val="solid"/>
          </a:ln>
        </p:spPr>
      </p:sp>
      <p:pic>
        <p:nvPicPr>
          <p:cNvPr id="7" name="Image 0" descr="icon">    </p:cNvPr>
          <p:cNvPicPr>
            <a:picLocks noChangeAspect="1"/>
          </p:cNvPicPr>
          <p:nvPr/>
        </p:nvPicPr>
        <p:blipFill>
          <a:blip r:embed="rId1"/>
          <a:stretch>
            <a:fillRect/>
          </a:stretch>
        </p:blipFill>
        <p:spPr>
          <a:xfrm>
            <a:off x="925830" y="1703070"/>
            <a:ext cx="297180" cy="297180"/>
          </a:xfrm>
          <a:prstGeom prst="rect">
            <a:avLst/>
          </a:prstGeom>
        </p:spPr>
      </p:pic>
      <p:sp>
        <p:nvSpPr>
          <p:cNvPr id="8" name="Text 5"/>
          <p:cNvSpPr txBox="1"/>
          <p:nvPr/>
        </p:nvSpPr>
        <p:spPr>
          <a:xfrm>
            <a:off x="1508760" y="1554480"/>
            <a:ext cx="2468880" cy="594360"/>
          </a:xfrm>
          <a:prstGeom prst="rect">
            <a:avLst/>
          </a:prstGeom>
          <a:noFill/>
          <a:ln/>
        </p:spPr>
        <p:txBody>
          <a:bodyPr wrap="square" lIns="0" tIns="0" rIns="0" bIns="0" rtlCol="0" anchor="ctr"/>
          <a:lstStyle/>
          <a:p>
            <a:pPr indent="0" marL="0">
              <a:buNone/>
            </a:pPr>
            <a:r>
              <a:rPr lang="en-US" sz="1700" b="1" dirty="0">
                <a:solidFill>
                  <a:schemeClr val="tx2"/>
                </a:solidFill>
              </a:rPr>
              <a:t>Not diagnostic</a:t>
            </a:r>
            <a:endParaRPr lang="en-US" sz="1700" dirty="0"/>
          </a:p>
        </p:txBody>
      </p:sp>
      <p:sp>
        <p:nvSpPr>
          <p:cNvPr id="9" name="Text 6"/>
          <p:cNvSpPr txBox="1"/>
          <p:nvPr/>
        </p:nvSpPr>
        <p:spPr>
          <a:xfrm>
            <a:off x="777240" y="2240280"/>
            <a:ext cx="3154680" cy="1234440"/>
          </a:xfrm>
          <a:prstGeom prst="rect">
            <a:avLst/>
          </a:prstGeom>
          <a:noFill/>
          <a:ln/>
        </p:spPr>
        <p:txBody>
          <a:bodyPr wrap="square" lIns="0" tIns="0" rIns="0" bIns="0" rtlCol="0" anchor="t"/>
          <a:lstStyle/>
          <a:p>
            <a:pPr indent="0" marL="0">
              <a:buNone/>
            </a:pPr>
            <a:r>
              <a:rPr lang="en-US" sz="1300" dirty="0">
                <a:solidFill>
                  <a:schemeClr val="tx1"/>
                </a:solidFill>
              </a:rPr>
              <a:t>Disclaimers on every page and response. "Risk" is defined as stress-related language only.</a:t>
            </a:r>
            <a:endParaRPr lang="en-US" sz="1300" dirty="0"/>
          </a:p>
        </p:txBody>
      </p:sp>
      <p:sp>
        <p:nvSpPr>
          <p:cNvPr id="10" name="card"/>
          <p:cNvSpPr/>
          <p:nvPr/>
        </p:nvSpPr>
        <p:spPr>
          <a:xfrm>
            <a:off x="4297680" y="1325880"/>
            <a:ext cx="3566160" cy="2240280"/>
          </a:xfrm>
          <a:prstGeom prst="roundRect">
            <a:avLst>
              <a:gd name="adj" fmla="val 4898"/>
            </a:avLst>
          </a:prstGeom>
          <a:solidFill>
            <a:schemeClr val="bg2"/>
          </a:solidFill>
          <a:ln w="12700">
            <a:solidFill>
              <a:schemeClr val="bg2"/>
            </a:solidFill>
            <a:prstDash val="solid"/>
          </a:ln>
        </p:spPr>
      </p:sp>
      <p:sp>
        <p:nvSpPr>
          <p:cNvPr id="11" name="icon-dot"/>
          <p:cNvSpPr/>
          <p:nvPr/>
        </p:nvSpPr>
        <p:spPr>
          <a:xfrm>
            <a:off x="4526280" y="1554480"/>
            <a:ext cx="594360" cy="594360"/>
          </a:xfrm>
          <a:prstGeom prst="ellipse">
            <a:avLst/>
          </a:prstGeom>
          <a:solidFill>
            <a:srgbClr val="1F3354"/>
          </a:solidFill>
          <a:ln w="12700">
            <a:solidFill>
              <a:srgbClr val="1F3354"/>
            </a:solidFill>
            <a:prstDash val="solid"/>
          </a:ln>
        </p:spPr>
      </p:sp>
      <p:pic>
        <p:nvPicPr>
          <p:cNvPr id="12" name="Image 1" descr="icon">    </p:cNvPr>
          <p:cNvPicPr>
            <a:picLocks noChangeAspect="1"/>
          </p:cNvPicPr>
          <p:nvPr/>
        </p:nvPicPr>
        <p:blipFill>
          <a:blip r:embed="rId2"/>
          <a:stretch>
            <a:fillRect/>
          </a:stretch>
        </p:blipFill>
        <p:spPr>
          <a:xfrm>
            <a:off x="4674870" y="1703070"/>
            <a:ext cx="297180" cy="297180"/>
          </a:xfrm>
          <a:prstGeom prst="rect">
            <a:avLst/>
          </a:prstGeom>
        </p:spPr>
      </p:pic>
      <p:sp>
        <p:nvSpPr>
          <p:cNvPr id="13" name="Text 9"/>
          <p:cNvSpPr txBox="1"/>
          <p:nvPr/>
        </p:nvSpPr>
        <p:spPr>
          <a:xfrm>
            <a:off x="5257800" y="1554480"/>
            <a:ext cx="2468880" cy="594360"/>
          </a:xfrm>
          <a:prstGeom prst="rect">
            <a:avLst/>
          </a:prstGeom>
          <a:noFill/>
          <a:ln/>
        </p:spPr>
        <p:txBody>
          <a:bodyPr wrap="square" lIns="0" tIns="0" rIns="0" bIns="0" rtlCol="0" anchor="ctr"/>
          <a:lstStyle/>
          <a:p>
            <a:pPr indent="0" marL="0">
              <a:buNone/>
            </a:pPr>
            <a:r>
              <a:rPr lang="en-US" sz="1700" b="1" dirty="0">
                <a:solidFill>
                  <a:schemeClr val="tx2"/>
                </a:solidFill>
              </a:rPr>
              <a:t>Privacy</a:t>
            </a:r>
            <a:endParaRPr lang="en-US" sz="1700" dirty="0"/>
          </a:p>
        </p:txBody>
      </p:sp>
      <p:sp>
        <p:nvSpPr>
          <p:cNvPr id="14" name="Text 10"/>
          <p:cNvSpPr txBox="1"/>
          <p:nvPr/>
        </p:nvSpPr>
        <p:spPr>
          <a:xfrm>
            <a:off x="4526280" y="2240280"/>
            <a:ext cx="3154680" cy="1234440"/>
          </a:xfrm>
          <a:prstGeom prst="rect">
            <a:avLst/>
          </a:prstGeom>
          <a:noFill/>
          <a:ln/>
        </p:spPr>
        <p:txBody>
          <a:bodyPr wrap="square" lIns="0" tIns="0" rIns="0" bIns="0" rtlCol="0" anchor="t"/>
          <a:lstStyle/>
          <a:p>
            <a:pPr indent="0" marL="0">
              <a:buNone/>
            </a:pPr>
            <a:r>
              <a:rPr lang="en-US" sz="1300" dirty="0">
                <a:solidFill>
                  <a:schemeClr val="tx1"/>
                </a:solidFill>
              </a:rPr>
              <a:t>Submitted text is never logged or stored. Logs keep a whitelist of metadata. Emails, phones, URLs and @mentions are masked.</a:t>
            </a:r>
            <a:endParaRPr lang="en-US" sz="1300" dirty="0"/>
          </a:p>
        </p:txBody>
      </p:sp>
      <p:sp>
        <p:nvSpPr>
          <p:cNvPr id="15" name="card"/>
          <p:cNvSpPr/>
          <p:nvPr/>
        </p:nvSpPr>
        <p:spPr>
          <a:xfrm>
            <a:off x="8046720" y="1325880"/>
            <a:ext cx="3566160" cy="2240280"/>
          </a:xfrm>
          <a:prstGeom prst="roundRect">
            <a:avLst>
              <a:gd name="adj" fmla="val 4898"/>
            </a:avLst>
          </a:prstGeom>
          <a:solidFill>
            <a:schemeClr val="bg2"/>
          </a:solidFill>
          <a:ln w="12700">
            <a:solidFill>
              <a:schemeClr val="bg2"/>
            </a:solidFill>
            <a:prstDash val="solid"/>
          </a:ln>
        </p:spPr>
      </p:sp>
      <p:sp>
        <p:nvSpPr>
          <p:cNvPr id="16" name="icon-dot"/>
          <p:cNvSpPr/>
          <p:nvPr/>
        </p:nvSpPr>
        <p:spPr>
          <a:xfrm>
            <a:off x="8275320" y="1554480"/>
            <a:ext cx="594360" cy="594360"/>
          </a:xfrm>
          <a:prstGeom prst="ellipse">
            <a:avLst/>
          </a:prstGeom>
          <a:solidFill>
            <a:srgbClr val="2A9D8F"/>
          </a:solidFill>
          <a:ln w="12700">
            <a:solidFill>
              <a:srgbClr val="2A9D8F"/>
            </a:solidFill>
            <a:prstDash val="solid"/>
          </a:ln>
        </p:spPr>
      </p:sp>
      <p:pic>
        <p:nvPicPr>
          <p:cNvPr id="17" name="Image 2" descr="icon">    </p:cNvPr>
          <p:cNvPicPr>
            <a:picLocks noChangeAspect="1"/>
          </p:cNvPicPr>
          <p:nvPr/>
        </p:nvPicPr>
        <p:blipFill>
          <a:blip r:embed="rId3"/>
          <a:stretch>
            <a:fillRect/>
          </a:stretch>
        </p:blipFill>
        <p:spPr>
          <a:xfrm>
            <a:off x="8423910" y="1703070"/>
            <a:ext cx="297180" cy="297180"/>
          </a:xfrm>
          <a:prstGeom prst="rect">
            <a:avLst/>
          </a:prstGeom>
        </p:spPr>
      </p:pic>
      <p:sp>
        <p:nvSpPr>
          <p:cNvPr id="18" name="Text 13"/>
          <p:cNvSpPr txBox="1"/>
          <p:nvPr/>
        </p:nvSpPr>
        <p:spPr>
          <a:xfrm>
            <a:off x="9006840" y="1554480"/>
            <a:ext cx="2468880" cy="594360"/>
          </a:xfrm>
          <a:prstGeom prst="rect">
            <a:avLst/>
          </a:prstGeom>
          <a:noFill/>
          <a:ln/>
        </p:spPr>
        <p:txBody>
          <a:bodyPr wrap="square" lIns="0" tIns="0" rIns="0" bIns="0" rtlCol="0" anchor="ctr"/>
          <a:lstStyle/>
          <a:p>
            <a:pPr indent="0" marL="0">
              <a:buNone/>
            </a:pPr>
            <a:r>
              <a:rPr lang="en-US" sz="1700" b="1" dirty="0">
                <a:solidFill>
                  <a:schemeClr val="tx2"/>
                </a:solidFill>
              </a:rPr>
              <a:t>Safety response</a:t>
            </a:r>
            <a:endParaRPr lang="en-US" sz="1700" dirty="0"/>
          </a:p>
        </p:txBody>
      </p:sp>
      <p:sp>
        <p:nvSpPr>
          <p:cNvPr id="19" name="Text 14"/>
          <p:cNvSpPr txBox="1"/>
          <p:nvPr/>
        </p:nvSpPr>
        <p:spPr>
          <a:xfrm>
            <a:off x="8275320" y="2240280"/>
            <a:ext cx="3154680" cy="1234440"/>
          </a:xfrm>
          <a:prstGeom prst="rect">
            <a:avLst/>
          </a:prstGeom>
          <a:noFill/>
          <a:ln/>
        </p:spPr>
        <p:txBody>
          <a:bodyPr wrap="square" lIns="0" tIns="0" rIns="0" bIns="0" rtlCol="0" anchor="t"/>
          <a:lstStyle/>
          <a:p>
            <a:pPr indent="0" marL="0">
              <a:buNone/>
            </a:pPr>
            <a:r>
              <a:rPr lang="en-US" sz="1300" dirty="0">
                <a:solidFill>
                  <a:schemeClr val="tx1"/>
                </a:solidFill>
              </a:rPr>
              <a:t>Elevated signals show official helpline directories (checked 7 Oct 2026). No hard-coded phone numbers that could go stale.</a:t>
            </a:r>
            <a:endParaRPr lang="en-US" sz="1300" dirty="0"/>
          </a:p>
        </p:txBody>
      </p:sp>
      <p:sp>
        <p:nvSpPr>
          <p:cNvPr id="20" name="card"/>
          <p:cNvSpPr/>
          <p:nvPr/>
        </p:nvSpPr>
        <p:spPr>
          <a:xfrm>
            <a:off x="548640" y="3749040"/>
            <a:ext cx="3566160" cy="2240280"/>
          </a:xfrm>
          <a:prstGeom prst="roundRect">
            <a:avLst>
              <a:gd name="adj" fmla="val 4898"/>
            </a:avLst>
          </a:prstGeom>
          <a:solidFill>
            <a:schemeClr val="bg2"/>
          </a:solidFill>
          <a:ln w="12700">
            <a:solidFill>
              <a:schemeClr val="bg2"/>
            </a:solidFill>
            <a:prstDash val="solid"/>
          </a:ln>
        </p:spPr>
      </p:sp>
      <p:sp>
        <p:nvSpPr>
          <p:cNvPr id="21" name="icon-dot"/>
          <p:cNvSpPr/>
          <p:nvPr/>
        </p:nvSpPr>
        <p:spPr>
          <a:xfrm>
            <a:off x="777240" y="3977640"/>
            <a:ext cx="594360" cy="594360"/>
          </a:xfrm>
          <a:prstGeom prst="ellipse">
            <a:avLst/>
          </a:prstGeom>
          <a:solidFill>
            <a:srgbClr val="4F63D2"/>
          </a:solidFill>
          <a:ln w="12700">
            <a:solidFill>
              <a:srgbClr val="4F63D2"/>
            </a:solidFill>
            <a:prstDash val="solid"/>
          </a:ln>
        </p:spPr>
      </p:sp>
      <p:pic>
        <p:nvPicPr>
          <p:cNvPr id="22" name="Image 3" descr="icon">    </p:cNvPr>
          <p:cNvPicPr>
            <a:picLocks noChangeAspect="1"/>
          </p:cNvPicPr>
          <p:nvPr/>
        </p:nvPicPr>
        <p:blipFill>
          <a:blip r:embed="rId4"/>
          <a:stretch>
            <a:fillRect/>
          </a:stretch>
        </p:blipFill>
        <p:spPr>
          <a:xfrm>
            <a:off x="925830" y="4126230"/>
            <a:ext cx="297180" cy="297180"/>
          </a:xfrm>
          <a:prstGeom prst="rect">
            <a:avLst/>
          </a:prstGeom>
        </p:spPr>
      </p:pic>
      <p:sp>
        <p:nvSpPr>
          <p:cNvPr id="23" name="Text 17"/>
          <p:cNvSpPr txBox="1"/>
          <p:nvPr/>
        </p:nvSpPr>
        <p:spPr>
          <a:xfrm>
            <a:off x="1508760" y="3977640"/>
            <a:ext cx="2468880" cy="594360"/>
          </a:xfrm>
          <a:prstGeom prst="rect">
            <a:avLst/>
          </a:prstGeom>
          <a:noFill/>
          <a:ln/>
        </p:spPr>
        <p:txBody>
          <a:bodyPr wrap="square" lIns="0" tIns="0" rIns="0" bIns="0" rtlCol="0" anchor="ctr"/>
          <a:lstStyle/>
          <a:p>
            <a:pPr indent="0" marL="0">
              <a:buNone/>
            </a:pPr>
            <a:r>
              <a:rPr lang="en-US" sz="1700" b="1" dirty="0">
                <a:solidFill>
                  <a:schemeClr val="tx2"/>
                </a:solidFill>
              </a:rPr>
              <a:t>Fairness</a:t>
            </a:r>
            <a:endParaRPr lang="en-US" sz="1700" dirty="0"/>
          </a:p>
        </p:txBody>
      </p:sp>
      <p:sp>
        <p:nvSpPr>
          <p:cNvPr id="24" name="Text 18"/>
          <p:cNvSpPr txBox="1"/>
          <p:nvPr/>
        </p:nvSpPr>
        <p:spPr>
          <a:xfrm>
            <a:off x="777240" y="4663440"/>
            <a:ext cx="3154680" cy="1234440"/>
          </a:xfrm>
          <a:prstGeom prst="rect">
            <a:avLst/>
          </a:prstGeom>
          <a:noFill/>
          <a:ln/>
        </p:spPr>
        <p:txBody>
          <a:bodyPr wrap="square" lIns="0" tIns="0" rIns="0" bIns="0" rtlCol="0" anchor="t"/>
          <a:lstStyle/>
          <a:p>
            <a:pPr indent="0" marL="0">
              <a:buNone/>
            </a:pPr>
            <a:r>
              <a:rPr lang="en-US" sz="1300" dirty="0">
                <a:solidFill>
                  <a:schemeClr val="tx1"/>
                </a:solidFill>
              </a:rPr>
              <a:t>Metrics reported per language. Outputs for languages without evaluation data are labelled unvalidated.</a:t>
            </a:r>
            <a:endParaRPr lang="en-US" sz="1300" dirty="0"/>
          </a:p>
        </p:txBody>
      </p:sp>
      <p:sp>
        <p:nvSpPr>
          <p:cNvPr id="25" name="card"/>
          <p:cNvSpPr/>
          <p:nvPr/>
        </p:nvSpPr>
        <p:spPr>
          <a:xfrm>
            <a:off x="4297680" y="3749040"/>
            <a:ext cx="3566160" cy="2240280"/>
          </a:xfrm>
          <a:prstGeom prst="roundRect">
            <a:avLst>
              <a:gd name="adj" fmla="val 4898"/>
            </a:avLst>
          </a:prstGeom>
          <a:solidFill>
            <a:schemeClr val="bg2"/>
          </a:solidFill>
          <a:ln w="12700">
            <a:solidFill>
              <a:schemeClr val="bg2"/>
            </a:solidFill>
            <a:prstDash val="solid"/>
          </a:ln>
        </p:spPr>
      </p:sp>
      <p:sp>
        <p:nvSpPr>
          <p:cNvPr id="26" name="icon-dot"/>
          <p:cNvSpPr/>
          <p:nvPr/>
        </p:nvSpPr>
        <p:spPr>
          <a:xfrm>
            <a:off x="4526280" y="3977640"/>
            <a:ext cx="594360" cy="594360"/>
          </a:xfrm>
          <a:prstGeom prst="ellipse">
            <a:avLst/>
          </a:prstGeom>
          <a:solidFill>
            <a:srgbClr val="6B7C8F"/>
          </a:solidFill>
          <a:ln w="12700">
            <a:solidFill>
              <a:srgbClr val="6B7C8F"/>
            </a:solidFill>
            <a:prstDash val="solid"/>
          </a:ln>
        </p:spPr>
      </p:sp>
      <p:pic>
        <p:nvPicPr>
          <p:cNvPr id="27" name="Image 4" descr="icon">    </p:cNvPr>
          <p:cNvPicPr>
            <a:picLocks noChangeAspect="1"/>
          </p:cNvPicPr>
          <p:nvPr/>
        </p:nvPicPr>
        <p:blipFill>
          <a:blip r:embed="rId5"/>
          <a:stretch>
            <a:fillRect/>
          </a:stretch>
        </p:blipFill>
        <p:spPr>
          <a:xfrm>
            <a:off x="4674870" y="4126230"/>
            <a:ext cx="297180" cy="297180"/>
          </a:xfrm>
          <a:prstGeom prst="rect">
            <a:avLst/>
          </a:prstGeom>
        </p:spPr>
      </p:pic>
      <p:sp>
        <p:nvSpPr>
          <p:cNvPr id="28" name="Text 21"/>
          <p:cNvSpPr txBox="1"/>
          <p:nvPr/>
        </p:nvSpPr>
        <p:spPr>
          <a:xfrm>
            <a:off x="5257800" y="3977640"/>
            <a:ext cx="2468880" cy="594360"/>
          </a:xfrm>
          <a:prstGeom prst="rect">
            <a:avLst/>
          </a:prstGeom>
          <a:noFill/>
          <a:ln/>
        </p:spPr>
        <p:txBody>
          <a:bodyPr wrap="square" lIns="0" tIns="0" rIns="0" bIns="0" rtlCol="0" anchor="ctr"/>
          <a:lstStyle/>
          <a:p>
            <a:pPr indent="0" marL="0">
              <a:buNone/>
            </a:pPr>
            <a:r>
              <a:rPr lang="en-US" sz="1700" b="1" dirty="0">
                <a:solidFill>
                  <a:schemeClr val="tx2"/>
                </a:solidFill>
              </a:rPr>
              <a:t>Data ethics</a:t>
            </a:r>
            <a:endParaRPr lang="en-US" sz="1700" dirty="0"/>
          </a:p>
        </p:txBody>
      </p:sp>
      <p:sp>
        <p:nvSpPr>
          <p:cNvPr id="29" name="Text 22"/>
          <p:cNvSpPr txBox="1"/>
          <p:nvPr/>
        </p:nvSpPr>
        <p:spPr>
          <a:xfrm>
            <a:off x="4526280" y="4663440"/>
            <a:ext cx="3154680" cy="1234440"/>
          </a:xfrm>
          <a:prstGeom prst="rect">
            <a:avLst/>
          </a:prstGeom>
          <a:noFill/>
          <a:ln/>
        </p:spPr>
        <p:txBody>
          <a:bodyPr wrap="square" lIns="0" tIns="0" rIns="0" bIns="0" rtlCol="0" anchor="t"/>
          <a:lstStyle/>
          <a:p>
            <a:pPr indent="0" marL="0">
              <a:buNone/>
            </a:pPr>
            <a:r>
              <a:rPr lang="en-US" sz="1300" dirty="0">
                <a:solidFill>
                  <a:schemeClr val="tx1"/>
                </a:solidFill>
              </a:rPr>
              <a:t>Public datasets only; raw Reddit and Twitter text is not redistributed. Dreaddit's licence is unverified and flagged.</a:t>
            </a:r>
            <a:endParaRPr lang="en-US" sz="1300" dirty="0"/>
          </a:p>
        </p:txBody>
      </p:sp>
      <p:sp>
        <p:nvSpPr>
          <p:cNvPr id="30" name="card"/>
          <p:cNvSpPr/>
          <p:nvPr/>
        </p:nvSpPr>
        <p:spPr>
          <a:xfrm>
            <a:off x="8046720" y="3749040"/>
            <a:ext cx="3566160" cy="2240280"/>
          </a:xfrm>
          <a:prstGeom prst="roundRect">
            <a:avLst>
              <a:gd name="adj" fmla="val 4898"/>
            </a:avLst>
          </a:prstGeom>
          <a:solidFill>
            <a:schemeClr val="bg2"/>
          </a:solidFill>
          <a:ln w="12700">
            <a:solidFill>
              <a:schemeClr val="bg2"/>
            </a:solidFill>
            <a:prstDash val="solid"/>
          </a:ln>
        </p:spPr>
      </p:sp>
      <p:sp>
        <p:nvSpPr>
          <p:cNvPr id="31" name="icon-dot"/>
          <p:cNvSpPr/>
          <p:nvPr/>
        </p:nvSpPr>
        <p:spPr>
          <a:xfrm>
            <a:off x="8275320" y="3977640"/>
            <a:ext cx="594360" cy="594360"/>
          </a:xfrm>
          <a:prstGeom prst="ellipse">
            <a:avLst/>
          </a:prstGeom>
          <a:solidFill>
            <a:srgbClr val="3B7D5A"/>
          </a:solidFill>
          <a:ln w="12700">
            <a:solidFill>
              <a:srgbClr val="3B7D5A"/>
            </a:solidFill>
            <a:prstDash val="solid"/>
          </a:ln>
        </p:spPr>
      </p:sp>
      <p:pic>
        <p:nvPicPr>
          <p:cNvPr id="32" name="Image 5" descr="icon">    </p:cNvPr>
          <p:cNvPicPr>
            <a:picLocks noChangeAspect="1"/>
          </p:cNvPicPr>
          <p:nvPr/>
        </p:nvPicPr>
        <p:blipFill>
          <a:blip r:embed="rId6"/>
          <a:stretch>
            <a:fillRect/>
          </a:stretch>
        </p:blipFill>
        <p:spPr>
          <a:xfrm>
            <a:off x="8423910" y="4126230"/>
            <a:ext cx="297180" cy="297180"/>
          </a:xfrm>
          <a:prstGeom prst="rect">
            <a:avLst/>
          </a:prstGeom>
        </p:spPr>
      </p:pic>
      <p:sp>
        <p:nvSpPr>
          <p:cNvPr id="33" name="Text 25"/>
          <p:cNvSpPr txBox="1"/>
          <p:nvPr/>
        </p:nvSpPr>
        <p:spPr>
          <a:xfrm>
            <a:off x="9006840" y="3977640"/>
            <a:ext cx="2468880" cy="594360"/>
          </a:xfrm>
          <a:prstGeom prst="rect">
            <a:avLst/>
          </a:prstGeom>
          <a:noFill/>
          <a:ln/>
        </p:spPr>
        <p:txBody>
          <a:bodyPr wrap="square" lIns="0" tIns="0" rIns="0" bIns="0" rtlCol="0" anchor="ctr"/>
          <a:lstStyle/>
          <a:p>
            <a:pPr indent="0" marL="0">
              <a:buNone/>
            </a:pPr>
            <a:r>
              <a:rPr lang="en-US" sz="1700" b="1" dirty="0">
                <a:solidFill>
                  <a:schemeClr val="tx2"/>
                </a:solidFill>
              </a:rPr>
              <a:t>Environment</a:t>
            </a:r>
            <a:endParaRPr lang="en-US" sz="1700" dirty="0"/>
          </a:p>
        </p:txBody>
      </p:sp>
      <p:sp>
        <p:nvSpPr>
          <p:cNvPr id="34" name="Text 26"/>
          <p:cNvSpPr txBox="1"/>
          <p:nvPr/>
        </p:nvSpPr>
        <p:spPr>
          <a:xfrm>
            <a:off x="8275320" y="4663440"/>
            <a:ext cx="3154680" cy="1234440"/>
          </a:xfrm>
          <a:prstGeom prst="rect">
            <a:avLst/>
          </a:prstGeom>
          <a:noFill/>
          <a:ln/>
        </p:spPr>
        <p:txBody>
          <a:bodyPr wrap="square" lIns="0" tIns="0" rIns="0" bIns="0" rtlCol="0" anchor="t"/>
          <a:lstStyle/>
          <a:p>
            <a:pPr indent="0" marL="0">
              <a:buNone/>
            </a:pPr>
            <a:r>
              <a:rPr lang="en-US" sz="1300" dirty="0">
                <a:solidFill>
                  <a:schemeClr val="tx1"/>
                </a:solidFill>
              </a:rPr>
              <a:t>CPU only, no GPU hours. Reused pre-trained encoders. 13 MB models available for low-energy serving.</a:t>
            </a:r>
            <a:endParaRPr lang="en-US" sz="13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Research paper and submission readiness</a:t>
            </a:r>
            <a:endParaRPr lang="en-US" sz="3200" dirty="0"/>
          </a:p>
        </p:txBody>
      </p:sp>
      <p:sp>
        <p:nvSpPr>
          <p:cNvPr id="3" name="rubric-chip"/>
          <p:cNvSpPr/>
          <p:nvPr/>
        </p:nvSpPr>
        <p:spPr>
          <a:xfrm>
            <a:off x="9921240" y="502920"/>
            <a:ext cx="173736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921240" y="502920"/>
            <a:ext cx="1737360" cy="411480"/>
          </a:xfrm>
          <a:prstGeom prst="rect">
            <a:avLst/>
          </a:prstGeom>
          <a:noFill/>
          <a:ln/>
        </p:spPr>
        <p:txBody>
          <a:bodyPr wrap="square" lIns="0" tIns="0" rIns="0" bIns="0" rtlCol="0" anchor="ctr"/>
          <a:lstStyle/>
          <a:p>
            <a:pPr algn="ctr" indent="0" marL="0">
              <a:buNone/>
            </a:pPr>
            <a:r>
              <a:rPr lang="en-US" sz="1200" b="1" dirty="0">
                <a:solidFill>
                  <a:schemeClr val="tx2"/>
                </a:solidFill>
              </a:rPr>
              <a:t>Rubric 8, 9</a:t>
            </a:r>
            <a:endParaRPr lang="en-US" sz="1200" dirty="0"/>
          </a:p>
        </p:txBody>
      </p:sp>
      <p:sp>
        <p:nvSpPr>
          <p:cNvPr id="5" name="frame-paper_p1-1.png"/>
          <p:cNvSpPr/>
          <p:nvPr/>
        </p:nvSpPr>
        <p:spPr>
          <a:xfrm>
            <a:off x="548640" y="1280160"/>
            <a:ext cx="3749040" cy="4851699"/>
          </a:xfrm>
          <a:prstGeom prst="rect">
            <a:avLst/>
          </a:prstGeom>
          <a:solidFill>
            <a:schemeClr val="bg1"/>
          </a:solidFill>
          <a:ln w="9525">
            <a:solidFill>
              <a:srgbClr val="D3DCE5"/>
            </a:solidFill>
            <a:prstDash val="solid"/>
          </a:ln>
          <a:effectLst>
            <a:outerShdw sx="100000" sy="100000" kx="0" ky="0" algn="bl" rotWithShape="0" blurRad="101600" dist="25400" dir="5400000">
              <a:srgbClr val="1B2433">
                <a:alpha val="18000"/>
              </a:srgbClr>
            </a:outerShdw>
          </a:effectLst>
        </p:spPr>
      </p:sp>
      <p:pic>
        <p:nvPicPr>
          <p:cNvPr id="6" name="Image 0" descr="First page of the IEEE-format research paper">    </p:cNvPr>
          <p:cNvPicPr>
            <a:picLocks noChangeAspect="1"/>
          </p:cNvPicPr>
          <p:nvPr/>
        </p:nvPicPr>
        <p:blipFill>
          <a:blip r:embed="rId1"/>
          <a:stretch>
            <a:fillRect/>
          </a:stretch>
        </p:blipFill>
        <p:spPr>
          <a:xfrm>
            <a:off x="548640" y="1280160"/>
            <a:ext cx="3749040" cy="4851699"/>
          </a:xfrm>
          <a:prstGeom prst="rect">
            <a:avLst/>
          </a:prstGeom>
        </p:spPr>
      </p:pic>
      <p:sp>
        <p:nvSpPr>
          <p:cNvPr id="7" name="Text 4"/>
          <p:cNvSpPr txBox="1"/>
          <p:nvPr/>
        </p:nvSpPr>
        <p:spPr>
          <a:xfrm>
            <a:off x="4572000" y="1280160"/>
            <a:ext cx="7086600" cy="914400"/>
          </a:xfrm>
          <a:prstGeom prst="rect">
            <a:avLst/>
          </a:prstGeom>
          <a:noFill/>
          <a:ln/>
        </p:spPr>
        <p:txBody>
          <a:bodyPr wrap="square" lIns="0" tIns="0" rIns="0" bIns="0" rtlCol="0" anchor="t"/>
          <a:lstStyle/>
          <a:p>
            <a:pPr indent="0" marL="0">
              <a:buNone/>
            </a:pPr>
            <a:r>
              <a:rPr lang="en-US" sz="1500" b="1" i="1" dirty="0">
                <a:solidFill>
                  <a:schemeClr val="tx2"/>
                </a:solidFill>
              </a:rPr>
              <a:t>Closing the Romanized-Hindi Gap in Affect and Stress-Language Classification: A Controlled Multi-Seed Study of Pre-training Data and Multi-Task Sharing</a:t>
            </a:r>
            <a:endParaRPr lang="en-US" sz="1500" dirty="0"/>
          </a:p>
        </p:txBody>
      </p:sp>
      <p:sp>
        <p:nvSpPr>
          <p:cNvPr id="8" name="Text 5"/>
          <p:cNvSpPr txBox="1"/>
          <p:nvPr/>
        </p:nvSpPr>
        <p:spPr>
          <a:xfrm>
            <a:off x="4572000" y="2331720"/>
            <a:ext cx="7086600" cy="237744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IEEE conference format, 7 pages, 8 tables, 4 figures.</a:t>
            </a:r>
            <a:endParaRPr lang="en-US" sz="1400" dirty="0"/>
          </a:p>
          <a:p>
            <a:pPr marL="228600" indent="-228600">
              <a:spcAft>
                <a:spcPts val="800"/>
              </a:spcAft>
              <a:buSzPct val="100000"/>
              <a:buChar char="•"/>
            </a:pPr>
            <a:r>
              <a:rPr lang="en-US" sz="1400" dirty="0">
                <a:solidFill>
                  <a:schemeClr val="tx1"/>
                </a:solidFill>
              </a:rPr>
              <a:t>37 references, each checked against arXiv, ACL Anthology or Crossref.</a:t>
            </a:r>
            <a:endParaRPr lang="en-US" sz="1400" dirty="0"/>
          </a:p>
          <a:p>
            <a:pPr marL="228600" indent="-228600">
              <a:spcAft>
                <a:spcPts val="800"/>
              </a:spcAft>
              <a:buSzPct val="100000"/>
              <a:buChar char="•"/>
            </a:pPr>
            <a:r>
              <a:rPr lang="en-US" sz="1400" dirty="0">
                <a:solidFill>
                  <a:schemeClr val="tx1"/>
                </a:solidFill>
              </a:rPr>
              <a:t>Every number traced to a run file in the public repository.</a:t>
            </a:r>
            <a:endParaRPr lang="en-US" sz="1400" dirty="0"/>
          </a:p>
          <a:p>
            <a:pPr marL="228600" indent="-228600">
              <a:spcAft>
                <a:spcPts val="800"/>
              </a:spcAft>
              <a:buSzPct val="100000"/>
              <a:buChar char="•"/>
            </a:pPr>
            <a:r>
              <a:rPr lang="en-US" sz="1400" dirty="0">
                <a:solidFill>
                  <a:schemeClr val="tx1"/>
                </a:solidFill>
              </a:rPr>
              <a:t>Contributions: Hinglish pre-training gain, multi-task ablation, truncation negative result, language-dependent explanation faithfulness, two data-quality findings.</a:t>
            </a:r>
            <a:endParaRPr lang="en-US" sz="1400" dirty="0"/>
          </a:p>
        </p:txBody>
      </p:sp>
      <p:sp>
        <p:nvSpPr>
          <p:cNvPr id="9" name="Text 6"/>
          <p:cNvSpPr txBox="1"/>
          <p:nvPr/>
        </p:nvSpPr>
        <p:spPr>
          <a:xfrm>
            <a:off x="4572000" y="4709160"/>
            <a:ext cx="7086600" cy="274320"/>
          </a:xfrm>
          <a:prstGeom prst="rect">
            <a:avLst/>
          </a:prstGeom>
          <a:noFill/>
          <a:ln/>
        </p:spPr>
        <p:txBody>
          <a:bodyPr wrap="square" lIns="0" tIns="0" rIns="0" bIns="0" rtlCol="0" anchor="ctr"/>
          <a:lstStyle/>
          <a:p>
            <a:pPr indent="0" marL="0">
              <a:buNone/>
            </a:pPr>
            <a:r>
              <a:rPr lang="en-US" sz="1300" b="1" dirty="0">
                <a:solidFill>
                  <a:srgbClr val="3B7D5A"/>
                </a:solidFill>
              </a:rPr>
              <a:t>Done   </a:t>
            </a:r>
            <a:pPr indent="0" marL="0">
              <a:buNone/>
            </a:pPr>
            <a:r>
              <a:rPr lang="en-US" sz="1300" dirty="0">
                <a:solidFill>
                  <a:schemeClr val="tx1"/>
                </a:solidFill>
              </a:rPr>
              <a:t>Paper PDF and source</a:t>
            </a:r>
            <a:endParaRPr lang="en-US" sz="1300" dirty="0"/>
          </a:p>
        </p:txBody>
      </p:sp>
      <p:sp>
        <p:nvSpPr>
          <p:cNvPr id="10" name="Text 7"/>
          <p:cNvSpPr txBox="1"/>
          <p:nvPr/>
        </p:nvSpPr>
        <p:spPr>
          <a:xfrm>
            <a:off x="4572000" y="5001768"/>
            <a:ext cx="7086600" cy="274320"/>
          </a:xfrm>
          <a:prstGeom prst="rect">
            <a:avLst/>
          </a:prstGeom>
          <a:noFill/>
          <a:ln/>
        </p:spPr>
        <p:txBody>
          <a:bodyPr wrap="square" lIns="0" tIns="0" rIns="0" bIns="0" rtlCol="0" anchor="ctr"/>
          <a:lstStyle/>
          <a:p>
            <a:pPr indent="0" marL="0">
              <a:buNone/>
            </a:pPr>
            <a:r>
              <a:rPr lang="en-US" sz="1300" b="1" dirty="0">
                <a:solidFill>
                  <a:srgbClr val="3B7D5A"/>
                </a:solidFill>
              </a:rPr>
              <a:t>Done   </a:t>
            </a:r>
            <a:pPr indent="0" marL="0">
              <a:buNone/>
            </a:pPr>
            <a:r>
              <a:rPr lang="en-US" sz="1300" dirty="0">
                <a:solidFill>
                  <a:schemeClr val="tx1"/>
                </a:solidFill>
              </a:rPr>
              <a:t>Public code, frozen splits, run logs</a:t>
            </a:r>
            <a:endParaRPr lang="en-US" sz="1300" dirty="0"/>
          </a:p>
        </p:txBody>
      </p:sp>
      <p:sp>
        <p:nvSpPr>
          <p:cNvPr id="11" name="Text 8"/>
          <p:cNvSpPr txBox="1"/>
          <p:nvPr/>
        </p:nvSpPr>
        <p:spPr>
          <a:xfrm>
            <a:off x="4572000" y="5294376"/>
            <a:ext cx="7086600" cy="274320"/>
          </a:xfrm>
          <a:prstGeom prst="rect">
            <a:avLst/>
          </a:prstGeom>
          <a:noFill/>
          <a:ln/>
        </p:spPr>
        <p:txBody>
          <a:bodyPr wrap="square" lIns="0" tIns="0" rIns="0" bIns="0" rtlCol="0" anchor="ctr"/>
          <a:lstStyle/>
          <a:p>
            <a:pPr indent="0" marL="0">
              <a:buNone/>
            </a:pPr>
            <a:r>
              <a:rPr lang="en-US" sz="1300" b="1" dirty="0">
                <a:solidFill>
                  <a:srgbClr val="3B7D5A"/>
                </a:solidFill>
              </a:rPr>
              <a:t>Done   </a:t>
            </a:r>
            <a:pPr indent="0" marL="0">
              <a:buNone/>
            </a:pPr>
            <a:r>
              <a:rPr lang="en-US" sz="1300" dirty="0">
                <a:solidFill>
                  <a:schemeClr val="tx1"/>
                </a:solidFill>
              </a:rPr>
              <a:t>Reproducibility guide in README</a:t>
            </a:r>
            <a:endParaRPr lang="en-US" sz="1300" dirty="0"/>
          </a:p>
        </p:txBody>
      </p:sp>
      <p:sp>
        <p:nvSpPr>
          <p:cNvPr id="12" name="Text 9"/>
          <p:cNvSpPr txBox="1"/>
          <p:nvPr/>
        </p:nvSpPr>
        <p:spPr>
          <a:xfrm>
            <a:off x="4572000" y="5586984"/>
            <a:ext cx="7086600" cy="274320"/>
          </a:xfrm>
          <a:prstGeom prst="rect">
            <a:avLst/>
          </a:prstGeom>
          <a:noFill/>
          <a:ln/>
        </p:spPr>
        <p:txBody>
          <a:bodyPr wrap="square" lIns="0" tIns="0" rIns="0" bIns="0" rtlCol="0" anchor="ctr"/>
          <a:lstStyle/>
          <a:p>
            <a:pPr indent="0" marL="0">
              <a:buNone/>
            </a:pPr>
            <a:r>
              <a:rPr lang="en-US" sz="1300" b="1" dirty="0">
                <a:solidFill>
                  <a:srgbClr val="C8475A"/>
                </a:solidFill>
              </a:rPr>
              <a:t>To do   </a:t>
            </a:r>
            <a:pPr indent="0" marL="0">
              <a:buNone/>
            </a:pPr>
            <a:r>
              <a:rPr lang="en-US" sz="1300" dirty="0">
                <a:solidFill>
                  <a:schemeClr val="tx1"/>
                </a:solidFill>
              </a:rPr>
              <a:t>Plagiarism report (institute tool)</a:t>
            </a:r>
            <a:endParaRPr lang="en-US" sz="1300" dirty="0"/>
          </a:p>
        </p:txBody>
      </p:sp>
      <p:sp>
        <p:nvSpPr>
          <p:cNvPr id="13" name="Text 10"/>
          <p:cNvSpPr txBox="1"/>
          <p:nvPr/>
        </p:nvSpPr>
        <p:spPr>
          <a:xfrm>
            <a:off x="4572000" y="5879592"/>
            <a:ext cx="7086600" cy="274320"/>
          </a:xfrm>
          <a:prstGeom prst="rect">
            <a:avLst/>
          </a:prstGeom>
          <a:noFill/>
          <a:ln/>
        </p:spPr>
        <p:txBody>
          <a:bodyPr wrap="square" lIns="0" tIns="0" rIns="0" bIns="0" rtlCol="0" anchor="ctr"/>
          <a:lstStyle/>
          <a:p>
            <a:pPr indent="0" marL="0">
              <a:buNone/>
            </a:pPr>
            <a:r>
              <a:rPr lang="en-US" sz="1300" b="1" dirty="0">
                <a:solidFill>
                  <a:srgbClr val="C8475A"/>
                </a:solidFill>
              </a:rPr>
              <a:t>To do   </a:t>
            </a:r>
            <a:pPr indent="0" marL="0">
              <a:buNone/>
            </a:pPr>
            <a:r>
              <a:rPr lang="en-US" sz="1300" dirty="0">
                <a:solidFill>
                  <a:schemeClr val="tx1"/>
                </a:solidFill>
              </a:rPr>
              <a:t>Target venue chosen</a:t>
            </a:r>
            <a:endParaRPr lang="en-US" sz="13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2354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Conclusion and next steps</a:t>
            </a:r>
            <a:endParaRPr lang="en-US" sz="3200" dirty="0"/>
          </a:p>
        </p:txBody>
      </p:sp>
      <p:sp>
        <p:nvSpPr>
          <p:cNvPr id="3" name="card"/>
          <p:cNvSpPr/>
          <p:nvPr/>
        </p:nvSpPr>
        <p:spPr>
          <a:xfrm>
            <a:off x="548640" y="1325880"/>
            <a:ext cx="5486400" cy="4754880"/>
          </a:xfrm>
          <a:prstGeom prst="roundRect">
            <a:avLst>
              <a:gd name="adj" fmla="val 2308"/>
            </a:avLst>
          </a:prstGeom>
          <a:solidFill>
            <a:srgbClr val="E6F4F1"/>
          </a:solidFill>
          <a:ln w="12700">
            <a:solidFill>
              <a:srgbClr val="E6F4F1"/>
            </a:solidFill>
            <a:prstDash val="solid"/>
          </a:ln>
        </p:spPr>
      </p:sp>
      <p:sp>
        <p:nvSpPr>
          <p:cNvPr id="4" name="Text 2"/>
          <p:cNvSpPr txBox="1"/>
          <p:nvPr/>
        </p:nvSpPr>
        <p:spPr>
          <a:xfrm>
            <a:off x="777240" y="1463040"/>
            <a:ext cx="5029200" cy="411480"/>
          </a:xfrm>
          <a:prstGeom prst="rect">
            <a:avLst/>
          </a:prstGeom>
          <a:noFill/>
          <a:ln/>
        </p:spPr>
        <p:txBody>
          <a:bodyPr wrap="square" lIns="0" tIns="0" rIns="0" bIns="0" rtlCol="0" anchor="ctr"/>
          <a:lstStyle/>
          <a:p>
            <a:pPr indent="0" marL="0">
              <a:buNone/>
            </a:pPr>
            <a:r>
              <a:rPr lang="en-US" sz="1800" b="1" dirty="0">
                <a:solidFill>
                  <a:schemeClr val="tx2"/>
                </a:solidFill>
              </a:rPr>
              <a:t>What we showed</a:t>
            </a:r>
            <a:endParaRPr lang="en-US" sz="1800" dirty="0"/>
          </a:p>
        </p:txBody>
      </p:sp>
      <p:sp>
        <p:nvSpPr>
          <p:cNvPr id="5" name="Text 3"/>
          <p:cNvSpPr txBox="1"/>
          <p:nvPr/>
        </p:nvSpPr>
        <p:spPr>
          <a:xfrm>
            <a:off x="777240" y="1965960"/>
            <a:ext cx="5029200" cy="402336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Hinglish pre-training improved Hinglish sentiment by +0.056 and closed 27% of the gap.</a:t>
            </a:r>
            <a:endParaRPr lang="en-US" sz="1500" dirty="0"/>
          </a:p>
          <a:p>
            <a:pPr marL="228600" indent="-228600">
              <a:spcAft>
                <a:spcPts val="800"/>
              </a:spcAft>
              <a:buSzPct val="100000"/>
              <a:buChar char="•"/>
            </a:pPr>
            <a:r>
              <a:rPr lang="en-US" sz="1500" dirty="0">
                <a:solidFill>
                  <a:schemeClr val="tx1"/>
                </a:solidFill>
              </a:rPr>
              <a:t>Multi-task sharing gave no gain and hurt stress ranking; a separate stress model raised PR-AUC to 0.875.</a:t>
            </a:r>
            <a:endParaRPr lang="en-US" sz="1500" dirty="0"/>
          </a:p>
          <a:p>
            <a:pPr marL="228600" indent="-228600">
              <a:spcAft>
                <a:spcPts val="800"/>
              </a:spcAft>
              <a:buSzPct val="100000"/>
              <a:buChar char="•"/>
            </a:pPr>
            <a:r>
              <a:rPr lang="en-US" sz="1500" dirty="0">
                <a:solidFill>
                  <a:schemeClr val="tx1"/>
                </a:solidFill>
              </a:rPr>
              <a:t>Our stress model matches the original Dreaddit result (F1 0.798 vs 0.8065).</a:t>
            </a:r>
            <a:endParaRPr lang="en-US" sz="1500" dirty="0"/>
          </a:p>
          <a:p>
            <a:pPr marL="228600" indent="-228600">
              <a:spcAft>
                <a:spcPts val="800"/>
              </a:spcAft>
              <a:buSzPct val="100000"/>
              <a:buChar char="•"/>
            </a:pPr>
            <a:r>
              <a:rPr lang="en-US" sz="1500" dirty="0">
                <a:solidFill>
                  <a:schemeClr val="tx1"/>
                </a:solidFill>
              </a:rPr>
              <a:t>A working, privacy-preserving web app that anyone can clone and run.</a:t>
            </a:r>
            <a:endParaRPr lang="en-US" sz="1500" dirty="0"/>
          </a:p>
        </p:txBody>
      </p:sp>
      <p:sp>
        <p:nvSpPr>
          <p:cNvPr id="6" name="card"/>
          <p:cNvSpPr/>
          <p:nvPr/>
        </p:nvSpPr>
        <p:spPr>
          <a:xfrm>
            <a:off x="6263640" y="1325880"/>
            <a:ext cx="5394960" cy="4754880"/>
          </a:xfrm>
          <a:prstGeom prst="roundRect">
            <a:avLst>
              <a:gd name="adj" fmla="val 2308"/>
            </a:avLst>
          </a:prstGeom>
          <a:solidFill>
            <a:schemeClr val="bg2"/>
          </a:solidFill>
          <a:ln w="12700">
            <a:solidFill>
              <a:schemeClr val="bg2"/>
            </a:solidFill>
            <a:prstDash val="solid"/>
          </a:ln>
        </p:spPr>
      </p:sp>
      <p:sp>
        <p:nvSpPr>
          <p:cNvPr id="7" name="Text 5"/>
          <p:cNvSpPr txBox="1"/>
          <p:nvPr/>
        </p:nvSpPr>
        <p:spPr>
          <a:xfrm>
            <a:off x="6492240" y="1463040"/>
            <a:ext cx="4937760" cy="411480"/>
          </a:xfrm>
          <a:prstGeom prst="rect">
            <a:avLst/>
          </a:prstGeom>
          <a:noFill/>
          <a:ln/>
        </p:spPr>
        <p:txBody>
          <a:bodyPr wrap="square" lIns="0" tIns="0" rIns="0" bIns="0" rtlCol="0" anchor="ctr"/>
          <a:lstStyle/>
          <a:p>
            <a:pPr indent="0" marL="0">
              <a:buNone/>
            </a:pPr>
            <a:r>
              <a:rPr lang="en-US" sz="1800" b="1" dirty="0">
                <a:solidFill>
                  <a:schemeClr val="tx2"/>
                </a:solidFill>
              </a:rPr>
              <a:t>Next steps, in order</a:t>
            </a:r>
            <a:endParaRPr lang="en-US" sz="1800" dirty="0"/>
          </a:p>
        </p:txBody>
      </p:sp>
      <p:sp>
        <p:nvSpPr>
          <p:cNvPr id="8" name="Text 6"/>
          <p:cNvSpPr txBox="1"/>
          <p:nvPr/>
        </p:nvSpPr>
        <p:spPr>
          <a:xfrm>
            <a:off x="6492240" y="1965960"/>
            <a:ext cx="4937760" cy="402336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chemeClr val="tx1"/>
                </a:solidFill>
              </a:rPr>
              <a:t>Train emotion longer; try RemBERT</a:t>
            </a:r>
            <a:endParaRPr lang="en-US" sz="1500" dirty="0"/>
          </a:p>
          <a:p>
            <a:pPr marL="342900" indent="-342900">
              <a:spcAft>
                <a:spcPts val="800"/>
              </a:spcAft>
              <a:buSzPct val="100000"/>
              <a:buFont typeface="+mj-lt"/>
              <a:buAutoNum type="arabicPeriod" startAt="1"/>
            </a:pPr>
            <a:r>
              <a:rPr lang="en-US" sz="1500" dirty="0">
                <a:solidFill>
                  <a:schemeClr val="tx1"/>
                </a:solidFill>
              </a:rPr>
              <a:t>Learning-rate grid and 5 seeds on a GPU</a:t>
            </a:r>
            <a:endParaRPr lang="en-US" sz="1500" dirty="0"/>
          </a:p>
          <a:p>
            <a:pPr marL="342900" indent="-342900">
              <a:spcAft>
                <a:spcPts val="800"/>
              </a:spcAft>
              <a:buSzPct val="100000"/>
              <a:buFont typeface="+mj-lt"/>
              <a:buAutoNum type="arabicPeriod" startAt="1"/>
            </a:pPr>
            <a:r>
              <a:rPr lang="en-US" sz="1500" dirty="0">
                <a:solidFill>
                  <a:schemeClr val="tx1"/>
                </a:solidFill>
              </a:rPr>
              <a:t>Hand-check the tweets-hindi validation labels</a:t>
            </a:r>
            <a:endParaRPr lang="en-US" sz="1500" dirty="0"/>
          </a:p>
          <a:p>
            <a:pPr marL="342900" indent="-342900">
              <a:spcAft>
                <a:spcPts val="800"/>
              </a:spcAft>
              <a:buSzPct val="100000"/>
              <a:buFont typeface="+mj-lt"/>
              <a:buAutoNum type="arabicPeriod" startAt="1"/>
            </a:pPr>
            <a:r>
              <a:rPr lang="en-US" sz="1500" dirty="0">
                <a:solidFill>
                  <a:schemeClr val="tx1"/>
                </a:solidFill>
              </a:rPr>
              <a:t>Finish the manual Hinglish error taxonomy</a:t>
            </a:r>
            <a:endParaRPr lang="en-US" sz="1500" dirty="0"/>
          </a:p>
          <a:p>
            <a:pPr marL="342900" indent="-342900">
              <a:spcAft>
                <a:spcPts val="800"/>
              </a:spcAft>
              <a:buSzPct val="100000"/>
              <a:buFont typeface="+mj-lt"/>
              <a:buAutoNum type="arabicPeriod" startAt="1"/>
            </a:pPr>
            <a:r>
              <a:rPr lang="en-US" sz="1500" dirty="0">
                <a:solidFill>
                  <a:schemeClr val="tx1"/>
                </a:solidFill>
              </a:rPr>
              <a:t>Test transliteration to Devanagari</a:t>
            </a:r>
            <a:endParaRPr lang="en-US" sz="1500" dirty="0"/>
          </a:p>
          <a:p>
            <a:pPr marL="342900" indent="-342900">
              <a:spcAft>
                <a:spcPts val="800"/>
              </a:spcAft>
              <a:buSzPct val="100000"/>
              <a:buFont typeface="+mj-lt"/>
              <a:buAutoNum type="arabicPeriod" startAt="1"/>
            </a:pPr>
            <a:r>
              <a:rPr lang="en-US" sz="1500" dirty="0">
                <a:solidFill>
                  <a:schemeClr val="tx1"/>
                </a:solidFill>
              </a:rPr>
              <a:t>Serve HingRoBERTa for Hinglish in the app</a:t>
            </a:r>
            <a:endParaRPr lang="en-US" sz="15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731520" y="2011680"/>
            <a:ext cx="10698480" cy="1097280"/>
          </a:xfrm>
          <a:prstGeom prst="rect">
            <a:avLst/>
          </a:prstGeom>
          <a:noFill/>
          <a:ln/>
        </p:spPr>
        <p:txBody>
          <a:bodyPr wrap="square" lIns="0" tIns="0" rIns="0" bIns="0" rtlCol="0" anchor="ctr"/>
          <a:lstStyle/>
          <a:p>
            <a:pPr indent="0" marL="0">
              <a:buNone/>
            </a:pPr>
            <a:r>
              <a:rPr lang="en-US" sz="4800" b="1" dirty="0">
                <a:solidFill>
                  <a:schemeClr val="bg1"/>
                </a:solidFill>
                <a:latin typeface="Cambria" pitchFamily="34" charset="0"/>
                <a:ea typeface="Cambria" pitchFamily="34" charset="-122"/>
                <a:cs typeface="Cambria" pitchFamily="34" charset="-120"/>
              </a:rPr>
              <a:t>Thank you</a:t>
            </a:r>
            <a:endParaRPr lang="en-US" sz="4800" dirty="0"/>
          </a:p>
        </p:txBody>
      </p:sp>
      <p:sp>
        <p:nvSpPr>
          <p:cNvPr id="3" name="Text 1"/>
          <p:cNvSpPr txBox="1"/>
          <p:nvPr/>
        </p:nvSpPr>
        <p:spPr>
          <a:xfrm>
            <a:off x="731520" y="3108960"/>
            <a:ext cx="10698480" cy="548640"/>
          </a:xfrm>
          <a:prstGeom prst="rect">
            <a:avLst/>
          </a:prstGeom>
          <a:noFill/>
          <a:ln/>
        </p:spPr>
        <p:txBody>
          <a:bodyPr wrap="square" lIns="0" tIns="0" rIns="0" bIns="0" rtlCol="0" anchor="ctr"/>
          <a:lstStyle/>
          <a:p>
            <a:pPr indent="0" marL="0">
              <a:buNone/>
            </a:pPr>
            <a:r>
              <a:rPr lang="en-US" sz="2200" dirty="0">
                <a:solidFill>
                  <a:srgbClr val="2A9D8F"/>
                </a:solidFill>
              </a:rPr>
              <a:t>Questions and live demo</a:t>
            </a:r>
            <a:endParaRPr lang="en-US" sz="2200" dirty="0"/>
          </a:p>
        </p:txBody>
      </p:sp>
      <p:sp>
        <p:nvSpPr>
          <p:cNvPr id="4" name="Text 2">
            <a:hlinkClick r:id="rId1" tooltip=""/>
          </p:cNvPr>
          <p:cNvSpPr txBox="1"/>
          <p:nvPr/>
        </p:nvSpPr>
        <p:spPr>
          <a:xfrm>
            <a:off x="731520" y="4023360"/>
            <a:ext cx="10698480" cy="457200"/>
          </a:xfrm>
          <a:prstGeom prst="rect">
            <a:avLst/>
          </a:prstGeom>
          <a:noFill/>
          <a:ln/>
        </p:spPr>
        <p:txBody>
          <a:bodyPr wrap="square" lIns="0" tIns="0" rIns="0" bIns="0" rtlCol="0" anchor="ctr"/>
          <a:lstStyle/>
          <a:p>
            <a:pPr indent="0" marL="0">
              <a:buNone/>
            </a:pPr>
            <a:r>
              <a:rPr lang="en-US" sz="1600" u="sng" dirty="0">
                <a:solidFill>
                  <a:srgbClr val="C9D6E3"/>
                </a:solidFill>
                <a:hlinkClick r:id="rId1" invalidUrl="" action="" tgtFrame="" tooltip="" history="1" highlightClick="0" endSnd="0">
                  <a:extLst>
                    <a:ext uri="{A12FA001-AC4F-418D-AE19-62706E023703}">
                      <ahyp:hlinkClr xmlns:ahyp="http://schemas.microsoft.com/office/drawing/2018/hyperlinkcolor" val="tx"/>
                    </a:ext>
                  </a:extLst>
                </a:hlinkClick>
              </a:rPr>
              <a:t>github.com/faizdevx/Multilingual-Mental-Health-Risk-</a:t>
            </a:r>
            <a:endParaRPr lang="en-US" sz="1600" dirty="0"/>
          </a:p>
        </p:txBody>
      </p:sp>
      <p:sp>
        <p:nvSpPr>
          <p:cNvPr id="5" name="Text 3"/>
          <p:cNvSpPr txBox="1"/>
          <p:nvPr/>
        </p:nvSpPr>
        <p:spPr>
          <a:xfrm>
            <a:off x="731520" y="5120640"/>
            <a:ext cx="10698480" cy="411480"/>
          </a:xfrm>
          <a:prstGeom prst="rect">
            <a:avLst/>
          </a:prstGeom>
          <a:noFill/>
          <a:ln/>
        </p:spPr>
        <p:txBody>
          <a:bodyPr wrap="square" lIns="0" tIns="0" rIns="0" bIns="0" rtlCol="0" anchor="ctr"/>
          <a:lstStyle/>
          <a:p>
            <a:pPr indent="0" marL="0">
              <a:buNone/>
            </a:pPr>
            <a:r>
              <a:rPr lang="en-US" sz="1500" dirty="0">
                <a:solidFill>
                  <a:srgbClr val="C9D6E3"/>
                </a:solidFill>
              </a:rPr>
              <a:t>Faisal Arif Ansari  |  Paras Tiwari  |  Prateek Rawat  |  Lakshay Mishra</a:t>
            </a:r>
            <a:endParaRPr lang="en-US" sz="1500" dirty="0"/>
          </a:p>
        </p:txBody>
      </p:sp>
      <p:sp>
        <p:nvSpPr>
          <p:cNvPr id="6" name="Text 4"/>
          <p:cNvSpPr txBox="1"/>
          <p:nvPr/>
        </p:nvSpPr>
        <p:spPr>
          <a:xfrm>
            <a:off x="731520" y="5532120"/>
            <a:ext cx="10698480" cy="411480"/>
          </a:xfrm>
          <a:prstGeom prst="rect">
            <a:avLst/>
          </a:prstGeom>
          <a:noFill/>
          <a:ln/>
        </p:spPr>
        <p:txBody>
          <a:bodyPr wrap="square" lIns="0" tIns="0" rIns="0" bIns="0" rtlCol="0" anchor="ctr"/>
          <a:lstStyle/>
          <a:p>
            <a:pPr indent="0" marL="0">
              <a:buNone/>
            </a:pPr>
            <a:r>
              <a:rPr lang="en-US" sz="1500" dirty="0">
                <a:solidFill>
                  <a:srgbClr val="C9D6E3"/>
                </a:solidFill>
              </a:rPr>
              <a:t>KIET Group of Institutions, Ghaziabad</a:t>
            </a:r>
            <a:endParaRPr lang="en-US" sz="1500" dirty="0"/>
          </a:p>
        </p:txBody>
      </p:sp>
    </p:spTree>
  </p:cSld>
  <p:clrMapOvr>
    <a:masterClrMapping/>
  </p:clrMapOvr>
</p:sld>
</file>

<file path=ppt/theme/theme1.xml><?xml version="1.0" encoding="utf-8"?>
<a:theme xmlns:a="http://schemas.openxmlformats.org/drawingml/2006/main" name="MH Analyzer">
  <a:themeElements>
    <a:clrScheme name="MH Analyzer">
      <a:dk1>
        <a:srgbClr val="1B2433"/>
      </a:dk1>
      <a:lt1>
        <a:srgbClr val="FFFFFF"/>
      </a:lt1>
      <a:dk2>
        <a:srgbClr val="1F3354"/>
      </a:dk2>
      <a:lt2>
        <a:srgbClr val="EDF2F6"/>
      </a:lt2>
      <a:accent1>
        <a:srgbClr val="2A9D8F"/>
      </a:accent1>
      <a:accent2>
        <a:srgbClr val="E39B2D"/>
      </a:accent2>
      <a:accent3>
        <a:srgbClr val="4F63D2"/>
      </a:accent3>
      <a:accent4>
        <a:srgbClr val="C8475A"/>
      </a:accent4>
      <a:accent5>
        <a:srgbClr val="6B7C8F"/>
      </a:accent5>
      <a:accent6>
        <a:srgbClr val="3B7D5A"/>
      </a:accent6>
      <a:hlink>
        <a:srgbClr val="2A6FDB"/>
      </a:hlink>
      <a:folHlink>
        <a:srgbClr val="6B4FB0"/>
      </a:folHlink>
    </a:clrScheme>
    <a:fontScheme name="MH Analyz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KIET Group of Institutions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Multilingual Mental-Health Risk and Sentiment Analyzer</dc:title>
  <dc:subject>PptxGenJS Presentation</dc:subject>
  <dc:creator>Faisal Arif Ansari, Paras Tiwari, Prateek Rawat, Lakshay Mishra</dc:creator>
  <cp:lastModifiedBy>Faisal Arif Ansari, Paras Tiwari, Prateek Rawat, Lakshay Mishra</cp:lastModifiedBy>
  <cp:revision>1</cp:revision>
  <dcterms:created xsi:type="dcterms:W3CDTF">2026-10-27T10:32:23Z</dcterms:created>
  <dcterms:modified xsi:type="dcterms:W3CDTF">2026-10-27T10:32:23Z</dcterms:modified>
</cp:coreProperties>
</file>